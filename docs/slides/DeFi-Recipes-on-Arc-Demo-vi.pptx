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4" d="100"/>
          <a:sy n="114" d="100"/>
        </p:scale>
        <p:origin x="438"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6601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mừng mọi người đến với DeFi Recipes on Arc. Đây là bản demo một ứng dụng giúp tự động hoá các thao tác DeFi lặp lại, nhưng người dùng vẫn giữ toàn quyền với tài sản. Trong vài phút tới, chúng ta sẽ tạo và kích hoạt một chiến lược DCA thực tế.</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Nhiều người dùng đã có chiến lược rõ ràng, ví dụ mua định kỳ. Vấn đề là việc thực thi vẫn thủ công: phải nhớ lịch, kiểm tra giao dịch và phản ứng khi thị trường biến động. Điều đó khiến một chiến lược kỷ luật trở nên khó duy trì.</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Recipe là một chiến lược đóng gói. Bạn đặt số tiền, lịch chạy và giới hạn. Khi đến thời điểm, hệ thống kiểm tra quyền phiên, protocol được phép và điều kiện an toàn trước khi gửi giao dịch. Mọi lần chạy đều được ghi lại để bạn theo dõi.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quan trọng không chỉ là tự động hoá. Người dùng giảm thao tác nhưng vẫn đặt các ranh giới cụ thể. Trên Arc Testnet, USDC là tài sản trả phí gas, finality nhanh và mức phí dễ dự đoán, rất hợp với những workflow định kỳ.</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bốn phần người dùng sẽ gặp trong demo. DCA tạo lịch tự động. Session Key cấp quyền đúng phạm vi. Guardrail là hàng rào bảo vệ cho giao dịch. Và Execution Tracking cho biết recipe đã chạy đến đâu, minh bạch từng bước.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trải nghiệm bắt đầu bằng Connect wallet. Người dùng chọn một recipe, cấu hình số tiền, tần suất và giới hạn. Trước khi kích hoạt luôn có bước Review để nhìn lại chính xác quyền nào đang được cấp. Sau đó dashboard dùng để theo dõi kết quả.</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Bây giờ là phần demo. Tôi sẽ chọn recipe DCA USDC sang EURC, đặt 50 USDC mỗi tuần, giới hạn slippage ở mức 0.5 phần trăm và xác nhận hạn mức giao dịch. Sau khi Activate, chúng ta mở lịch sử để xem lần thực thi và trạng thái của recipe.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lúc mời mọi người trải nghiệm. Hãy kết nối ví trên Arc Testnet, chọn recipe DCA và thử cấu hình theo khẩu vị rủi ro của mình. Bạn luôn có thể theo dõi, pause hoặc revoke quyền phiên khi cần.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8FC"/>
        </a:solidFill>
        <a:effectLst/>
      </p:bgPr>
    </p:bg>
    <p:spTree>
      <p:nvGrpSpPr>
        <p:cNvPr id="1" name=""/>
        <p:cNvGrpSpPr/>
        <p:nvPr/>
      </p:nvGrpSpPr>
      <p:grpSpPr>
        <a:xfrm>
          <a:off x="0" y="0"/>
          <a:ext cx="0" cy="0"/>
          <a:chOff x="0" y="0"/>
          <a:chExt cx="0" cy="0"/>
        </a:xfrm>
      </p:grpSpPr>
      <p:sp>
        <p:nvSpPr>
          <p:cNvPr id="2" name="Shape 0"/>
          <p:cNvSpPr/>
          <p:nvPr/>
        </p:nvSpPr>
        <p:spPr>
          <a:xfrm>
            <a:off x="0" y="0"/>
            <a:ext cx="4800600" cy="6858000"/>
          </a:xfrm>
          <a:prstGeom prst="rect">
            <a:avLst/>
          </a:prstGeom>
          <a:solidFill>
            <a:srgbClr val="081B33"/>
          </a:solidFill>
          <a:ln w="12700">
            <a:solidFill>
              <a:srgbClr val="081B33"/>
            </a:solidFill>
            <a:prstDash val="solid"/>
          </a:ln>
        </p:spPr>
      </p:sp>
      <p:sp>
        <p:nvSpPr>
          <p:cNvPr id="3" name="Shape 1"/>
          <p:cNvSpPr/>
          <p:nvPr/>
        </p:nvSpPr>
        <p:spPr>
          <a:xfrm>
            <a:off x="6720840" y="-1005840"/>
            <a:ext cx="5669280" cy="5669280"/>
          </a:xfrm>
          <a:prstGeom prst="arc">
            <a:avLst/>
          </a:prstGeom>
          <a:solidFill>
            <a:srgbClr val="FFFFFF">
              <a:alpha val="0"/>
            </a:srgbClr>
          </a:solidFill>
          <a:ln w="31750">
            <a:solidFill>
              <a:srgbClr val="08A6D6">
                <a:alpha val="84000"/>
              </a:srgbClr>
            </a:solidFill>
            <a:prstDash val="solid"/>
          </a:ln>
        </p:spPr>
      </p:sp>
      <p:sp>
        <p:nvSpPr>
          <p:cNvPr id="4" name="Shape 2"/>
          <p:cNvSpPr/>
          <p:nvPr/>
        </p:nvSpPr>
        <p:spPr>
          <a:xfrm>
            <a:off x="7680960" y="1051560"/>
            <a:ext cx="3840480" cy="3840480"/>
          </a:xfrm>
          <a:prstGeom prst="arc">
            <a:avLst/>
          </a:prstGeom>
          <a:solidFill>
            <a:srgbClr val="FFFFFF">
              <a:alpha val="0"/>
            </a:srgbClr>
          </a:solidFill>
          <a:ln w="15240">
            <a:solidFill>
              <a:srgbClr val="2667FF">
                <a:alpha val="60000"/>
              </a:srgbClr>
            </a:solidFill>
            <a:prstDash val="solid"/>
          </a:ln>
        </p:spPr>
      </p:sp>
      <p:sp>
        <p:nvSpPr>
          <p:cNvPr id="5" name="Shape 3"/>
          <p:cNvSpPr/>
          <p:nvPr/>
        </p:nvSpPr>
        <p:spPr>
          <a:xfrm>
            <a:off x="621792" y="658368"/>
            <a:ext cx="1051560" cy="310896"/>
          </a:xfrm>
          <a:prstGeom prst="roundRect">
            <a:avLst>
              <a:gd name="adj" fmla="val 23529"/>
            </a:avLst>
          </a:prstGeom>
          <a:solidFill>
            <a:srgbClr val="103E62"/>
          </a:solidFill>
          <a:ln w="12700">
            <a:solidFill>
              <a:srgbClr val="103E62"/>
            </a:solidFill>
            <a:prstDash val="solid"/>
          </a:ln>
        </p:spPr>
      </p:sp>
      <p:sp>
        <p:nvSpPr>
          <p:cNvPr id="6" name="Text 4"/>
          <p:cNvSpPr/>
          <p:nvPr/>
        </p:nvSpPr>
        <p:spPr>
          <a:xfrm>
            <a:off x="621792" y="676656"/>
            <a:ext cx="1051560" cy="228600"/>
          </a:xfrm>
          <a:prstGeom prst="rect">
            <a:avLst/>
          </a:prstGeom>
          <a:noFill/>
          <a:ln/>
        </p:spPr>
        <p:txBody>
          <a:bodyPr wrap="square" lIns="0" tIns="0" rIns="0" bIns="0" rtlCol="0" anchor="ctr">
            <a:normAutofit/>
          </a:bodyPr>
          <a:lstStyle/>
          <a:p>
            <a:pPr marL="0" indent="0" algn="ctr">
              <a:buNone/>
            </a:pPr>
            <a:r>
              <a:rPr lang="en-US" sz="850" b="1" dirty="0">
                <a:solidFill>
                  <a:srgbClr val="7CE4FF"/>
                </a:solidFill>
                <a:latin typeface="Arial" pitchFamily="34" charset="0"/>
                <a:ea typeface="Arial" pitchFamily="34" charset="-122"/>
                <a:cs typeface="Arial" pitchFamily="34" charset="-120"/>
              </a:rPr>
              <a:t>ARC TESTNET</a:t>
            </a:r>
            <a:endParaRPr lang="en-US" sz="850" dirty="0"/>
          </a:p>
        </p:txBody>
      </p:sp>
      <p:sp>
        <p:nvSpPr>
          <p:cNvPr id="7" name="Text 5"/>
          <p:cNvSpPr/>
          <p:nvPr/>
        </p:nvSpPr>
        <p:spPr>
          <a:xfrm>
            <a:off x="612648" y="1353312"/>
            <a:ext cx="3703320" cy="1124712"/>
          </a:xfrm>
          <a:prstGeom prst="rect">
            <a:avLst/>
          </a:prstGeom>
          <a:noFill/>
          <a:ln/>
        </p:spPr>
        <p:txBody>
          <a:bodyPr wrap="square" lIns="0" tIns="0" rIns="0" bIns="0" rtlCol="0" anchor="ctr">
            <a:normAutofit/>
          </a:bodyPr>
          <a:lstStyle/>
          <a:p>
            <a:pPr marL="0" indent="0" algn="l">
              <a:buNone/>
            </a:pPr>
            <a:r>
              <a:rPr lang="en-US" sz="3300" b="1" dirty="0">
                <a:solidFill>
                  <a:srgbClr val="FFFFFF"/>
                </a:solidFill>
                <a:latin typeface="Arial" pitchFamily="34" charset="0"/>
                <a:ea typeface="Arial" pitchFamily="34" charset="-122"/>
                <a:cs typeface="Arial" pitchFamily="34" charset="-120"/>
              </a:rPr>
              <a:t>DeFi Recipes</a:t>
            </a:r>
            <a:endParaRPr lang="en-US" sz="3300" dirty="0"/>
          </a:p>
          <a:p>
            <a:pPr marL="0" indent="0" algn="l">
              <a:buNone/>
            </a:pPr>
            <a:r>
              <a:rPr lang="en-US" sz="3300" b="1" dirty="0">
                <a:solidFill>
                  <a:srgbClr val="FFFFFF"/>
                </a:solidFill>
                <a:latin typeface="Arial" pitchFamily="34" charset="0"/>
                <a:ea typeface="Arial" pitchFamily="34" charset="-122"/>
                <a:cs typeface="Arial" pitchFamily="34" charset="-120"/>
              </a:rPr>
              <a:t>on Arc</a:t>
            </a:r>
            <a:endParaRPr lang="en-US" sz="3300" dirty="0"/>
          </a:p>
        </p:txBody>
      </p:sp>
      <p:sp>
        <p:nvSpPr>
          <p:cNvPr id="8" name="Text 6"/>
          <p:cNvSpPr/>
          <p:nvPr/>
        </p:nvSpPr>
        <p:spPr>
          <a:xfrm>
            <a:off x="640080" y="2697480"/>
            <a:ext cx="3474720" cy="329184"/>
          </a:xfrm>
          <a:prstGeom prst="rect">
            <a:avLst/>
          </a:prstGeom>
          <a:noFill/>
          <a:ln/>
        </p:spPr>
        <p:txBody>
          <a:bodyPr wrap="square" lIns="0" tIns="0" rIns="0" bIns="0" rtlCol="0" anchor="ctr">
            <a:normAutofit/>
          </a:bodyPr>
          <a:lstStyle/>
          <a:p>
            <a:pPr marL="0" indent="0" algn="l">
              <a:buNone/>
            </a:pPr>
            <a:r>
              <a:rPr lang="en-US" sz="1600" dirty="0">
                <a:solidFill>
                  <a:srgbClr val="B6D4E8"/>
                </a:solidFill>
                <a:latin typeface="Arial" pitchFamily="34" charset="0"/>
                <a:ea typeface="Arial" pitchFamily="34" charset="-122"/>
                <a:cs typeface="Arial" pitchFamily="34" charset="-120"/>
              </a:rPr>
              <a:t>Automate your DeFi strategy</a:t>
            </a:r>
            <a:endParaRPr lang="en-US" sz="1600" dirty="0"/>
          </a:p>
        </p:txBody>
      </p:sp>
      <p:sp>
        <p:nvSpPr>
          <p:cNvPr id="9" name="Text 7"/>
          <p:cNvSpPr/>
          <p:nvPr/>
        </p:nvSpPr>
        <p:spPr>
          <a:xfrm>
            <a:off x="640080" y="5394960"/>
            <a:ext cx="3520440" cy="256032"/>
          </a:xfrm>
          <a:prstGeom prst="rect">
            <a:avLst/>
          </a:prstGeom>
          <a:noFill/>
          <a:ln/>
        </p:spPr>
        <p:txBody>
          <a:bodyPr wrap="square" lIns="0" tIns="0" rIns="0" bIns="0" rtlCol="0" anchor="ctr">
            <a:normAutofit/>
          </a:bodyPr>
          <a:lstStyle/>
          <a:p>
            <a:pPr marL="0" indent="0" algn="l">
              <a:buNone/>
            </a:pPr>
            <a:r>
              <a:rPr lang="en-US" sz="1100" dirty="0">
                <a:solidFill>
                  <a:srgbClr val="B6D4E8"/>
                </a:solidFill>
                <a:latin typeface="Arial" pitchFamily="34" charset="0"/>
                <a:ea typeface="Arial" pitchFamily="34" charset="-122"/>
                <a:cs typeface="Arial" pitchFamily="34" charset="-120"/>
              </a:rPr>
              <a:t>Demo sản phẩm | Tự động hoá DeFi phi lưu ký</a:t>
            </a:r>
            <a:endParaRPr lang="en-US" sz="1100" dirty="0"/>
          </a:p>
        </p:txBody>
      </p:sp>
      <p:sp>
        <p:nvSpPr>
          <p:cNvPr id="10" name="Shape 8"/>
          <p:cNvSpPr/>
          <p:nvPr/>
        </p:nvSpPr>
        <p:spPr>
          <a:xfrm>
            <a:off x="5349240" y="1234440"/>
            <a:ext cx="5715000" cy="4160520"/>
          </a:xfrm>
          <a:prstGeom prst="roundRect">
            <a:avLst>
              <a:gd name="adj" fmla="val 2198"/>
            </a:avLst>
          </a:prstGeom>
          <a:solidFill>
            <a:srgbClr val="FFFFFF"/>
          </a:solidFill>
          <a:ln w="15240">
            <a:solidFill>
              <a:srgbClr val="D8E4EF"/>
            </a:solidFill>
            <a:prstDash val="solid"/>
          </a:ln>
          <a:effectLst>
            <a:outerShdw blurRad="25400" dist="50800" dir="2700000" algn="bl" rotWithShape="0">
              <a:srgbClr val="9DB5C8">
                <a:alpha val="18000"/>
              </a:srgbClr>
            </a:outerShdw>
          </a:effectLst>
        </p:spPr>
      </p:sp>
      <p:sp>
        <p:nvSpPr>
          <p:cNvPr id="11" name="Text 9"/>
          <p:cNvSpPr/>
          <p:nvPr/>
        </p:nvSpPr>
        <p:spPr>
          <a:xfrm>
            <a:off x="5669280" y="1572768"/>
            <a:ext cx="1645920" cy="228600"/>
          </a:xfrm>
          <a:prstGeom prst="rect">
            <a:avLst/>
          </a:prstGeom>
          <a:noFill/>
          <a:ln/>
        </p:spPr>
        <p:txBody>
          <a:bodyPr wrap="square" lIns="0" tIns="0" rIns="0" bIns="0" rtlCol="0" anchor="ctr">
            <a:normAutofit/>
          </a:bodyPr>
          <a:lstStyle/>
          <a:p>
            <a:pPr marL="0" indent="0" algn="l">
              <a:buNone/>
            </a:pPr>
            <a:r>
              <a:rPr lang="en-US" sz="1200" b="1" dirty="0">
                <a:solidFill>
                  <a:srgbClr val="11233A"/>
                </a:solidFill>
                <a:latin typeface="Arial" pitchFamily="34" charset="0"/>
                <a:ea typeface="Arial" pitchFamily="34" charset="-122"/>
                <a:cs typeface="Arial" pitchFamily="34" charset="-120"/>
              </a:rPr>
              <a:t>Dashboard</a:t>
            </a:r>
            <a:endParaRPr lang="en-US" sz="1200" dirty="0"/>
          </a:p>
        </p:txBody>
      </p:sp>
      <p:sp>
        <p:nvSpPr>
          <p:cNvPr id="12" name="Shape 10"/>
          <p:cNvSpPr/>
          <p:nvPr/>
        </p:nvSpPr>
        <p:spPr>
          <a:xfrm>
            <a:off x="9464040" y="1508760"/>
            <a:ext cx="1051560" cy="310896"/>
          </a:xfrm>
          <a:prstGeom prst="roundRect">
            <a:avLst>
              <a:gd name="adj" fmla="val 23529"/>
            </a:avLst>
          </a:prstGeom>
          <a:solidFill>
            <a:srgbClr val="E1F8EF"/>
          </a:solidFill>
          <a:ln w="12700">
            <a:solidFill>
              <a:srgbClr val="E1F8EF"/>
            </a:solidFill>
            <a:prstDash val="solid"/>
          </a:ln>
        </p:spPr>
      </p:sp>
      <p:sp>
        <p:nvSpPr>
          <p:cNvPr id="13" name="Text 11"/>
          <p:cNvSpPr/>
          <p:nvPr/>
        </p:nvSpPr>
        <p:spPr>
          <a:xfrm>
            <a:off x="9464040" y="1527048"/>
            <a:ext cx="1051560" cy="228600"/>
          </a:xfrm>
          <a:prstGeom prst="rect">
            <a:avLst/>
          </a:prstGeom>
          <a:noFill/>
          <a:ln/>
        </p:spPr>
        <p:txBody>
          <a:bodyPr wrap="square" lIns="0" tIns="0" rIns="0" bIns="0" rtlCol="0" anchor="ctr">
            <a:normAutofit/>
          </a:bodyPr>
          <a:lstStyle/>
          <a:p>
            <a:pPr marL="0" indent="0" algn="ctr">
              <a:buNone/>
            </a:pPr>
            <a:r>
              <a:rPr lang="en-US" sz="850" b="1" dirty="0">
                <a:solidFill>
                  <a:srgbClr val="19A974"/>
                </a:solidFill>
                <a:latin typeface="Arial" pitchFamily="34" charset="0"/>
                <a:ea typeface="Arial" pitchFamily="34" charset="-122"/>
                <a:cs typeface="Arial" pitchFamily="34" charset="-120"/>
              </a:rPr>
              <a:t>Connected</a:t>
            </a:r>
            <a:endParaRPr lang="en-US" sz="850" dirty="0"/>
          </a:p>
        </p:txBody>
      </p:sp>
      <p:sp>
        <p:nvSpPr>
          <p:cNvPr id="14" name="Text 12"/>
          <p:cNvSpPr/>
          <p:nvPr/>
        </p:nvSpPr>
        <p:spPr>
          <a:xfrm>
            <a:off x="5669280" y="2139696"/>
            <a:ext cx="2743200" cy="274320"/>
          </a:xfrm>
          <a:prstGeom prst="rect">
            <a:avLst/>
          </a:prstGeom>
          <a:noFill/>
          <a:ln/>
        </p:spPr>
        <p:txBody>
          <a:bodyPr wrap="square" lIns="0" tIns="0" rIns="0" bIns="0" rtlCol="0" anchor="ctr">
            <a:normAutofit lnSpcReduction="10000"/>
          </a:bodyPr>
          <a:lstStyle/>
          <a:p>
            <a:pPr marL="0" indent="0" algn="l">
              <a:buNone/>
            </a:pPr>
            <a:r>
              <a:rPr lang="en-US" sz="1900" b="1" dirty="0">
                <a:solidFill>
                  <a:srgbClr val="081B33"/>
                </a:solidFill>
                <a:latin typeface="Arial" pitchFamily="34" charset="0"/>
                <a:ea typeface="Arial" pitchFamily="34" charset="-122"/>
                <a:cs typeface="Arial" pitchFamily="34" charset="-120"/>
              </a:rPr>
              <a:t>USDC → EURC DCA</a:t>
            </a:r>
            <a:endParaRPr lang="en-US" sz="1900" dirty="0"/>
          </a:p>
        </p:txBody>
      </p:sp>
      <p:sp>
        <p:nvSpPr>
          <p:cNvPr id="15" name="Text 13"/>
          <p:cNvSpPr/>
          <p:nvPr/>
        </p:nvSpPr>
        <p:spPr>
          <a:xfrm>
            <a:off x="5669280" y="2514600"/>
            <a:ext cx="4343400" cy="219456"/>
          </a:xfrm>
          <a:prstGeom prst="rect">
            <a:avLst/>
          </a:prstGeom>
          <a:noFill/>
          <a:ln/>
        </p:spPr>
        <p:txBody>
          <a:bodyPr wrap="square" lIns="0" tIns="0" rIns="0" bIns="0" rtlCol="0" anchor="ctr">
            <a:normAutofit/>
          </a:bodyPr>
          <a:lstStyle/>
          <a:p>
            <a:pPr marL="0" indent="0" algn="l">
              <a:buNone/>
            </a:pPr>
            <a:r>
              <a:rPr lang="en-US" sz="1050" dirty="0">
                <a:solidFill>
                  <a:srgbClr val="60728A"/>
                </a:solidFill>
                <a:latin typeface="Arial" pitchFamily="34" charset="0"/>
                <a:ea typeface="Arial" pitchFamily="34" charset="-122"/>
                <a:cs typeface="Arial" pitchFamily="34" charset="-120"/>
              </a:rPr>
              <a:t>Weekly • $50 USDC • Max slippage 0.5%</a:t>
            </a:r>
            <a:endParaRPr lang="en-US" sz="1050" dirty="0"/>
          </a:p>
        </p:txBody>
      </p:sp>
      <p:sp>
        <p:nvSpPr>
          <p:cNvPr id="16" name="Shape 14"/>
          <p:cNvSpPr/>
          <p:nvPr/>
        </p:nvSpPr>
        <p:spPr>
          <a:xfrm>
            <a:off x="5669280" y="3063240"/>
            <a:ext cx="5047488" cy="1115568"/>
          </a:xfrm>
          <a:prstGeom prst="roundRect">
            <a:avLst>
              <a:gd name="adj" fmla="val 5738"/>
            </a:avLst>
          </a:prstGeom>
          <a:solidFill>
            <a:srgbClr val="DDF6FC"/>
          </a:solidFill>
          <a:ln w="12700">
            <a:solidFill>
              <a:srgbClr val="DDF6FC"/>
            </a:solidFill>
            <a:prstDash val="solid"/>
          </a:ln>
        </p:spPr>
      </p:sp>
      <p:sp>
        <p:nvSpPr>
          <p:cNvPr id="17" name="Text 15"/>
          <p:cNvSpPr/>
          <p:nvPr/>
        </p:nvSpPr>
        <p:spPr>
          <a:xfrm>
            <a:off x="5925312" y="3310128"/>
            <a:ext cx="1508760" cy="182880"/>
          </a:xfrm>
          <a:prstGeom prst="rect">
            <a:avLst/>
          </a:prstGeom>
          <a:noFill/>
          <a:ln/>
        </p:spPr>
        <p:txBody>
          <a:bodyPr wrap="square" lIns="0" tIns="0" rIns="0" bIns="0" rtlCol="0" anchor="ctr">
            <a:normAutofit/>
          </a:bodyPr>
          <a:lstStyle/>
          <a:p>
            <a:pPr marL="0" indent="0" algn="l">
              <a:buNone/>
            </a:pPr>
            <a:r>
              <a:rPr lang="en-US" sz="1000" dirty="0">
                <a:solidFill>
                  <a:srgbClr val="60728A"/>
                </a:solidFill>
                <a:latin typeface="Arial" pitchFamily="34" charset="0"/>
                <a:ea typeface="Arial" pitchFamily="34" charset="-122"/>
                <a:cs typeface="Arial" pitchFamily="34" charset="-120"/>
              </a:rPr>
              <a:t>Next execution</a:t>
            </a:r>
            <a:endParaRPr lang="en-US" sz="1000" dirty="0"/>
          </a:p>
        </p:txBody>
      </p:sp>
      <p:sp>
        <p:nvSpPr>
          <p:cNvPr id="18" name="Text 16"/>
          <p:cNvSpPr/>
          <p:nvPr/>
        </p:nvSpPr>
        <p:spPr>
          <a:xfrm>
            <a:off x="5925312" y="3566160"/>
            <a:ext cx="1554480" cy="256032"/>
          </a:xfrm>
          <a:prstGeom prst="rect">
            <a:avLst/>
          </a:prstGeom>
          <a:noFill/>
          <a:ln/>
        </p:spPr>
        <p:txBody>
          <a:bodyPr wrap="square" lIns="0" tIns="0" rIns="0" bIns="0" rtlCol="0" anchor="ctr">
            <a:normAutofit lnSpcReduction="10000"/>
          </a:bodyPr>
          <a:lstStyle/>
          <a:p>
            <a:pPr marL="0" indent="0" algn="l">
              <a:buNone/>
            </a:pPr>
            <a:r>
              <a:rPr lang="en-US" sz="1800" b="1" dirty="0">
                <a:solidFill>
                  <a:srgbClr val="08A6D6"/>
                </a:solidFill>
                <a:latin typeface="Arial" pitchFamily="34" charset="0"/>
                <a:ea typeface="Arial" pitchFamily="34" charset="-122"/>
                <a:cs typeface="Arial" pitchFamily="34" charset="-120"/>
              </a:rPr>
              <a:t>In 2 days</a:t>
            </a:r>
            <a:endParaRPr lang="en-US" sz="1800" dirty="0"/>
          </a:p>
        </p:txBody>
      </p:sp>
      <p:sp>
        <p:nvSpPr>
          <p:cNvPr id="19" name="Shape 17"/>
          <p:cNvSpPr/>
          <p:nvPr/>
        </p:nvSpPr>
        <p:spPr>
          <a:xfrm>
            <a:off x="9372600" y="3456432"/>
            <a:ext cx="786384" cy="310896"/>
          </a:xfrm>
          <a:prstGeom prst="roundRect">
            <a:avLst>
              <a:gd name="adj" fmla="val 23529"/>
            </a:avLst>
          </a:prstGeom>
          <a:solidFill>
            <a:srgbClr val="E1F8EF"/>
          </a:solidFill>
          <a:ln w="12700">
            <a:solidFill>
              <a:srgbClr val="E1F8EF"/>
            </a:solidFill>
            <a:prstDash val="solid"/>
          </a:ln>
        </p:spPr>
      </p:sp>
      <p:sp>
        <p:nvSpPr>
          <p:cNvPr id="20" name="Text 18"/>
          <p:cNvSpPr/>
          <p:nvPr/>
        </p:nvSpPr>
        <p:spPr>
          <a:xfrm>
            <a:off x="9372600" y="3474720"/>
            <a:ext cx="786384" cy="228600"/>
          </a:xfrm>
          <a:prstGeom prst="rect">
            <a:avLst/>
          </a:prstGeom>
          <a:noFill/>
          <a:ln/>
        </p:spPr>
        <p:txBody>
          <a:bodyPr wrap="square" lIns="0" tIns="0" rIns="0" bIns="0" rtlCol="0" anchor="ctr">
            <a:normAutofit/>
          </a:bodyPr>
          <a:lstStyle/>
          <a:p>
            <a:pPr marL="0" indent="0" algn="ctr">
              <a:buNone/>
            </a:pPr>
            <a:r>
              <a:rPr lang="en-US" sz="850" b="1" dirty="0">
                <a:solidFill>
                  <a:srgbClr val="19A974"/>
                </a:solidFill>
                <a:latin typeface="Arial" pitchFamily="34" charset="0"/>
                <a:ea typeface="Arial" pitchFamily="34" charset="-122"/>
                <a:cs typeface="Arial" pitchFamily="34" charset="-120"/>
              </a:rPr>
              <a:t>Active</a:t>
            </a:r>
            <a:endParaRPr lang="en-US" sz="850" dirty="0"/>
          </a:p>
        </p:txBody>
      </p:sp>
      <p:sp>
        <p:nvSpPr>
          <p:cNvPr id="21" name="Shape 19"/>
          <p:cNvSpPr/>
          <p:nvPr/>
        </p:nvSpPr>
        <p:spPr>
          <a:xfrm>
            <a:off x="5669280" y="4517136"/>
            <a:ext cx="1920240" cy="411480"/>
          </a:xfrm>
          <a:prstGeom prst="roundRect">
            <a:avLst>
              <a:gd name="adj" fmla="val 13333"/>
            </a:avLst>
          </a:prstGeom>
          <a:solidFill>
            <a:srgbClr val="08A6D6"/>
          </a:solidFill>
          <a:ln w="12700">
            <a:solidFill>
              <a:srgbClr val="08A6D6"/>
            </a:solidFill>
            <a:prstDash val="solid"/>
          </a:ln>
        </p:spPr>
      </p:sp>
      <p:sp>
        <p:nvSpPr>
          <p:cNvPr id="22" name="Text 20"/>
          <p:cNvSpPr/>
          <p:nvPr/>
        </p:nvSpPr>
        <p:spPr>
          <a:xfrm>
            <a:off x="5669280" y="4599432"/>
            <a:ext cx="1920240" cy="155448"/>
          </a:xfrm>
          <a:prstGeom prst="rect">
            <a:avLst/>
          </a:prstGeom>
          <a:noFill/>
          <a:ln/>
        </p:spPr>
        <p:txBody>
          <a:bodyPr wrap="square" lIns="0" tIns="0" rIns="0" bIns="0" rtlCol="0" anchor="ctr">
            <a:normAutofit/>
          </a:bodyPr>
          <a:lstStyle/>
          <a:p>
            <a:pPr marL="0" indent="0" algn="ctr">
              <a:buNone/>
            </a:pPr>
            <a:r>
              <a:rPr lang="en-US" sz="1000" b="1" dirty="0">
                <a:solidFill>
                  <a:srgbClr val="FFFFFF"/>
                </a:solidFill>
                <a:latin typeface="Arial" pitchFamily="34" charset="0"/>
                <a:ea typeface="Arial" pitchFamily="34" charset="-122"/>
                <a:cs typeface="Arial" pitchFamily="34" charset="-120"/>
              </a:rPr>
              <a:t>View recipe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8A6D6"/>
          </a:solidFill>
          <a:ln w="12700">
            <a:solidFill>
              <a:srgbClr val="08A6D6"/>
            </a:solidFill>
            <a:prstDash val="solid"/>
          </a:ln>
        </p:spPr>
      </p:sp>
      <p:sp>
        <p:nvSpPr>
          <p:cNvPr id="3" name="Shape 1"/>
          <p:cNvSpPr/>
          <p:nvPr/>
        </p:nvSpPr>
        <p:spPr>
          <a:xfrm>
            <a:off x="0" y="6574536"/>
            <a:ext cx="12191695" cy="283464"/>
          </a:xfrm>
          <a:prstGeom prst="rect">
            <a:avLst/>
          </a:prstGeom>
          <a:solidFill>
            <a:srgbClr val="081B33"/>
          </a:solidFill>
          <a:ln w="12700">
            <a:solidFill>
              <a:srgbClr val="081B33"/>
            </a:solidFill>
            <a:prstDash val="solid"/>
          </a:ln>
        </p:spPr>
      </p:sp>
      <p:sp>
        <p:nvSpPr>
          <p:cNvPr id="4" name="Text 2"/>
          <p:cNvSpPr/>
          <p:nvPr/>
        </p:nvSpPr>
        <p:spPr>
          <a:xfrm>
            <a:off x="502920" y="6629400"/>
            <a:ext cx="2377440" cy="128016"/>
          </a:xfrm>
          <a:prstGeom prst="rect">
            <a:avLst/>
          </a:prstGeom>
          <a:noFill/>
          <a:ln/>
        </p:spPr>
        <p:txBody>
          <a:bodyPr wrap="square" lIns="0" tIns="0" rIns="0" bIns="0" rtlCol="0" anchor="ctr">
            <a:normAutofit/>
          </a:bodyPr>
          <a:lstStyle/>
          <a:p>
            <a:pPr marL="0" indent="0" algn="l">
              <a:buNone/>
            </a:pPr>
            <a:r>
              <a:rPr lang="en-US" sz="750" b="1" dirty="0">
                <a:solidFill>
                  <a:srgbClr val="B6D4E8"/>
                </a:solidFill>
                <a:latin typeface="Arial" pitchFamily="34" charset="0"/>
                <a:ea typeface="Arial" pitchFamily="34" charset="-122"/>
                <a:cs typeface="Arial" pitchFamily="34" charset="-120"/>
              </a:rPr>
              <a:t>DEFI RECIPES ON ARC</a:t>
            </a:r>
            <a:endParaRPr lang="en-US" sz="750" dirty="0"/>
          </a:p>
        </p:txBody>
      </p:sp>
      <p:sp>
        <p:nvSpPr>
          <p:cNvPr id="5" name="Text 3"/>
          <p:cNvSpPr/>
          <p:nvPr/>
        </p:nvSpPr>
        <p:spPr>
          <a:xfrm>
            <a:off x="11173968" y="6611112"/>
            <a:ext cx="502920" cy="146304"/>
          </a:xfrm>
          <a:prstGeom prst="rect">
            <a:avLst/>
          </a:prstGeom>
          <a:noFill/>
          <a:ln/>
        </p:spPr>
        <p:txBody>
          <a:bodyPr wrap="square" lIns="0" tIns="0" rIns="0" bIns="0" rtlCol="0" anchor="ctr">
            <a:normAutofit/>
          </a:bodyPr>
          <a:lstStyle/>
          <a:p>
            <a:pPr marL="0" indent="0" algn="r">
              <a:buNone/>
            </a:pPr>
            <a:r>
              <a:rPr lang="en-US" sz="800" b="1" dirty="0">
                <a:solidFill>
                  <a:srgbClr val="FFFFFF"/>
                </a:solidFill>
                <a:latin typeface="Arial" pitchFamily="34" charset="0"/>
                <a:ea typeface="Arial" pitchFamily="34" charset="-122"/>
                <a:cs typeface="Arial" pitchFamily="34" charset="-120"/>
              </a:rPr>
              <a:t>02</a:t>
            </a:r>
            <a:endParaRPr lang="en-US" sz="800" dirty="0"/>
          </a:p>
        </p:txBody>
      </p:sp>
      <p:sp>
        <p:nvSpPr>
          <p:cNvPr id="6" name="Text 4"/>
          <p:cNvSpPr/>
          <p:nvPr/>
        </p:nvSpPr>
        <p:spPr>
          <a:xfrm>
            <a:off x="594360" y="438912"/>
            <a:ext cx="411480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8A6D6"/>
                </a:solidFill>
                <a:latin typeface="Arial" pitchFamily="34" charset="0"/>
                <a:ea typeface="Arial" pitchFamily="34" charset="-122"/>
                <a:cs typeface="Arial" pitchFamily="34" charset="-120"/>
              </a:rPr>
              <a:t>BỐI CẢNH</a:t>
            </a:r>
            <a:endParaRPr lang="en-US" sz="900" dirty="0"/>
          </a:p>
        </p:txBody>
      </p:sp>
      <p:sp>
        <p:nvSpPr>
          <p:cNvPr id="7" name="Text 5"/>
          <p:cNvSpPr/>
          <p:nvPr/>
        </p:nvSpPr>
        <p:spPr>
          <a:xfrm>
            <a:off x="594360" y="713232"/>
            <a:ext cx="10789920" cy="530352"/>
          </a:xfrm>
          <a:prstGeom prst="rect">
            <a:avLst/>
          </a:prstGeom>
          <a:noFill/>
          <a:ln/>
        </p:spPr>
        <p:txBody>
          <a:bodyPr wrap="square" lIns="0" tIns="0" rIns="0" bIns="0" rtlCol="0" anchor="ctr">
            <a:normAutofit/>
          </a:bodyPr>
          <a:lstStyle/>
          <a:p>
            <a:pPr marL="0" indent="0" algn="l">
              <a:buNone/>
            </a:pPr>
            <a:r>
              <a:rPr lang="en-US" sz="2800" b="1" dirty="0">
                <a:solidFill>
                  <a:srgbClr val="081B33"/>
                </a:solidFill>
                <a:latin typeface="Arial" pitchFamily="34" charset="0"/>
                <a:ea typeface="Arial" pitchFamily="34" charset="-122"/>
                <a:cs typeface="Arial" pitchFamily="34" charset="-120"/>
              </a:rPr>
              <a:t>DeFi thủ công khiến chiến lược dễ bị đứt quãng</a:t>
            </a:r>
            <a:endParaRPr lang="en-US" sz="2800" dirty="0"/>
          </a:p>
        </p:txBody>
      </p:sp>
      <p:sp>
        <p:nvSpPr>
          <p:cNvPr id="8" name="Text 6"/>
          <p:cNvSpPr/>
          <p:nvPr/>
        </p:nvSpPr>
        <p:spPr>
          <a:xfrm>
            <a:off x="594360" y="1289304"/>
            <a:ext cx="10424160" cy="329184"/>
          </a:xfrm>
          <a:prstGeom prst="rect">
            <a:avLst/>
          </a:prstGeom>
          <a:noFill/>
          <a:ln/>
        </p:spPr>
        <p:txBody>
          <a:bodyPr wrap="square" lIns="0" tIns="0" rIns="0" bIns="0" rtlCol="0" anchor="ctr">
            <a:normAutofit/>
          </a:bodyPr>
          <a:lstStyle/>
          <a:p>
            <a:pPr marL="0" indent="0" algn="l">
              <a:buNone/>
            </a:pPr>
            <a:r>
              <a:rPr lang="en-US" sz="1250" dirty="0">
                <a:solidFill>
                  <a:srgbClr val="60728A"/>
                </a:solidFill>
                <a:latin typeface="Arial" pitchFamily="34" charset="0"/>
                <a:ea typeface="Arial" pitchFamily="34" charset="-122"/>
                <a:cs typeface="Arial" pitchFamily="34" charset="-120"/>
              </a:rPr>
              <a:t>Các thao tác đơn giản lặp lại nhanh chóng trở thành gánh nặng.</a:t>
            </a:r>
            <a:endParaRPr lang="en-US" sz="1250" dirty="0"/>
          </a:p>
        </p:txBody>
      </p:sp>
      <p:sp>
        <p:nvSpPr>
          <p:cNvPr id="9" name="Shape 7"/>
          <p:cNvSpPr/>
          <p:nvPr/>
        </p:nvSpPr>
        <p:spPr>
          <a:xfrm>
            <a:off x="713232" y="1965960"/>
            <a:ext cx="3255264" cy="2139696"/>
          </a:xfrm>
          <a:prstGeom prst="roundRect">
            <a:avLst>
              <a:gd name="adj" fmla="val 3419"/>
            </a:avLst>
          </a:prstGeom>
          <a:solidFill>
            <a:srgbClr val="FFFFFF"/>
          </a:solidFill>
          <a:ln w="12700">
            <a:solidFill>
              <a:srgbClr val="D8E4EF"/>
            </a:solidFill>
            <a:prstDash val="solid"/>
          </a:ln>
          <a:effectLst>
            <a:outerShdw blurRad="12700" dist="50800" dir="2700000" algn="bl" rotWithShape="0">
              <a:srgbClr val="B7C7D4">
                <a:alpha val="12000"/>
              </a:srgbClr>
            </a:outerShdw>
          </a:effectLst>
        </p:spPr>
      </p:sp>
      <p:sp>
        <p:nvSpPr>
          <p:cNvPr id="10" name="Shape 8"/>
          <p:cNvSpPr/>
          <p:nvPr/>
        </p:nvSpPr>
        <p:spPr>
          <a:xfrm>
            <a:off x="1024128" y="2313432"/>
            <a:ext cx="475488" cy="475488"/>
          </a:xfrm>
          <a:prstGeom prst="ellipse">
            <a:avLst/>
          </a:prstGeom>
          <a:solidFill>
            <a:srgbClr val="08A6D6"/>
          </a:solidFill>
          <a:ln w="12700">
            <a:solidFill>
              <a:srgbClr val="08A6D6"/>
            </a:solidFill>
            <a:prstDash val="solid"/>
          </a:ln>
        </p:spPr>
      </p:sp>
      <p:sp>
        <p:nvSpPr>
          <p:cNvPr id="11" name="Text 9"/>
          <p:cNvSpPr/>
          <p:nvPr/>
        </p:nvSpPr>
        <p:spPr>
          <a:xfrm>
            <a:off x="1024128" y="2322576"/>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12" name="Text 10"/>
          <p:cNvSpPr/>
          <p:nvPr/>
        </p:nvSpPr>
        <p:spPr>
          <a:xfrm>
            <a:off x="1682496" y="2331720"/>
            <a:ext cx="1828800" cy="246888"/>
          </a:xfrm>
          <a:prstGeom prst="rect">
            <a:avLst/>
          </a:prstGeom>
          <a:noFill/>
          <a:ln/>
        </p:spPr>
        <p:txBody>
          <a:bodyPr wrap="square" lIns="0" tIns="0" rIns="0" bIns="0" rtlCol="0" anchor="ctr">
            <a:normAutofit lnSpcReduction="10000"/>
          </a:bodyPr>
          <a:lstStyle/>
          <a:p>
            <a:pPr marL="0" indent="0" algn="l">
              <a:buNone/>
            </a:pPr>
            <a:r>
              <a:rPr lang="en-US" sz="1800" b="1" dirty="0">
                <a:solidFill>
                  <a:srgbClr val="081B33"/>
                </a:solidFill>
                <a:latin typeface="Arial" pitchFamily="34" charset="0"/>
                <a:ea typeface="Arial" pitchFamily="34" charset="-122"/>
                <a:cs typeface="Arial" pitchFamily="34" charset="-120"/>
              </a:rPr>
              <a:t>Lặp lại</a:t>
            </a:r>
            <a:endParaRPr lang="en-US" sz="1800" dirty="0"/>
          </a:p>
        </p:txBody>
      </p:sp>
      <p:sp>
        <p:nvSpPr>
          <p:cNvPr id="13" name="Text 11"/>
          <p:cNvSpPr/>
          <p:nvPr/>
        </p:nvSpPr>
        <p:spPr>
          <a:xfrm>
            <a:off x="1024128" y="3063240"/>
            <a:ext cx="2606040" cy="566928"/>
          </a:xfrm>
          <a:prstGeom prst="rect">
            <a:avLst/>
          </a:prstGeom>
          <a:noFill/>
          <a:ln/>
        </p:spPr>
        <p:txBody>
          <a:bodyPr wrap="square" lIns="0" tIns="0" rIns="0" bIns="0" rtlCol="0" anchor="t">
            <a:normAutofit/>
          </a:bodyPr>
          <a:lstStyle/>
          <a:p>
            <a:pPr marL="0" indent="0" algn="l">
              <a:buNone/>
            </a:pPr>
            <a:r>
              <a:rPr lang="en-US" sz="1220" dirty="0">
                <a:solidFill>
                  <a:srgbClr val="60728A"/>
                </a:solidFill>
                <a:latin typeface="Arial" pitchFamily="34" charset="0"/>
                <a:ea typeface="Arial" pitchFamily="34" charset="-122"/>
                <a:cs typeface="Arial" pitchFamily="34" charset="-120"/>
              </a:rPr>
              <a:t>Nhớ mua, swap hoặc tái đầu tư đúng lịch.</a:t>
            </a:r>
            <a:endParaRPr lang="en-US" sz="1220" dirty="0"/>
          </a:p>
        </p:txBody>
      </p:sp>
      <p:sp>
        <p:nvSpPr>
          <p:cNvPr id="14" name="Shape 12"/>
          <p:cNvSpPr/>
          <p:nvPr/>
        </p:nvSpPr>
        <p:spPr>
          <a:xfrm>
            <a:off x="4462272" y="1965960"/>
            <a:ext cx="3255264" cy="2139696"/>
          </a:xfrm>
          <a:prstGeom prst="roundRect">
            <a:avLst>
              <a:gd name="adj" fmla="val 3419"/>
            </a:avLst>
          </a:prstGeom>
          <a:solidFill>
            <a:srgbClr val="FFFFFF"/>
          </a:solidFill>
          <a:ln w="12700">
            <a:solidFill>
              <a:srgbClr val="D8E4EF"/>
            </a:solidFill>
            <a:prstDash val="solid"/>
          </a:ln>
          <a:effectLst>
            <a:outerShdw blurRad="12700" dist="50800" dir="2700000" algn="bl" rotWithShape="0">
              <a:srgbClr val="B7C7D4">
                <a:alpha val="12000"/>
              </a:srgbClr>
            </a:outerShdw>
          </a:effectLst>
        </p:spPr>
      </p:sp>
      <p:sp>
        <p:nvSpPr>
          <p:cNvPr id="15" name="Shape 13"/>
          <p:cNvSpPr/>
          <p:nvPr/>
        </p:nvSpPr>
        <p:spPr>
          <a:xfrm>
            <a:off x="4773168" y="2313432"/>
            <a:ext cx="475488" cy="475488"/>
          </a:xfrm>
          <a:prstGeom prst="ellipse">
            <a:avLst/>
          </a:prstGeom>
          <a:solidFill>
            <a:srgbClr val="F5B82E"/>
          </a:solidFill>
          <a:ln w="12700">
            <a:solidFill>
              <a:srgbClr val="F5B82E"/>
            </a:solidFill>
            <a:prstDash val="solid"/>
          </a:ln>
        </p:spPr>
      </p:sp>
      <p:sp>
        <p:nvSpPr>
          <p:cNvPr id="16" name="Text 14"/>
          <p:cNvSpPr/>
          <p:nvPr/>
        </p:nvSpPr>
        <p:spPr>
          <a:xfrm>
            <a:off x="4773168" y="2322576"/>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17" name="Text 15"/>
          <p:cNvSpPr/>
          <p:nvPr/>
        </p:nvSpPr>
        <p:spPr>
          <a:xfrm>
            <a:off x="5431536" y="2331720"/>
            <a:ext cx="1828800" cy="246888"/>
          </a:xfrm>
          <a:prstGeom prst="rect">
            <a:avLst/>
          </a:prstGeom>
          <a:noFill/>
          <a:ln/>
        </p:spPr>
        <p:txBody>
          <a:bodyPr wrap="square" lIns="0" tIns="0" rIns="0" bIns="0" rtlCol="0" anchor="ctr">
            <a:normAutofit lnSpcReduction="10000"/>
          </a:bodyPr>
          <a:lstStyle/>
          <a:p>
            <a:pPr marL="0" indent="0" algn="l">
              <a:buNone/>
            </a:pPr>
            <a:r>
              <a:rPr lang="en-US" sz="1800" b="1" dirty="0">
                <a:solidFill>
                  <a:srgbClr val="081B33"/>
                </a:solidFill>
                <a:latin typeface="Arial" pitchFamily="34" charset="0"/>
                <a:ea typeface="Arial" pitchFamily="34" charset="-122"/>
                <a:cs typeface="Arial" pitchFamily="34" charset="-120"/>
              </a:rPr>
              <a:t>Phân tán</a:t>
            </a:r>
            <a:endParaRPr lang="en-US" sz="1800" dirty="0"/>
          </a:p>
        </p:txBody>
      </p:sp>
      <p:sp>
        <p:nvSpPr>
          <p:cNvPr id="18" name="Text 16"/>
          <p:cNvSpPr/>
          <p:nvPr/>
        </p:nvSpPr>
        <p:spPr>
          <a:xfrm>
            <a:off x="4773168" y="3063240"/>
            <a:ext cx="2606040" cy="566928"/>
          </a:xfrm>
          <a:prstGeom prst="rect">
            <a:avLst/>
          </a:prstGeom>
          <a:noFill/>
          <a:ln/>
        </p:spPr>
        <p:txBody>
          <a:bodyPr wrap="square" lIns="0" tIns="0" rIns="0" bIns="0" rtlCol="0" anchor="t">
            <a:normAutofit/>
          </a:bodyPr>
          <a:lstStyle/>
          <a:p>
            <a:pPr marL="0" indent="0" algn="l">
              <a:buNone/>
            </a:pPr>
            <a:r>
              <a:rPr lang="en-US" sz="1220" dirty="0">
                <a:solidFill>
                  <a:srgbClr val="60728A"/>
                </a:solidFill>
                <a:latin typeface="Arial" pitchFamily="34" charset="0"/>
                <a:ea typeface="Arial" pitchFamily="34" charset="-122"/>
                <a:cs typeface="Arial" pitchFamily="34" charset="-120"/>
              </a:rPr>
              <a:t>Theo dõi nhiều giao dịch, số dư và trạng thái.</a:t>
            </a:r>
            <a:endParaRPr lang="en-US" sz="1220" dirty="0"/>
          </a:p>
        </p:txBody>
      </p:sp>
      <p:sp>
        <p:nvSpPr>
          <p:cNvPr id="19" name="Shape 17"/>
          <p:cNvSpPr/>
          <p:nvPr/>
        </p:nvSpPr>
        <p:spPr>
          <a:xfrm>
            <a:off x="8211312" y="1965960"/>
            <a:ext cx="3255264" cy="2139696"/>
          </a:xfrm>
          <a:prstGeom prst="roundRect">
            <a:avLst>
              <a:gd name="adj" fmla="val 3419"/>
            </a:avLst>
          </a:prstGeom>
          <a:solidFill>
            <a:srgbClr val="FFFFFF"/>
          </a:solidFill>
          <a:ln w="12700">
            <a:solidFill>
              <a:srgbClr val="D8E4EF"/>
            </a:solidFill>
            <a:prstDash val="solid"/>
          </a:ln>
          <a:effectLst>
            <a:outerShdw blurRad="12700" dist="50800" dir="2700000" algn="bl" rotWithShape="0">
              <a:srgbClr val="B7C7D4">
                <a:alpha val="12000"/>
              </a:srgbClr>
            </a:outerShdw>
          </a:effectLst>
        </p:spPr>
      </p:sp>
      <p:sp>
        <p:nvSpPr>
          <p:cNvPr id="20" name="Shape 18"/>
          <p:cNvSpPr/>
          <p:nvPr/>
        </p:nvSpPr>
        <p:spPr>
          <a:xfrm>
            <a:off x="8522208" y="2313432"/>
            <a:ext cx="475488" cy="475488"/>
          </a:xfrm>
          <a:prstGeom prst="ellipse">
            <a:avLst/>
          </a:prstGeom>
          <a:solidFill>
            <a:srgbClr val="D94C6A"/>
          </a:solidFill>
          <a:ln w="12700">
            <a:solidFill>
              <a:srgbClr val="D94C6A"/>
            </a:solidFill>
            <a:prstDash val="solid"/>
          </a:ln>
        </p:spPr>
      </p:sp>
      <p:sp>
        <p:nvSpPr>
          <p:cNvPr id="21" name="Text 19"/>
          <p:cNvSpPr/>
          <p:nvPr/>
        </p:nvSpPr>
        <p:spPr>
          <a:xfrm>
            <a:off x="8522208" y="2322576"/>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22" name="Text 20"/>
          <p:cNvSpPr/>
          <p:nvPr/>
        </p:nvSpPr>
        <p:spPr>
          <a:xfrm>
            <a:off x="9180576" y="2331720"/>
            <a:ext cx="1828800" cy="246888"/>
          </a:xfrm>
          <a:prstGeom prst="rect">
            <a:avLst/>
          </a:prstGeom>
          <a:noFill/>
          <a:ln/>
        </p:spPr>
        <p:txBody>
          <a:bodyPr wrap="square" lIns="0" tIns="0" rIns="0" bIns="0" rtlCol="0" anchor="ctr">
            <a:normAutofit lnSpcReduction="10000"/>
          </a:bodyPr>
          <a:lstStyle/>
          <a:p>
            <a:pPr marL="0" indent="0" algn="l">
              <a:buNone/>
            </a:pPr>
            <a:r>
              <a:rPr lang="en-US" sz="1800" b="1" dirty="0">
                <a:solidFill>
                  <a:srgbClr val="081B33"/>
                </a:solidFill>
                <a:latin typeface="Arial" pitchFamily="34" charset="0"/>
                <a:ea typeface="Arial" pitchFamily="34" charset="-122"/>
                <a:cs typeface="Arial" pitchFamily="34" charset="-120"/>
              </a:rPr>
              <a:t>Rủi ro</a:t>
            </a:r>
            <a:endParaRPr lang="en-US" sz="1800" dirty="0"/>
          </a:p>
        </p:txBody>
      </p:sp>
      <p:sp>
        <p:nvSpPr>
          <p:cNvPr id="23" name="Text 21"/>
          <p:cNvSpPr/>
          <p:nvPr/>
        </p:nvSpPr>
        <p:spPr>
          <a:xfrm>
            <a:off x="8522208" y="3063240"/>
            <a:ext cx="2606040" cy="566928"/>
          </a:xfrm>
          <a:prstGeom prst="rect">
            <a:avLst/>
          </a:prstGeom>
          <a:noFill/>
          <a:ln/>
        </p:spPr>
        <p:txBody>
          <a:bodyPr wrap="square" lIns="0" tIns="0" rIns="0" bIns="0" rtlCol="0" anchor="t">
            <a:normAutofit/>
          </a:bodyPr>
          <a:lstStyle/>
          <a:p>
            <a:pPr marL="0" indent="0" algn="l">
              <a:buNone/>
            </a:pPr>
            <a:r>
              <a:rPr lang="en-US" sz="1220" dirty="0">
                <a:solidFill>
                  <a:srgbClr val="60728A"/>
                </a:solidFill>
                <a:latin typeface="Arial" pitchFamily="34" charset="0"/>
                <a:ea typeface="Arial" pitchFamily="34" charset="-122"/>
                <a:cs typeface="Arial" pitchFamily="34" charset="-120"/>
              </a:rPr>
              <a:t>Dễ vội vàng khi giá biến động, thiếu giới hạn rõ ràng.</a:t>
            </a:r>
            <a:endParaRPr lang="en-US" sz="1220" dirty="0"/>
          </a:p>
        </p:txBody>
      </p:sp>
      <p:sp>
        <p:nvSpPr>
          <p:cNvPr id="24" name="Text 22"/>
          <p:cNvSpPr/>
          <p:nvPr/>
        </p:nvSpPr>
        <p:spPr>
          <a:xfrm>
            <a:off x="914400" y="4919472"/>
            <a:ext cx="10332720" cy="320040"/>
          </a:xfrm>
          <a:prstGeom prst="rect">
            <a:avLst/>
          </a:prstGeom>
          <a:noFill/>
          <a:ln/>
        </p:spPr>
        <p:txBody>
          <a:bodyPr wrap="square" lIns="0" tIns="0" rIns="0" bIns="0" rtlCol="0" anchor="ctr">
            <a:normAutofit/>
          </a:bodyPr>
          <a:lstStyle/>
          <a:p>
            <a:pPr marL="0" indent="0" algn="ctr">
              <a:buNone/>
            </a:pPr>
            <a:r>
              <a:rPr lang="en-US" sz="1800" b="1" dirty="0">
                <a:solidFill>
                  <a:srgbClr val="081B33"/>
                </a:solidFill>
                <a:latin typeface="Arial" pitchFamily="34" charset="0"/>
                <a:ea typeface="Arial" pitchFamily="34" charset="-122"/>
                <a:cs typeface="Arial" pitchFamily="34" charset="-120"/>
              </a:rPr>
              <a:t>Kết quả: chiến lược phụ thuộc vào thời gian, sự tập trung và phản ứng của bạn.</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8A6D6"/>
          </a:solidFill>
          <a:ln w="12700">
            <a:solidFill>
              <a:srgbClr val="08A6D6"/>
            </a:solidFill>
            <a:prstDash val="solid"/>
          </a:ln>
        </p:spPr>
      </p:sp>
      <p:sp>
        <p:nvSpPr>
          <p:cNvPr id="3" name="Shape 1"/>
          <p:cNvSpPr/>
          <p:nvPr/>
        </p:nvSpPr>
        <p:spPr>
          <a:xfrm>
            <a:off x="0" y="6574536"/>
            <a:ext cx="12191695" cy="283464"/>
          </a:xfrm>
          <a:prstGeom prst="rect">
            <a:avLst/>
          </a:prstGeom>
          <a:solidFill>
            <a:srgbClr val="081B33"/>
          </a:solidFill>
          <a:ln w="12700">
            <a:solidFill>
              <a:srgbClr val="081B33"/>
            </a:solidFill>
            <a:prstDash val="solid"/>
          </a:ln>
        </p:spPr>
      </p:sp>
      <p:sp>
        <p:nvSpPr>
          <p:cNvPr id="4" name="Text 2"/>
          <p:cNvSpPr/>
          <p:nvPr/>
        </p:nvSpPr>
        <p:spPr>
          <a:xfrm>
            <a:off x="502920" y="6629400"/>
            <a:ext cx="2377440" cy="128016"/>
          </a:xfrm>
          <a:prstGeom prst="rect">
            <a:avLst/>
          </a:prstGeom>
          <a:noFill/>
          <a:ln/>
        </p:spPr>
        <p:txBody>
          <a:bodyPr wrap="square" lIns="0" tIns="0" rIns="0" bIns="0" rtlCol="0" anchor="ctr">
            <a:normAutofit/>
          </a:bodyPr>
          <a:lstStyle/>
          <a:p>
            <a:pPr marL="0" indent="0" algn="l">
              <a:buNone/>
            </a:pPr>
            <a:r>
              <a:rPr lang="en-US" sz="750" b="1" dirty="0">
                <a:solidFill>
                  <a:srgbClr val="B6D4E8"/>
                </a:solidFill>
                <a:latin typeface="Arial" pitchFamily="34" charset="0"/>
                <a:ea typeface="Arial" pitchFamily="34" charset="-122"/>
                <a:cs typeface="Arial" pitchFamily="34" charset="-120"/>
              </a:rPr>
              <a:t>DEFI RECIPES ON ARC</a:t>
            </a:r>
            <a:endParaRPr lang="en-US" sz="750" dirty="0"/>
          </a:p>
        </p:txBody>
      </p:sp>
      <p:sp>
        <p:nvSpPr>
          <p:cNvPr id="5" name="Text 3"/>
          <p:cNvSpPr/>
          <p:nvPr/>
        </p:nvSpPr>
        <p:spPr>
          <a:xfrm>
            <a:off x="11173968" y="6611112"/>
            <a:ext cx="502920" cy="146304"/>
          </a:xfrm>
          <a:prstGeom prst="rect">
            <a:avLst/>
          </a:prstGeom>
          <a:noFill/>
          <a:ln/>
        </p:spPr>
        <p:txBody>
          <a:bodyPr wrap="square" lIns="0" tIns="0" rIns="0" bIns="0" rtlCol="0" anchor="ctr">
            <a:normAutofit/>
          </a:bodyPr>
          <a:lstStyle/>
          <a:p>
            <a:pPr marL="0" indent="0" algn="r">
              <a:buNone/>
            </a:pPr>
            <a:r>
              <a:rPr lang="en-US" sz="800" b="1" dirty="0">
                <a:solidFill>
                  <a:srgbClr val="FFFFFF"/>
                </a:solidFill>
                <a:latin typeface="Arial" pitchFamily="34" charset="0"/>
                <a:ea typeface="Arial" pitchFamily="34" charset="-122"/>
                <a:cs typeface="Arial" pitchFamily="34" charset="-120"/>
              </a:rPr>
              <a:t>03</a:t>
            </a:r>
            <a:endParaRPr lang="en-US" sz="800" dirty="0"/>
          </a:p>
        </p:txBody>
      </p:sp>
      <p:sp>
        <p:nvSpPr>
          <p:cNvPr id="6" name="Text 4"/>
          <p:cNvSpPr/>
          <p:nvPr/>
        </p:nvSpPr>
        <p:spPr>
          <a:xfrm>
            <a:off x="594360" y="438912"/>
            <a:ext cx="411480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8A6D6"/>
                </a:solidFill>
                <a:latin typeface="Arial" pitchFamily="34" charset="0"/>
                <a:ea typeface="Arial" pitchFamily="34" charset="-122"/>
                <a:cs typeface="Arial" pitchFamily="34" charset="-120"/>
              </a:rPr>
              <a:t>GIẢI PHÁP</a:t>
            </a:r>
            <a:endParaRPr lang="en-US" sz="900" dirty="0"/>
          </a:p>
        </p:txBody>
      </p:sp>
      <p:sp>
        <p:nvSpPr>
          <p:cNvPr id="7" name="Text 5"/>
          <p:cNvSpPr/>
          <p:nvPr/>
        </p:nvSpPr>
        <p:spPr>
          <a:xfrm>
            <a:off x="594360" y="713232"/>
            <a:ext cx="10789920" cy="530352"/>
          </a:xfrm>
          <a:prstGeom prst="rect">
            <a:avLst/>
          </a:prstGeom>
          <a:noFill/>
          <a:ln/>
        </p:spPr>
        <p:txBody>
          <a:bodyPr wrap="square" lIns="0" tIns="0" rIns="0" bIns="0" rtlCol="0" anchor="ctr">
            <a:normAutofit/>
          </a:bodyPr>
          <a:lstStyle/>
          <a:p>
            <a:pPr marL="0" indent="0" algn="l">
              <a:buNone/>
            </a:pPr>
            <a:r>
              <a:rPr lang="en-US" sz="2800" b="1" dirty="0">
                <a:solidFill>
                  <a:srgbClr val="081B33"/>
                </a:solidFill>
                <a:latin typeface="Arial" pitchFamily="34" charset="0"/>
                <a:ea typeface="Arial" pitchFamily="34" charset="-122"/>
                <a:cs typeface="Arial" pitchFamily="34" charset="-120"/>
              </a:rPr>
              <a:t>Một “recipe” biến điều kiện thành hành động tự động</a:t>
            </a:r>
            <a:endParaRPr lang="en-US" sz="2800" dirty="0"/>
          </a:p>
        </p:txBody>
      </p:sp>
      <p:sp>
        <p:nvSpPr>
          <p:cNvPr id="8" name="Text 6"/>
          <p:cNvSpPr/>
          <p:nvPr/>
        </p:nvSpPr>
        <p:spPr>
          <a:xfrm>
            <a:off x="594360" y="1289304"/>
            <a:ext cx="10424160" cy="329184"/>
          </a:xfrm>
          <a:prstGeom prst="rect">
            <a:avLst/>
          </a:prstGeom>
          <a:noFill/>
          <a:ln/>
        </p:spPr>
        <p:txBody>
          <a:bodyPr wrap="square" lIns="0" tIns="0" rIns="0" bIns="0" rtlCol="0" anchor="ctr">
            <a:normAutofit/>
          </a:bodyPr>
          <a:lstStyle/>
          <a:p>
            <a:pPr marL="0" indent="0" algn="l">
              <a:buNone/>
            </a:pPr>
            <a:r>
              <a:rPr lang="en-US" sz="1250" dirty="0">
                <a:solidFill>
                  <a:srgbClr val="60728A"/>
                </a:solidFill>
                <a:latin typeface="Arial" pitchFamily="34" charset="0"/>
                <a:ea typeface="Arial" pitchFamily="34" charset="-122"/>
                <a:cs typeface="Arial" pitchFamily="34" charset="-120"/>
              </a:rPr>
              <a:t>Bạn đặt trước quy tắc; hệ thống chỉ thực thi trong phạm vi đã cho phép.</a:t>
            </a:r>
            <a:endParaRPr lang="en-US" sz="1250" dirty="0"/>
          </a:p>
        </p:txBody>
      </p:sp>
      <p:sp>
        <p:nvSpPr>
          <p:cNvPr id="9" name="Shape 7"/>
          <p:cNvSpPr/>
          <p:nvPr/>
        </p:nvSpPr>
        <p:spPr>
          <a:xfrm>
            <a:off x="685800" y="2121408"/>
            <a:ext cx="2286000" cy="2331720"/>
          </a:xfrm>
          <a:prstGeom prst="roundRect">
            <a:avLst>
              <a:gd name="adj" fmla="val 3200"/>
            </a:avLst>
          </a:prstGeom>
          <a:solidFill>
            <a:srgbClr val="DDF6FC"/>
          </a:solidFill>
          <a:ln w="12700">
            <a:solidFill>
              <a:srgbClr val="DDF6FC"/>
            </a:solidFill>
            <a:prstDash val="solid"/>
          </a:ln>
        </p:spPr>
      </p:sp>
      <p:sp>
        <p:nvSpPr>
          <p:cNvPr id="10" name="Shape 8"/>
          <p:cNvSpPr/>
          <p:nvPr/>
        </p:nvSpPr>
        <p:spPr>
          <a:xfrm>
            <a:off x="1581912" y="2423160"/>
            <a:ext cx="475488" cy="475488"/>
          </a:xfrm>
          <a:prstGeom prst="ellipse">
            <a:avLst/>
          </a:prstGeom>
          <a:solidFill>
            <a:srgbClr val="08A6D6"/>
          </a:solidFill>
          <a:ln w="12700">
            <a:solidFill>
              <a:srgbClr val="08A6D6"/>
            </a:solidFill>
            <a:prstDash val="solid"/>
          </a:ln>
        </p:spPr>
      </p:sp>
      <p:sp>
        <p:nvSpPr>
          <p:cNvPr id="11" name="Text 9"/>
          <p:cNvSpPr/>
          <p:nvPr/>
        </p:nvSpPr>
        <p:spPr>
          <a:xfrm>
            <a:off x="1581912" y="2432304"/>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12" name="Text 10"/>
          <p:cNvSpPr/>
          <p:nvPr/>
        </p:nvSpPr>
        <p:spPr>
          <a:xfrm>
            <a:off x="987552" y="3127248"/>
            <a:ext cx="1691640" cy="566928"/>
          </a:xfrm>
          <a:prstGeom prst="rect">
            <a:avLst/>
          </a:prstGeom>
          <a:noFill/>
          <a:ln/>
        </p:spPr>
        <p:txBody>
          <a:bodyPr wrap="square" lIns="0" tIns="0" rIns="0" bIns="0" rtlCol="0" anchor="ctr">
            <a:normAutofit/>
          </a:bodyPr>
          <a:lstStyle/>
          <a:p>
            <a:pPr marL="0" indent="0" algn="ctr">
              <a:buNone/>
            </a:pPr>
            <a:r>
              <a:rPr lang="en-US" sz="1700" b="1" dirty="0">
                <a:solidFill>
                  <a:srgbClr val="081B33"/>
                </a:solidFill>
                <a:latin typeface="Arial" pitchFamily="34" charset="0"/>
                <a:ea typeface="Arial" pitchFamily="34" charset="-122"/>
                <a:cs typeface="Arial" pitchFamily="34" charset="-120"/>
              </a:rPr>
              <a:t>Bạn đặt</a:t>
            </a:r>
            <a:endParaRPr lang="en-US" sz="1700" dirty="0"/>
          </a:p>
          <a:p>
            <a:pPr marL="0" indent="0" algn="ctr">
              <a:buNone/>
            </a:pPr>
            <a:r>
              <a:rPr lang="en-US" sz="1700" b="1" dirty="0">
                <a:solidFill>
                  <a:srgbClr val="081B33"/>
                </a:solidFill>
                <a:latin typeface="Arial" pitchFamily="34" charset="0"/>
                <a:ea typeface="Arial" pitchFamily="34" charset="-122"/>
                <a:cs typeface="Arial" pitchFamily="34" charset="-120"/>
              </a:rPr>
              <a:t>điều kiện</a:t>
            </a:r>
            <a:endParaRPr lang="en-US" sz="1700" dirty="0"/>
          </a:p>
        </p:txBody>
      </p:sp>
      <p:sp>
        <p:nvSpPr>
          <p:cNvPr id="13" name="Shape 11"/>
          <p:cNvSpPr/>
          <p:nvPr/>
        </p:nvSpPr>
        <p:spPr>
          <a:xfrm>
            <a:off x="3200400" y="3008376"/>
            <a:ext cx="438912" cy="475488"/>
          </a:xfrm>
          <a:prstGeom prst="chevron">
            <a:avLst/>
          </a:prstGeom>
          <a:solidFill>
            <a:srgbClr val="08A6D6"/>
          </a:solidFill>
          <a:ln w="12700">
            <a:solidFill>
              <a:srgbClr val="08A6D6"/>
            </a:solidFill>
            <a:prstDash val="solid"/>
          </a:ln>
        </p:spPr>
      </p:sp>
      <p:sp>
        <p:nvSpPr>
          <p:cNvPr id="14" name="Shape 12"/>
          <p:cNvSpPr/>
          <p:nvPr/>
        </p:nvSpPr>
        <p:spPr>
          <a:xfrm>
            <a:off x="3977640" y="2121408"/>
            <a:ext cx="4233672" cy="2331720"/>
          </a:xfrm>
          <a:prstGeom prst="roundRect">
            <a:avLst>
              <a:gd name="adj" fmla="val 3137"/>
            </a:avLst>
          </a:prstGeom>
          <a:solidFill>
            <a:srgbClr val="081B33"/>
          </a:solidFill>
          <a:ln w="12700">
            <a:solidFill>
              <a:srgbClr val="081B33"/>
            </a:solidFill>
            <a:prstDash val="solid"/>
          </a:ln>
        </p:spPr>
      </p:sp>
      <p:sp>
        <p:nvSpPr>
          <p:cNvPr id="15" name="Shape 13"/>
          <p:cNvSpPr/>
          <p:nvPr/>
        </p:nvSpPr>
        <p:spPr>
          <a:xfrm>
            <a:off x="5193792" y="2404872"/>
            <a:ext cx="1737360" cy="310896"/>
          </a:xfrm>
          <a:prstGeom prst="roundRect">
            <a:avLst>
              <a:gd name="adj" fmla="val 23529"/>
            </a:avLst>
          </a:prstGeom>
          <a:solidFill>
            <a:srgbClr val="103E62"/>
          </a:solidFill>
          <a:ln w="12700">
            <a:solidFill>
              <a:srgbClr val="103E62"/>
            </a:solidFill>
            <a:prstDash val="solid"/>
          </a:ln>
        </p:spPr>
      </p:sp>
      <p:sp>
        <p:nvSpPr>
          <p:cNvPr id="16" name="Text 14"/>
          <p:cNvSpPr/>
          <p:nvPr/>
        </p:nvSpPr>
        <p:spPr>
          <a:xfrm>
            <a:off x="5193792" y="2423160"/>
            <a:ext cx="1737360" cy="228600"/>
          </a:xfrm>
          <a:prstGeom prst="rect">
            <a:avLst/>
          </a:prstGeom>
          <a:noFill/>
          <a:ln/>
        </p:spPr>
        <p:txBody>
          <a:bodyPr wrap="square" lIns="0" tIns="0" rIns="0" bIns="0" rtlCol="0" anchor="ctr">
            <a:normAutofit/>
          </a:bodyPr>
          <a:lstStyle/>
          <a:p>
            <a:pPr marL="0" indent="0" algn="ctr">
              <a:buNone/>
            </a:pPr>
            <a:r>
              <a:rPr lang="en-US" sz="850" b="1" dirty="0">
                <a:solidFill>
                  <a:srgbClr val="7CE4FF"/>
                </a:solidFill>
                <a:latin typeface="Arial" pitchFamily="34" charset="0"/>
                <a:ea typeface="Arial" pitchFamily="34" charset="-122"/>
                <a:cs typeface="Arial" pitchFamily="34" charset="-120"/>
              </a:rPr>
              <a:t>RECIPE ENGINE</a:t>
            </a:r>
            <a:endParaRPr lang="en-US" sz="850" dirty="0"/>
          </a:p>
        </p:txBody>
      </p:sp>
      <p:sp>
        <p:nvSpPr>
          <p:cNvPr id="17" name="Text 15"/>
          <p:cNvSpPr/>
          <p:nvPr/>
        </p:nvSpPr>
        <p:spPr>
          <a:xfrm>
            <a:off x="4663440" y="2907792"/>
            <a:ext cx="2880360" cy="640080"/>
          </a:xfrm>
          <a:prstGeom prst="rect">
            <a:avLst/>
          </a:prstGeom>
          <a:noFill/>
          <a:ln/>
        </p:spPr>
        <p:txBody>
          <a:bodyPr wrap="square" lIns="0" tIns="0" rIns="0" bIns="0" rtlCol="0" anchor="ctr">
            <a:normAutofit/>
          </a:bodyPr>
          <a:lstStyle/>
          <a:p>
            <a:pPr marL="0" indent="0" algn="ctr">
              <a:buNone/>
            </a:pPr>
            <a:r>
              <a:rPr lang="en-US" sz="2000" b="1" dirty="0">
                <a:solidFill>
                  <a:srgbClr val="FFFFFF"/>
                </a:solidFill>
                <a:latin typeface="Arial" pitchFamily="34" charset="0"/>
                <a:ea typeface="Arial" pitchFamily="34" charset="-122"/>
                <a:cs typeface="Arial" pitchFamily="34" charset="-120"/>
              </a:rPr>
              <a:t>Kiểm tra an toàn</a:t>
            </a:r>
            <a:endParaRPr lang="en-US" sz="2000" dirty="0"/>
          </a:p>
          <a:p>
            <a:pPr marL="0" indent="0" algn="ctr">
              <a:buNone/>
            </a:pPr>
            <a:r>
              <a:rPr lang="en-US" sz="2000" b="1" dirty="0">
                <a:solidFill>
                  <a:srgbClr val="FFFFFF"/>
                </a:solidFill>
                <a:latin typeface="Arial" pitchFamily="34" charset="0"/>
                <a:ea typeface="Arial" pitchFamily="34" charset="-122"/>
                <a:cs typeface="Arial" pitchFamily="34" charset="-120"/>
              </a:rPr>
              <a:t>trước khi thực thi</a:t>
            </a:r>
            <a:endParaRPr lang="en-US" sz="2000" dirty="0"/>
          </a:p>
        </p:txBody>
      </p:sp>
      <p:sp>
        <p:nvSpPr>
          <p:cNvPr id="18" name="Text 16"/>
          <p:cNvSpPr/>
          <p:nvPr/>
        </p:nvSpPr>
        <p:spPr>
          <a:xfrm>
            <a:off x="4370832" y="3867912"/>
            <a:ext cx="3456432" cy="192024"/>
          </a:xfrm>
          <a:prstGeom prst="rect">
            <a:avLst/>
          </a:prstGeom>
          <a:noFill/>
          <a:ln/>
        </p:spPr>
        <p:txBody>
          <a:bodyPr wrap="square" lIns="0" tIns="0" rIns="0" bIns="0" rtlCol="0" anchor="ctr">
            <a:normAutofit/>
          </a:bodyPr>
          <a:lstStyle/>
          <a:p>
            <a:pPr marL="0" indent="0" algn="ctr">
              <a:buNone/>
            </a:pPr>
            <a:r>
              <a:rPr lang="en-US" sz="1050" dirty="0">
                <a:solidFill>
                  <a:srgbClr val="B6D4E8"/>
                </a:solidFill>
                <a:latin typeface="Arial" pitchFamily="34" charset="0"/>
                <a:ea typeface="Arial" pitchFamily="34" charset="-122"/>
                <a:cs typeface="Arial" pitchFamily="34" charset="-120"/>
              </a:rPr>
              <a:t>Session Key • Whitelist • Slippage limit</a:t>
            </a:r>
            <a:endParaRPr lang="en-US" sz="1050" dirty="0"/>
          </a:p>
        </p:txBody>
      </p:sp>
      <p:sp>
        <p:nvSpPr>
          <p:cNvPr id="19" name="Shape 17"/>
          <p:cNvSpPr/>
          <p:nvPr/>
        </p:nvSpPr>
        <p:spPr>
          <a:xfrm>
            <a:off x="8485632" y="3008376"/>
            <a:ext cx="438912" cy="475488"/>
          </a:xfrm>
          <a:prstGeom prst="chevron">
            <a:avLst/>
          </a:prstGeom>
          <a:solidFill>
            <a:srgbClr val="19A974"/>
          </a:solidFill>
          <a:ln w="12700">
            <a:solidFill>
              <a:srgbClr val="19A974"/>
            </a:solidFill>
            <a:prstDash val="solid"/>
          </a:ln>
        </p:spPr>
      </p:sp>
      <p:sp>
        <p:nvSpPr>
          <p:cNvPr id="20" name="Shape 18"/>
          <p:cNvSpPr/>
          <p:nvPr/>
        </p:nvSpPr>
        <p:spPr>
          <a:xfrm>
            <a:off x="9262872" y="2121408"/>
            <a:ext cx="2240280" cy="2331720"/>
          </a:xfrm>
          <a:prstGeom prst="roundRect">
            <a:avLst>
              <a:gd name="adj" fmla="val 3265"/>
            </a:avLst>
          </a:prstGeom>
          <a:solidFill>
            <a:srgbClr val="E1F8EF"/>
          </a:solidFill>
          <a:ln w="12700">
            <a:solidFill>
              <a:srgbClr val="E1F8EF"/>
            </a:solidFill>
            <a:prstDash val="solid"/>
          </a:ln>
        </p:spPr>
      </p:sp>
      <p:sp>
        <p:nvSpPr>
          <p:cNvPr id="21" name="Shape 19"/>
          <p:cNvSpPr/>
          <p:nvPr/>
        </p:nvSpPr>
        <p:spPr>
          <a:xfrm>
            <a:off x="10131552" y="2423160"/>
            <a:ext cx="475488" cy="475488"/>
          </a:xfrm>
          <a:prstGeom prst="ellipse">
            <a:avLst/>
          </a:prstGeom>
          <a:solidFill>
            <a:srgbClr val="19A974"/>
          </a:solidFill>
          <a:ln w="12700">
            <a:solidFill>
              <a:srgbClr val="19A974"/>
            </a:solidFill>
            <a:prstDash val="solid"/>
          </a:ln>
        </p:spPr>
      </p:sp>
      <p:sp>
        <p:nvSpPr>
          <p:cNvPr id="22" name="Text 20"/>
          <p:cNvSpPr/>
          <p:nvPr/>
        </p:nvSpPr>
        <p:spPr>
          <a:xfrm>
            <a:off x="10131552" y="2432304"/>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23" name="Text 21"/>
          <p:cNvSpPr/>
          <p:nvPr/>
        </p:nvSpPr>
        <p:spPr>
          <a:xfrm>
            <a:off x="9555480" y="3127248"/>
            <a:ext cx="1664208" cy="566928"/>
          </a:xfrm>
          <a:prstGeom prst="rect">
            <a:avLst/>
          </a:prstGeom>
          <a:noFill/>
          <a:ln/>
        </p:spPr>
        <p:txBody>
          <a:bodyPr wrap="square" lIns="0" tIns="0" rIns="0" bIns="0" rtlCol="0" anchor="ctr">
            <a:normAutofit/>
          </a:bodyPr>
          <a:lstStyle/>
          <a:p>
            <a:pPr marL="0" indent="0" algn="ctr">
              <a:buNone/>
            </a:pPr>
            <a:r>
              <a:rPr lang="en-US" sz="1650" b="1" dirty="0">
                <a:solidFill>
                  <a:srgbClr val="081B33"/>
                </a:solidFill>
                <a:latin typeface="Arial" pitchFamily="34" charset="0"/>
                <a:ea typeface="Arial" pitchFamily="34" charset="-122"/>
                <a:cs typeface="Arial" pitchFamily="34" charset="-120"/>
              </a:rPr>
              <a:t>Giao dịch</a:t>
            </a:r>
            <a:endParaRPr lang="en-US" sz="1650" dirty="0"/>
          </a:p>
          <a:p>
            <a:pPr marL="0" indent="0" algn="ctr">
              <a:buNone/>
            </a:pPr>
            <a:r>
              <a:rPr lang="en-US" sz="1650" b="1" dirty="0">
                <a:solidFill>
                  <a:srgbClr val="081B33"/>
                </a:solidFill>
                <a:latin typeface="Arial" pitchFamily="34" charset="0"/>
                <a:ea typeface="Arial" pitchFamily="34" charset="-122"/>
                <a:cs typeface="Arial" pitchFamily="34" charset="-120"/>
              </a:rPr>
              <a:t>được ghi nhận</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8A6D6"/>
          </a:solidFill>
          <a:ln w="12700">
            <a:solidFill>
              <a:srgbClr val="08A6D6"/>
            </a:solidFill>
            <a:prstDash val="solid"/>
          </a:ln>
        </p:spPr>
      </p:sp>
      <p:sp>
        <p:nvSpPr>
          <p:cNvPr id="3" name="Shape 1"/>
          <p:cNvSpPr/>
          <p:nvPr/>
        </p:nvSpPr>
        <p:spPr>
          <a:xfrm>
            <a:off x="0" y="6574536"/>
            <a:ext cx="12191695" cy="283464"/>
          </a:xfrm>
          <a:prstGeom prst="rect">
            <a:avLst/>
          </a:prstGeom>
          <a:solidFill>
            <a:srgbClr val="081B33"/>
          </a:solidFill>
          <a:ln w="12700">
            <a:solidFill>
              <a:srgbClr val="081B33"/>
            </a:solidFill>
            <a:prstDash val="solid"/>
          </a:ln>
        </p:spPr>
      </p:sp>
      <p:sp>
        <p:nvSpPr>
          <p:cNvPr id="4" name="Text 2"/>
          <p:cNvSpPr/>
          <p:nvPr/>
        </p:nvSpPr>
        <p:spPr>
          <a:xfrm>
            <a:off x="502920" y="6629400"/>
            <a:ext cx="2377440" cy="128016"/>
          </a:xfrm>
          <a:prstGeom prst="rect">
            <a:avLst/>
          </a:prstGeom>
          <a:noFill/>
          <a:ln/>
        </p:spPr>
        <p:txBody>
          <a:bodyPr wrap="square" lIns="0" tIns="0" rIns="0" bIns="0" rtlCol="0" anchor="ctr">
            <a:normAutofit/>
          </a:bodyPr>
          <a:lstStyle/>
          <a:p>
            <a:pPr marL="0" indent="0" algn="l">
              <a:buNone/>
            </a:pPr>
            <a:r>
              <a:rPr lang="en-US" sz="750" b="1" dirty="0">
                <a:solidFill>
                  <a:srgbClr val="B6D4E8"/>
                </a:solidFill>
                <a:latin typeface="Arial" pitchFamily="34" charset="0"/>
                <a:ea typeface="Arial" pitchFamily="34" charset="-122"/>
                <a:cs typeface="Arial" pitchFamily="34" charset="-120"/>
              </a:rPr>
              <a:t>DEFI RECIPES ON ARC</a:t>
            </a:r>
            <a:endParaRPr lang="en-US" sz="750" dirty="0"/>
          </a:p>
        </p:txBody>
      </p:sp>
      <p:sp>
        <p:nvSpPr>
          <p:cNvPr id="5" name="Text 3"/>
          <p:cNvSpPr/>
          <p:nvPr/>
        </p:nvSpPr>
        <p:spPr>
          <a:xfrm>
            <a:off x="11173968" y="6611112"/>
            <a:ext cx="502920" cy="146304"/>
          </a:xfrm>
          <a:prstGeom prst="rect">
            <a:avLst/>
          </a:prstGeom>
          <a:noFill/>
          <a:ln/>
        </p:spPr>
        <p:txBody>
          <a:bodyPr wrap="square" lIns="0" tIns="0" rIns="0" bIns="0" rtlCol="0" anchor="ctr">
            <a:normAutofit/>
          </a:bodyPr>
          <a:lstStyle/>
          <a:p>
            <a:pPr marL="0" indent="0" algn="r">
              <a:buNone/>
            </a:pPr>
            <a:r>
              <a:rPr lang="en-US" sz="800" b="1" dirty="0">
                <a:solidFill>
                  <a:srgbClr val="FFFFFF"/>
                </a:solidFill>
                <a:latin typeface="Arial" pitchFamily="34" charset="0"/>
                <a:ea typeface="Arial" pitchFamily="34" charset="-122"/>
                <a:cs typeface="Arial" pitchFamily="34" charset="-120"/>
              </a:rPr>
              <a:t>04</a:t>
            </a:r>
            <a:endParaRPr lang="en-US" sz="800" dirty="0"/>
          </a:p>
        </p:txBody>
      </p:sp>
      <p:sp>
        <p:nvSpPr>
          <p:cNvPr id="6" name="Text 4"/>
          <p:cNvSpPr/>
          <p:nvPr/>
        </p:nvSpPr>
        <p:spPr>
          <a:xfrm>
            <a:off x="594360" y="438912"/>
            <a:ext cx="411480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8A6D6"/>
                </a:solidFill>
                <a:latin typeface="Arial" pitchFamily="34" charset="0"/>
                <a:ea typeface="Arial" pitchFamily="34" charset="-122"/>
                <a:cs typeface="Arial" pitchFamily="34" charset="-120"/>
              </a:rPr>
              <a:t>GIÁ TRỊ</a:t>
            </a:r>
            <a:endParaRPr lang="en-US" sz="900" dirty="0"/>
          </a:p>
        </p:txBody>
      </p:sp>
      <p:sp>
        <p:nvSpPr>
          <p:cNvPr id="7" name="Text 5"/>
          <p:cNvSpPr/>
          <p:nvPr/>
        </p:nvSpPr>
        <p:spPr>
          <a:xfrm>
            <a:off x="594360" y="713232"/>
            <a:ext cx="10789920" cy="530352"/>
          </a:xfrm>
          <a:prstGeom prst="rect">
            <a:avLst/>
          </a:prstGeom>
          <a:noFill/>
          <a:ln/>
        </p:spPr>
        <p:txBody>
          <a:bodyPr wrap="square" lIns="0" tIns="0" rIns="0" bIns="0" rtlCol="0" anchor="ctr">
            <a:normAutofit/>
          </a:bodyPr>
          <a:lstStyle/>
          <a:p>
            <a:pPr marL="0" indent="0" algn="l">
              <a:buNone/>
            </a:pPr>
            <a:r>
              <a:rPr lang="en-US" sz="2800" b="1" dirty="0">
                <a:solidFill>
                  <a:srgbClr val="081B33"/>
                </a:solidFill>
                <a:latin typeface="Arial" pitchFamily="34" charset="0"/>
                <a:ea typeface="Arial" pitchFamily="34" charset="-122"/>
                <a:cs typeface="Arial" pitchFamily="34" charset="-120"/>
              </a:rPr>
              <a:t>Ít thao tác hơn. Nhiều kiểm soát hơn.</a:t>
            </a:r>
            <a:endParaRPr lang="en-US" sz="2800" dirty="0"/>
          </a:p>
        </p:txBody>
      </p:sp>
      <p:sp>
        <p:nvSpPr>
          <p:cNvPr id="8" name="Text 6"/>
          <p:cNvSpPr/>
          <p:nvPr/>
        </p:nvSpPr>
        <p:spPr>
          <a:xfrm>
            <a:off x="594360" y="1289304"/>
            <a:ext cx="10424160" cy="329184"/>
          </a:xfrm>
          <a:prstGeom prst="rect">
            <a:avLst/>
          </a:prstGeom>
          <a:noFill/>
          <a:ln/>
        </p:spPr>
        <p:txBody>
          <a:bodyPr wrap="square" lIns="0" tIns="0" rIns="0" bIns="0" rtlCol="0" anchor="ctr">
            <a:normAutofit/>
          </a:bodyPr>
          <a:lstStyle/>
          <a:p>
            <a:pPr marL="0" indent="0" algn="l">
              <a:buNone/>
            </a:pPr>
            <a:r>
              <a:rPr lang="en-US" sz="1250" dirty="0">
                <a:solidFill>
                  <a:srgbClr val="60728A"/>
                </a:solidFill>
                <a:latin typeface="Arial" pitchFamily="34" charset="0"/>
                <a:ea typeface="Arial" pitchFamily="34" charset="-122"/>
                <a:cs typeface="Arial" pitchFamily="34" charset="-120"/>
              </a:rPr>
              <a:t>Arc giúp trải nghiệm tự động hoá nhanh, dễ dự đoán và ưu tiên USDC.</a:t>
            </a:r>
            <a:endParaRPr lang="en-US" sz="1250" dirty="0"/>
          </a:p>
        </p:txBody>
      </p:sp>
      <p:sp>
        <p:nvSpPr>
          <p:cNvPr id="9" name="Shape 7"/>
          <p:cNvSpPr/>
          <p:nvPr/>
        </p:nvSpPr>
        <p:spPr>
          <a:xfrm>
            <a:off x="749808" y="1901952"/>
            <a:ext cx="5047488" cy="1207008"/>
          </a:xfrm>
          <a:prstGeom prst="roundRect">
            <a:avLst>
              <a:gd name="adj" fmla="val 4545"/>
            </a:avLst>
          </a:prstGeom>
          <a:solidFill>
            <a:srgbClr val="FFFFFF"/>
          </a:solidFill>
          <a:ln w="12700">
            <a:solidFill>
              <a:srgbClr val="D8E4EF"/>
            </a:solidFill>
            <a:prstDash val="solid"/>
          </a:ln>
        </p:spPr>
      </p:sp>
      <p:sp>
        <p:nvSpPr>
          <p:cNvPr id="10" name="Shape 8"/>
          <p:cNvSpPr/>
          <p:nvPr/>
        </p:nvSpPr>
        <p:spPr>
          <a:xfrm>
            <a:off x="1060704" y="2258568"/>
            <a:ext cx="475488" cy="475488"/>
          </a:xfrm>
          <a:prstGeom prst="ellipse">
            <a:avLst/>
          </a:prstGeom>
          <a:solidFill>
            <a:srgbClr val="08A6D6"/>
          </a:solidFill>
          <a:ln w="12700">
            <a:solidFill>
              <a:srgbClr val="08A6D6"/>
            </a:solidFill>
            <a:prstDash val="solid"/>
          </a:ln>
        </p:spPr>
      </p:sp>
      <p:sp>
        <p:nvSpPr>
          <p:cNvPr id="11" name="Text 9"/>
          <p:cNvSpPr/>
          <p:nvPr/>
        </p:nvSpPr>
        <p:spPr>
          <a:xfrm>
            <a:off x="1060704" y="2267712"/>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12" name="Text 10"/>
          <p:cNvSpPr/>
          <p:nvPr/>
        </p:nvSpPr>
        <p:spPr>
          <a:xfrm>
            <a:off x="1755648" y="2157984"/>
            <a:ext cx="3383280" cy="228600"/>
          </a:xfrm>
          <a:prstGeom prst="rect">
            <a:avLst/>
          </a:prstGeom>
          <a:noFill/>
          <a:ln/>
        </p:spPr>
        <p:txBody>
          <a:bodyPr wrap="square" lIns="0" tIns="0" rIns="0" bIns="0" rtlCol="0" anchor="ctr">
            <a:normAutofit lnSpcReduction="10000"/>
          </a:bodyPr>
          <a:lstStyle/>
          <a:p>
            <a:pPr marL="0" indent="0" algn="l">
              <a:buNone/>
            </a:pPr>
            <a:r>
              <a:rPr lang="en-US" sz="1600" b="1" dirty="0">
                <a:solidFill>
                  <a:srgbClr val="081B33"/>
                </a:solidFill>
                <a:latin typeface="Arial" pitchFamily="34" charset="0"/>
                <a:ea typeface="Arial" pitchFamily="34" charset="-122"/>
                <a:cs typeface="Arial" pitchFamily="34" charset="-120"/>
              </a:rPr>
              <a:t>Đơn giản</a:t>
            </a:r>
            <a:endParaRPr lang="en-US" sz="1600" dirty="0"/>
          </a:p>
        </p:txBody>
      </p:sp>
      <p:sp>
        <p:nvSpPr>
          <p:cNvPr id="13" name="Text 11"/>
          <p:cNvSpPr/>
          <p:nvPr/>
        </p:nvSpPr>
        <p:spPr>
          <a:xfrm>
            <a:off x="1755648" y="2523744"/>
            <a:ext cx="3611880" cy="219456"/>
          </a:xfrm>
          <a:prstGeom prst="rect">
            <a:avLst/>
          </a:prstGeom>
          <a:noFill/>
          <a:ln/>
        </p:spPr>
        <p:txBody>
          <a:bodyPr wrap="square" lIns="0" tIns="0" rIns="0" bIns="0" rtlCol="0" anchor="ctr">
            <a:normAutofit/>
          </a:bodyPr>
          <a:lstStyle/>
          <a:p>
            <a:pPr marL="0" indent="0" algn="l">
              <a:buNone/>
            </a:pPr>
            <a:r>
              <a:rPr lang="en-US" sz="1120" dirty="0">
                <a:solidFill>
                  <a:srgbClr val="60728A"/>
                </a:solidFill>
                <a:latin typeface="Arial" pitchFamily="34" charset="0"/>
                <a:ea typeface="Arial" pitchFamily="34" charset="-122"/>
                <a:cs typeface="Arial" pitchFamily="34" charset="-120"/>
              </a:rPr>
              <a:t>Biến chiến lược lặp lại thành một recipe.</a:t>
            </a:r>
            <a:endParaRPr lang="en-US" sz="1120" dirty="0"/>
          </a:p>
        </p:txBody>
      </p:sp>
      <p:sp>
        <p:nvSpPr>
          <p:cNvPr id="14" name="Shape 12"/>
          <p:cNvSpPr/>
          <p:nvPr/>
        </p:nvSpPr>
        <p:spPr>
          <a:xfrm>
            <a:off x="6373368" y="1901952"/>
            <a:ext cx="5047488" cy="1207008"/>
          </a:xfrm>
          <a:prstGeom prst="roundRect">
            <a:avLst>
              <a:gd name="adj" fmla="val 4545"/>
            </a:avLst>
          </a:prstGeom>
          <a:solidFill>
            <a:srgbClr val="FFFFFF"/>
          </a:solidFill>
          <a:ln w="12700">
            <a:solidFill>
              <a:srgbClr val="D8E4EF"/>
            </a:solidFill>
            <a:prstDash val="solid"/>
          </a:ln>
        </p:spPr>
      </p:sp>
      <p:sp>
        <p:nvSpPr>
          <p:cNvPr id="15" name="Shape 13"/>
          <p:cNvSpPr/>
          <p:nvPr/>
        </p:nvSpPr>
        <p:spPr>
          <a:xfrm>
            <a:off x="6684264" y="2258568"/>
            <a:ext cx="475488" cy="475488"/>
          </a:xfrm>
          <a:prstGeom prst="ellipse">
            <a:avLst/>
          </a:prstGeom>
          <a:solidFill>
            <a:srgbClr val="08A6D6"/>
          </a:solidFill>
          <a:ln w="12700">
            <a:solidFill>
              <a:srgbClr val="08A6D6"/>
            </a:solidFill>
            <a:prstDash val="solid"/>
          </a:ln>
        </p:spPr>
      </p:sp>
      <p:sp>
        <p:nvSpPr>
          <p:cNvPr id="16" name="Text 14"/>
          <p:cNvSpPr/>
          <p:nvPr/>
        </p:nvSpPr>
        <p:spPr>
          <a:xfrm>
            <a:off x="6684264" y="2267712"/>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17" name="Text 15"/>
          <p:cNvSpPr/>
          <p:nvPr/>
        </p:nvSpPr>
        <p:spPr>
          <a:xfrm>
            <a:off x="7379208" y="2157984"/>
            <a:ext cx="3383280" cy="228600"/>
          </a:xfrm>
          <a:prstGeom prst="rect">
            <a:avLst/>
          </a:prstGeom>
          <a:noFill/>
          <a:ln/>
        </p:spPr>
        <p:txBody>
          <a:bodyPr wrap="square" lIns="0" tIns="0" rIns="0" bIns="0" rtlCol="0" anchor="ctr">
            <a:normAutofit lnSpcReduction="10000"/>
          </a:bodyPr>
          <a:lstStyle/>
          <a:p>
            <a:pPr marL="0" indent="0" algn="l">
              <a:buNone/>
            </a:pPr>
            <a:r>
              <a:rPr lang="en-US" sz="1600" b="1" dirty="0">
                <a:solidFill>
                  <a:srgbClr val="081B33"/>
                </a:solidFill>
                <a:latin typeface="Arial" pitchFamily="34" charset="0"/>
                <a:ea typeface="Arial" pitchFamily="34" charset="-122"/>
                <a:cs typeface="Arial" pitchFamily="34" charset="-120"/>
              </a:rPr>
              <a:t>Tiết kiệm thời gian</a:t>
            </a:r>
            <a:endParaRPr lang="en-US" sz="1600" dirty="0"/>
          </a:p>
        </p:txBody>
      </p:sp>
      <p:sp>
        <p:nvSpPr>
          <p:cNvPr id="18" name="Text 16"/>
          <p:cNvSpPr/>
          <p:nvPr/>
        </p:nvSpPr>
        <p:spPr>
          <a:xfrm>
            <a:off x="7379208" y="2523744"/>
            <a:ext cx="3611880" cy="219456"/>
          </a:xfrm>
          <a:prstGeom prst="rect">
            <a:avLst/>
          </a:prstGeom>
          <a:noFill/>
          <a:ln/>
        </p:spPr>
        <p:txBody>
          <a:bodyPr wrap="square" lIns="0" tIns="0" rIns="0" bIns="0" rtlCol="0" anchor="ctr">
            <a:normAutofit/>
          </a:bodyPr>
          <a:lstStyle/>
          <a:p>
            <a:pPr marL="0" indent="0" algn="l">
              <a:buNone/>
            </a:pPr>
            <a:r>
              <a:rPr lang="en-US" sz="1120" dirty="0">
                <a:solidFill>
                  <a:srgbClr val="60728A"/>
                </a:solidFill>
                <a:latin typeface="Arial" pitchFamily="34" charset="0"/>
                <a:ea typeface="Arial" pitchFamily="34" charset="-122"/>
                <a:cs typeface="Arial" pitchFamily="34" charset="-120"/>
              </a:rPr>
              <a:t>Không cần canh lịch để thực hiện từng lệnh.</a:t>
            </a:r>
            <a:endParaRPr lang="en-US" sz="1120" dirty="0"/>
          </a:p>
        </p:txBody>
      </p:sp>
      <p:sp>
        <p:nvSpPr>
          <p:cNvPr id="19" name="Shape 17"/>
          <p:cNvSpPr/>
          <p:nvPr/>
        </p:nvSpPr>
        <p:spPr>
          <a:xfrm>
            <a:off x="749808" y="3529584"/>
            <a:ext cx="5047488" cy="1207008"/>
          </a:xfrm>
          <a:prstGeom prst="roundRect">
            <a:avLst>
              <a:gd name="adj" fmla="val 4545"/>
            </a:avLst>
          </a:prstGeom>
          <a:solidFill>
            <a:srgbClr val="FFFFFF"/>
          </a:solidFill>
          <a:ln w="12700">
            <a:solidFill>
              <a:srgbClr val="D8E4EF"/>
            </a:solidFill>
            <a:prstDash val="solid"/>
          </a:ln>
        </p:spPr>
      </p:sp>
      <p:sp>
        <p:nvSpPr>
          <p:cNvPr id="20" name="Shape 18"/>
          <p:cNvSpPr/>
          <p:nvPr/>
        </p:nvSpPr>
        <p:spPr>
          <a:xfrm>
            <a:off x="1060704" y="3886200"/>
            <a:ext cx="475488" cy="475488"/>
          </a:xfrm>
          <a:prstGeom prst="ellipse">
            <a:avLst/>
          </a:prstGeom>
          <a:solidFill>
            <a:srgbClr val="08A6D6"/>
          </a:solidFill>
          <a:ln w="12700">
            <a:solidFill>
              <a:srgbClr val="08A6D6"/>
            </a:solidFill>
            <a:prstDash val="solid"/>
          </a:ln>
        </p:spPr>
      </p:sp>
      <p:sp>
        <p:nvSpPr>
          <p:cNvPr id="21" name="Text 19"/>
          <p:cNvSpPr/>
          <p:nvPr/>
        </p:nvSpPr>
        <p:spPr>
          <a:xfrm>
            <a:off x="1060704" y="3895344"/>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22" name="Text 20"/>
          <p:cNvSpPr/>
          <p:nvPr/>
        </p:nvSpPr>
        <p:spPr>
          <a:xfrm>
            <a:off x="1755648" y="3785616"/>
            <a:ext cx="3383280" cy="228600"/>
          </a:xfrm>
          <a:prstGeom prst="rect">
            <a:avLst/>
          </a:prstGeom>
          <a:noFill/>
          <a:ln/>
        </p:spPr>
        <p:txBody>
          <a:bodyPr wrap="square" lIns="0" tIns="0" rIns="0" bIns="0" rtlCol="0" anchor="ctr">
            <a:normAutofit lnSpcReduction="10000"/>
          </a:bodyPr>
          <a:lstStyle/>
          <a:p>
            <a:pPr marL="0" indent="0" algn="l">
              <a:buNone/>
            </a:pPr>
            <a:r>
              <a:rPr lang="en-US" sz="1600" b="1" dirty="0">
                <a:solidFill>
                  <a:srgbClr val="081B33"/>
                </a:solidFill>
                <a:latin typeface="Arial" pitchFamily="34" charset="0"/>
                <a:ea typeface="Arial" pitchFamily="34" charset="-122"/>
                <a:cs typeface="Arial" pitchFamily="34" charset="-120"/>
              </a:rPr>
              <a:t>Kiểm soát tốt hơn</a:t>
            </a:r>
            <a:endParaRPr lang="en-US" sz="1600" dirty="0"/>
          </a:p>
        </p:txBody>
      </p:sp>
      <p:sp>
        <p:nvSpPr>
          <p:cNvPr id="23" name="Text 21"/>
          <p:cNvSpPr/>
          <p:nvPr/>
        </p:nvSpPr>
        <p:spPr>
          <a:xfrm>
            <a:off x="1755648" y="4151376"/>
            <a:ext cx="3611880" cy="219456"/>
          </a:xfrm>
          <a:prstGeom prst="rect">
            <a:avLst/>
          </a:prstGeom>
          <a:noFill/>
          <a:ln/>
        </p:spPr>
        <p:txBody>
          <a:bodyPr wrap="square" lIns="0" tIns="0" rIns="0" bIns="0" rtlCol="0" anchor="ctr">
            <a:normAutofit/>
          </a:bodyPr>
          <a:lstStyle/>
          <a:p>
            <a:pPr marL="0" indent="0" algn="l">
              <a:buNone/>
            </a:pPr>
            <a:r>
              <a:rPr lang="en-US" sz="1120" dirty="0">
                <a:solidFill>
                  <a:srgbClr val="60728A"/>
                </a:solidFill>
                <a:latin typeface="Arial" pitchFamily="34" charset="0"/>
                <a:ea typeface="Arial" pitchFamily="34" charset="-122"/>
                <a:cs typeface="Arial" pitchFamily="34" charset="-120"/>
              </a:rPr>
              <a:t>Đặt hạn mức, slippage và quyền có thời hạn.</a:t>
            </a:r>
            <a:endParaRPr lang="en-US" sz="1120" dirty="0"/>
          </a:p>
        </p:txBody>
      </p:sp>
      <p:sp>
        <p:nvSpPr>
          <p:cNvPr id="24" name="Shape 22"/>
          <p:cNvSpPr/>
          <p:nvPr/>
        </p:nvSpPr>
        <p:spPr>
          <a:xfrm>
            <a:off x="6373368" y="3529584"/>
            <a:ext cx="5047488" cy="1207008"/>
          </a:xfrm>
          <a:prstGeom prst="roundRect">
            <a:avLst>
              <a:gd name="adj" fmla="val 4545"/>
            </a:avLst>
          </a:prstGeom>
          <a:solidFill>
            <a:srgbClr val="FFFFFF"/>
          </a:solidFill>
          <a:ln w="12700">
            <a:solidFill>
              <a:srgbClr val="D8E4EF"/>
            </a:solidFill>
            <a:prstDash val="solid"/>
          </a:ln>
        </p:spPr>
      </p:sp>
      <p:sp>
        <p:nvSpPr>
          <p:cNvPr id="25" name="Shape 23"/>
          <p:cNvSpPr/>
          <p:nvPr/>
        </p:nvSpPr>
        <p:spPr>
          <a:xfrm>
            <a:off x="6684264" y="3886200"/>
            <a:ext cx="475488" cy="475488"/>
          </a:xfrm>
          <a:prstGeom prst="ellipse">
            <a:avLst/>
          </a:prstGeom>
          <a:solidFill>
            <a:srgbClr val="F5B82E"/>
          </a:solidFill>
          <a:ln w="12700">
            <a:solidFill>
              <a:srgbClr val="F5B82E"/>
            </a:solidFill>
            <a:prstDash val="solid"/>
          </a:ln>
        </p:spPr>
      </p:sp>
      <p:sp>
        <p:nvSpPr>
          <p:cNvPr id="26" name="Text 24"/>
          <p:cNvSpPr/>
          <p:nvPr/>
        </p:nvSpPr>
        <p:spPr>
          <a:xfrm>
            <a:off x="6684264" y="3895344"/>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27" name="Text 25"/>
          <p:cNvSpPr/>
          <p:nvPr/>
        </p:nvSpPr>
        <p:spPr>
          <a:xfrm>
            <a:off x="7379208" y="3785616"/>
            <a:ext cx="3383280" cy="228600"/>
          </a:xfrm>
          <a:prstGeom prst="rect">
            <a:avLst/>
          </a:prstGeom>
          <a:noFill/>
          <a:ln/>
        </p:spPr>
        <p:txBody>
          <a:bodyPr wrap="square" lIns="0" tIns="0" rIns="0" bIns="0" rtlCol="0" anchor="ctr">
            <a:normAutofit lnSpcReduction="10000"/>
          </a:bodyPr>
          <a:lstStyle/>
          <a:p>
            <a:pPr marL="0" indent="0" algn="l">
              <a:buNone/>
            </a:pPr>
            <a:r>
              <a:rPr lang="en-US" sz="1600" b="1" dirty="0">
                <a:solidFill>
                  <a:srgbClr val="081B33"/>
                </a:solidFill>
                <a:latin typeface="Arial" pitchFamily="34" charset="0"/>
                <a:ea typeface="Arial" pitchFamily="34" charset="-122"/>
                <a:cs typeface="Arial" pitchFamily="34" charset="-120"/>
              </a:rPr>
              <a:t>Tối ưu cho Arc</a:t>
            </a:r>
            <a:endParaRPr lang="en-US" sz="1600" dirty="0"/>
          </a:p>
        </p:txBody>
      </p:sp>
      <p:sp>
        <p:nvSpPr>
          <p:cNvPr id="28" name="Text 26"/>
          <p:cNvSpPr/>
          <p:nvPr/>
        </p:nvSpPr>
        <p:spPr>
          <a:xfrm>
            <a:off x="7379208" y="4151376"/>
            <a:ext cx="3611880" cy="219456"/>
          </a:xfrm>
          <a:prstGeom prst="rect">
            <a:avLst/>
          </a:prstGeom>
          <a:noFill/>
          <a:ln/>
        </p:spPr>
        <p:txBody>
          <a:bodyPr wrap="square" lIns="0" tIns="0" rIns="0" bIns="0" rtlCol="0" anchor="ctr">
            <a:normAutofit/>
          </a:bodyPr>
          <a:lstStyle/>
          <a:p>
            <a:pPr marL="0" indent="0" algn="l">
              <a:buNone/>
            </a:pPr>
            <a:r>
              <a:rPr lang="en-US" sz="1120" dirty="0">
                <a:solidFill>
                  <a:srgbClr val="60728A"/>
                </a:solidFill>
                <a:latin typeface="Arial" pitchFamily="34" charset="0"/>
                <a:ea typeface="Arial" pitchFamily="34" charset="-122"/>
                <a:cs typeface="Arial" pitchFamily="34" charset="-120"/>
              </a:rPr>
              <a:t>Finality nhanh, phí ổn định bằng USDC.</a:t>
            </a:r>
            <a:endParaRPr lang="en-US" sz="11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8A6D6"/>
          </a:solidFill>
          <a:ln w="12700">
            <a:solidFill>
              <a:srgbClr val="08A6D6"/>
            </a:solidFill>
            <a:prstDash val="solid"/>
          </a:ln>
        </p:spPr>
      </p:sp>
      <p:sp>
        <p:nvSpPr>
          <p:cNvPr id="3" name="Shape 1"/>
          <p:cNvSpPr/>
          <p:nvPr/>
        </p:nvSpPr>
        <p:spPr>
          <a:xfrm>
            <a:off x="0" y="6574536"/>
            <a:ext cx="12191695" cy="283464"/>
          </a:xfrm>
          <a:prstGeom prst="rect">
            <a:avLst/>
          </a:prstGeom>
          <a:solidFill>
            <a:srgbClr val="081B33"/>
          </a:solidFill>
          <a:ln w="12700">
            <a:solidFill>
              <a:srgbClr val="081B33"/>
            </a:solidFill>
            <a:prstDash val="solid"/>
          </a:ln>
        </p:spPr>
      </p:sp>
      <p:sp>
        <p:nvSpPr>
          <p:cNvPr id="4" name="Text 2"/>
          <p:cNvSpPr/>
          <p:nvPr/>
        </p:nvSpPr>
        <p:spPr>
          <a:xfrm>
            <a:off x="502920" y="6629400"/>
            <a:ext cx="2377440" cy="128016"/>
          </a:xfrm>
          <a:prstGeom prst="rect">
            <a:avLst/>
          </a:prstGeom>
          <a:noFill/>
          <a:ln/>
        </p:spPr>
        <p:txBody>
          <a:bodyPr wrap="square" lIns="0" tIns="0" rIns="0" bIns="0" rtlCol="0" anchor="ctr">
            <a:normAutofit/>
          </a:bodyPr>
          <a:lstStyle/>
          <a:p>
            <a:pPr marL="0" indent="0" algn="l">
              <a:buNone/>
            </a:pPr>
            <a:r>
              <a:rPr lang="en-US" sz="750" b="1" dirty="0">
                <a:solidFill>
                  <a:srgbClr val="B6D4E8"/>
                </a:solidFill>
                <a:latin typeface="Arial" pitchFamily="34" charset="0"/>
                <a:ea typeface="Arial" pitchFamily="34" charset="-122"/>
                <a:cs typeface="Arial" pitchFamily="34" charset="-120"/>
              </a:rPr>
              <a:t>DEFI RECIPES ON ARC</a:t>
            </a:r>
            <a:endParaRPr lang="en-US" sz="750" dirty="0"/>
          </a:p>
        </p:txBody>
      </p:sp>
      <p:sp>
        <p:nvSpPr>
          <p:cNvPr id="5" name="Text 3"/>
          <p:cNvSpPr/>
          <p:nvPr/>
        </p:nvSpPr>
        <p:spPr>
          <a:xfrm>
            <a:off x="11173968" y="6611112"/>
            <a:ext cx="502920" cy="146304"/>
          </a:xfrm>
          <a:prstGeom prst="rect">
            <a:avLst/>
          </a:prstGeom>
          <a:noFill/>
          <a:ln/>
        </p:spPr>
        <p:txBody>
          <a:bodyPr wrap="square" lIns="0" tIns="0" rIns="0" bIns="0" rtlCol="0" anchor="ctr">
            <a:normAutofit/>
          </a:bodyPr>
          <a:lstStyle/>
          <a:p>
            <a:pPr marL="0" indent="0" algn="r">
              <a:buNone/>
            </a:pPr>
            <a:r>
              <a:rPr lang="en-US" sz="800" b="1" dirty="0">
                <a:solidFill>
                  <a:srgbClr val="FFFFFF"/>
                </a:solidFill>
                <a:latin typeface="Arial" pitchFamily="34" charset="0"/>
                <a:ea typeface="Arial" pitchFamily="34" charset="-122"/>
                <a:cs typeface="Arial" pitchFamily="34" charset="-120"/>
              </a:rPr>
              <a:t>05</a:t>
            </a:r>
            <a:endParaRPr lang="en-US" sz="800" dirty="0"/>
          </a:p>
        </p:txBody>
      </p:sp>
      <p:sp>
        <p:nvSpPr>
          <p:cNvPr id="6" name="Text 4"/>
          <p:cNvSpPr/>
          <p:nvPr/>
        </p:nvSpPr>
        <p:spPr>
          <a:xfrm>
            <a:off x="594360" y="438912"/>
            <a:ext cx="411480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8A6D6"/>
                </a:solidFill>
                <a:latin typeface="Arial" pitchFamily="34" charset="0"/>
                <a:ea typeface="Arial" pitchFamily="34" charset="-122"/>
                <a:cs typeface="Arial" pitchFamily="34" charset="-120"/>
              </a:rPr>
              <a:t>CHỨC NĂNG</a:t>
            </a:r>
            <a:endParaRPr lang="en-US" sz="900" dirty="0"/>
          </a:p>
        </p:txBody>
      </p:sp>
      <p:sp>
        <p:nvSpPr>
          <p:cNvPr id="7" name="Text 5"/>
          <p:cNvSpPr/>
          <p:nvPr/>
        </p:nvSpPr>
        <p:spPr>
          <a:xfrm>
            <a:off x="594360" y="713232"/>
            <a:ext cx="10789920" cy="530352"/>
          </a:xfrm>
          <a:prstGeom prst="rect">
            <a:avLst/>
          </a:prstGeom>
          <a:noFill/>
          <a:ln/>
        </p:spPr>
        <p:txBody>
          <a:bodyPr wrap="square" lIns="0" tIns="0" rIns="0" bIns="0" rtlCol="0" anchor="ctr">
            <a:normAutofit/>
          </a:bodyPr>
          <a:lstStyle/>
          <a:p>
            <a:pPr marL="0" indent="0" algn="l">
              <a:buNone/>
            </a:pPr>
            <a:r>
              <a:rPr lang="en-US" sz="2800" b="1" dirty="0">
                <a:solidFill>
                  <a:srgbClr val="081B33"/>
                </a:solidFill>
                <a:latin typeface="Arial" pitchFamily="34" charset="0"/>
                <a:ea typeface="Arial" pitchFamily="34" charset="-122"/>
                <a:cs typeface="Arial" pitchFamily="34" charset="-120"/>
              </a:rPr>
              <a:t>Bốn thành phần cho một workflow DeFi an toàn</a:t>
            </a:r>
            <a:endParaRPr lang="en-US" sz="2800" dirty="0"/>
          </a:p>
        </p:txBody>
      </p:sp>
      <p:sp>
        <p:nvSpPr>
          <p:cNvPr id="8" name="Text 6"/>
          <p:cNvSpPr/>
          <p:nvPr/>
        </p:nvSpPr>
        <p:spPr>
          <a:xfrm>
            <a:off x="594360" y="1289304"/>
            <a:ext cx="10424160" cy="329184"/>
          </a:xfrm>
          <a:prstGeom prst="rect">
            <a:avLst/>
          </a:prstGeom>
          <a:noFill/>
          <a:ln/>
        </p:spPr>
        <p:txBody>
          <a:bodyPr wrap="square" lIns="0" tIns="0" rIns="0" bIns="0" rtlCol="0" anchor="ctr">
            <a:normAutofit/>
          </a:bodyPr>
          <a:lstStyle/>
          <a:p>
            <a:pPr marL="0" indent="0" algn="l">
              <a:buNone/>
            </a:pPr>
            <a:r>
              <a:rPr lang="en-US" sz="1250" dirty="0">
                <a:solidFill>
                  <a:srgbClr val="60728A"/>
                </a:solidFill>
                <a:latin typeface="Arial" pitchFamily="34" charset="0"/>
                <a:ea typeface="Arial" pitchFamily="34" charset="-122"/>
                <a:cs typeface="Arial" pitchFamily="34" charset="-120"/>
              </a:rPr>
              <a:t>Thiết kế để bạn hiểu điều gì được phép xảy ra trước khi kích hoạt.</a:t>
            </a:r>
            <a:endParaRPr lang="en-US" sz="1250" dirty="0"/>
          </a:p>
        </p:txBody>
      </p:sp>
      <p:sp>
        <p:nvSpPr>
          <p:cNvPr id="9" name="Shape 7"/>
          <p:cNvSpPr/>
          <p:nvPr/>
        </p:nvSpPr>
        <p:spPr>
          <a:xfrm>
            <a:off x="658368" y="2011680"/>
            <a:ext cx="2487168" cy="2414016"/>
          </a:xfrm>
          <a:prstGeom prst="roundRect">
            <a:avLst>
              <a:gd name="adj" fmla="val 2652"/>
            </a:avLst>
          </a:prstGeom>
          <a:solidFill>
            <a:srgbClr val="FFFFFF"/>
          </a:solidFill>
          <a:ln w="12700">
            <a:solidFill>
              <a:srgbClr val="D8E4EF"/>
            </a:solidFill>
            <a:prstDash val="solid"/>
          </a:ln>
        </p:spPr>
      </p:sp>
      <p:sp>
        <p:nvSpPr>
          <p:cNvPr id="10" name="Shape 8"/>
          <p:cNvSpPr/>
          <p:nvPr/>
        </p:nvSpPr>
        <p:spPr>
          <a:xfrm>
            <a:off x="905256" y="2304288"/>
            <a:ext cx="768096" cy="393192"/>
          </a:xfrm>
          <a:prstGeom prst="roundRect">
            <a:avLst>
              <a:gd name="adj" fmla="val 11628"/>
            </a:avLst>
          </a:prstGeom>
          <a:solidFill>
            <a:srgbClr val="DDF6FC"/>
          </a:solidFill>
          <a:ln w="12700">
            <a:solidFill>
              <a:srgbClr val="DDF6FC"/>
            </a:solidFill>
            <a:prstDash val="solid"/>
          </a:ln>
        </p:spPr>
      </p:sp>
      <p:sp>
        <p:nvSpPr>
          <p:cNvPr id="11" name="Text 9"/>
          <p:cNvSpPr/>
          <p:nvPr/>
        </p:nvSpPr>
        <p:spPr>
          <a:xfrm>
            <a:off x="905256" y="2395728"/>
            <a:ext cx="768096" cy="146304"/>
          </a:xfrm>
          <a:prstGeom prst="rect">
            <a:avLst/>
          </a:prstGeom>
          <a:noFill/>
          <a:ln/>
        </p:spPr>
        <p:txBody>
          <a:bodyPr wrap="square" lIns="0" tIns="0" rIns="0" bIns="0" rtlCol="0" anchor="ctr">
            <a:normAutofit/>
          </a:bodyPr>
          <a:lstStyle/>
          <a:p>
            <a:pPr marL="0" indent="0" algn="ctr">
              <a:buNone/>
            </a:pPr>
            <a:r>
              <a:rPr lang="en-US" sz="850" b="1" dirty="0">
                <a:solidFill>
                  <a:srgbClr val="08A6D6"/>
                </a:solidFill>
                <a:latin typeface="Arial" pitchFamily="34" charset="0"/>
                <a:ea typeface="Arial" pitchFamily="34" charset="-122"/>
                <a:cs typeface="Arial" pitchFamily="34" charset="-120"/>
              </a:rPr>
              <a:t>DCA</a:t>
            </a:r>
            <a:endParaRPr lang="en-US" sz="850" dirty="0"/>
          </a:p>
        </p:txBody>
      </p:sp>
      <p:sp>
        <p:nvSpPr>
          <p:cNvPr id="12" name="Text 10"/>
          <p:cNvSpPr/>
          <p:nvPr/>
        </p:nvSpPr>
        <p:spPr>
          <a:xfrm>
            <a:off x="905256" y="3017520"/>
            <a:ext cx="1947672" cy="438912"/>
          </a:xfrm>
          <a:prstGeom prst="rect">
            <a:avLst/>
          </a:prstGeom>
          <a:noFill/>
          <a:ln/>
        </p:spPr>
        <p:txBody>
          <a:bodyPr wrap="square" lIns="0" tIns="0" rIns="0" bIns="0" rtlCol="0" anchor="ctr">
            <a:normAutofit/>
          </a:bodyPr>
          <a:lstStyle/>
          <a:p>
            <a:pPr marL="0" indent="0" algn="l">
              <a:buNone/>
            </a:pPr>
            <a:r>
              <a:rPr lang="en-US" sz="1500" b="1" dirty="0">
                <a:solidFill>
                  <a:srgbClr val="081B33"/>
                </a:solidFill>
                <a:latin typeface="Arial" pitchFamily="34" charset="0"/>
                <a:ea typeface="Arial" pitchFamily="34" charset="-122"/>
                <a:cs typeface="Arial" pitchFamily="34" charset="-120"/>
              </a:rPr>
              <a:t>DCA automation</a:t>
            </a:r>
            <a:endParaRPr lang="en-US" sz="1500" dirty="0"/>
          </a:p>
        </p:txBody>
      </p:sp>
      <p:sp>
        <p:nvSpPr>
          <p:cNvPr id="13" name="Text 11"/>
          <p:cNvSpPr/>
          <p:nvPr/>
        </p:nvSpPr>
        <p:spPr>
          <a:xfrm>
            <a:off x="905256" y="3675888"/>
            <a:ext cx="1947672" cy="365760"/>
          </a:xfrm>
          <a:prstGeom prst="rect">
            <a:avLst/>
          </a:prstGeom>
          <a:noFill/>
          <a:ln/>
        </p:spPr>
        <p:txBody>
          <a:bodyPr wrap="square" lIns="0" tIns="0" rIns="0" bIns="0" rtlCol="0" anchor="t">
            <a:normAutofit/>
          </a:bodyPr>
          <a:lstStyle/>
          <a:p>
            <a:pPr marL="0" indent="0" algn="l">
              <a:buNone/>
            </a:pPr>
            <a:r>
              <a:rPr lang="en-US" sz="1080" dirty="0">
                <a:solidFill>
                  <a:srgbClr val="60728A"/>
                </a:solidFill>
                <a:latin typeface="Arial" pitchFamily="34" charset="0"/>
                <a:ea typeface="Arial" pitchFamily="34" charset="-122"/>
                <a:cs typeface="Arial" pitchFamily="34" charset="-120"/>
              </a:rPr>
              <a:t>Lập lịch mua định kỳ USDC → EURC.</a:t>
            </a:r>
            <a:endParaRPr lang="en-US" sz="1080" dirty="0"/>
          </a:p>
        </p:txBody>
      </p:sp>
      <p:sp>
        <p:nvSpPr>
          <p:cNvPr id="14" name="Shape 12"/>
          <p:cNvSpPr/>
          <p:nvPr/>
        </p:nvSpPr>
        <p:spPr>
          <a:xfrm>
            <a:off x="3538728" y="2011680"/>
            <a:ext cx="2487168" cy="2414016"/>
          </a:xfrm>
          <a:prstGeom prst="roundRect">
            <a:avLst>
              <a:gd name="adj" fmla="val 2652"/>
            </a:avLst>
          </a:prstGeom>
          <a:solidFill>
            <a:srgbClr val="FFFFFF"/>
          </a:solidFill>
          <a:ln w="12700">
            <a:solidFill>
              <a:srgbClr val="D8E4EF"/>
            </a:solidFill>
            <a:prstDash val="solid"/>
          </a:ln>
        </p:spPr>
      </p:sp>
      <p:sp>
        <p:nvSpPr>
          <p:cNvPr id="15" name="Shape 13"/>
          <p:cNvSpPr/>
          <p:nvPr/>
        </p:nvSpPr>
        <p:spPr>
          <a:xfrm>
            <a:off x="3785616" y="2304288"/>
            <a:ext cx="768096" cy="393192"/>
          </a:xfrm>
          <a:prstGeom prst="roundRect">
            <a:avLst>
              <a:gd name="adj" fmla="val 11628"/>
            </a:avLst>
          </a:prstGeom>
          <a:solidFill>
            <a:srgbClr val="DDF6FC"/>
          </a:solidFill>
          <a:ln w="12700">
            <a:solidFill>
              <a:srgbClr val="DDF6FC"/>
            </a:solidFill>
            <a:prstDash val="solid"/>
          </a:ln>
        </p:spPr>
      </p:sp>
      <p:sp>
        <p:nvSpPr>
          <p:cNvPr id="16" name="Text 14"/>
          <p:cNvSpPr/>
          <p:nvPr/>
        </p:nvSpPr>
        <p:spPr>
          <a:xfrm>
            <a:off x="3785616" y="2395728"/>
            <a:ext cx="768096" cy="146304"/>
          </a:xfrm>
          <a:prstGeom prst="rect">
            <a:avLst/>
          </a:prstGeom>
          <a:noFill/>
          <a:ln/>
        </p:spPr>
        <p:txBody>
          <a:bodyPr wrap="square" lIns="0" tIns="0" rIns="0" bIns="0" rtlCol="0" anchor="ctr">
            <a:normAutofit/>
          </a:bodyPr>
          <a:lstStyle/>
          <a:p>
            <a:pPr marL="0" indent="0" algn="ctr">
              <a:buNone/>
            </a:pPr>
            <a:r>
              <a:rPr lang="en-US" sz="850" b="1" dirty="0">
                <a:solidFill>
                  <a:srgbClr val="08A6D6"/>
                </a:solidFill>
                <a:latin typeface="Arial" pitchFamily="34" charset="0"/>
                <a:ea typeface="Arial" pitchFamily="34" charset="-122"/>
                <a:cs typeface="Arial" pitchFamily="34" charset="-120"/>
              </a:rPr>
              <a:t>KEY</a:t>
            </a:r>
            <a:endParaRPr lang="en-US" sz="850" dirty="0"/>
          </a:p>
        </p:txBody>
      </p:sp>
      <p:sp>
        <p:nvSpPr>
          <p:cNvPr id="17" name="Text 15"/>
          <p:cNvSpPr/>
          <p:nvPr/>
        </p:nvSpPr>
        <p:spPr>
          <a:xfrm>
            <a:off x="3785616" y="3017520"/>
            <a:ext cx="1947672" cy="438912"/>
          </a:xfrm>
          <a:prstGeom prst="rect">
            <a:avLst/>
          </a:prstGeom>
          <a:noFill/>
          <a:ln/>
        </p:spPr>
        <p:txBody>
          <a:bodyPr wrap="square" lIns="0" tIns="0" rIns="0" bIns="0" rtlCol="0" anchor="ctr">
            <a:normAutofit/>
          </a:bodyPr>
          <a:lstStyle/>
          <a:p>
            <a:pPr marL="0" indent="0" algn="l">
              <a:buNone/>
            </a:pPr>
            <a:r>
              <a:rPr lang="en-US" sz="1500" b="1" dirty="0">
                <a:solidFill>
                  <a:srgbClr val="081B33"/>
                </a:solidFill>
                <a:latin typeface="Arial" pitchFamily="34" charset="0"/>
                <a:ea typeface="Arial" pitchFamily="34" charset="-122"/>
                <a:cs typeface="Arial" pitchFamily="34" charset="-120"/>
              </a:rPr>
              <a:t>Session keys</a:t>
            </a:r>
            <a:endParaRPr lang="en-US" sz="1500" dirty="0"/>
          </a:p>
        </p:txBody>
      </p:sp>
      <p:sp>
        <p:nvSpPr>
          <p:cNvPr id="18" name="Text 16"/>
          <p:cNvSpPr/>
          <p:nvPr/>
        </p:nvSpPr>
        <p:spPr>
          <a:xfrm>
            <a:off x="3785616" y="3675888"/>
            <a:ext cx="1947672" cy="365760"/>
          </a:xfrm>
          <a:prstGeom prst="rect">
            <a:avLst/>
          </a:prstGeom>
          <a:noFill/>
          <a:ln/>
        </p:spPr>
        <p:txBody>
          <a:bodyPr wrap="square" lIns="0" tIns="0" rIns="0" bIns="0" rtlCol="0" anchor="t">
            <a:normAutofit/>
          </a:bodyPr>
          <a:lstStyle/>
          <a:p>
            <a:pPr marL="0" indent="0" algn="l">
              <a:buNone/>
            </a:pPr>
            <a:r>
              <a:rPr lang="en-US" sz="1080" dirty="0">
                <a:solidFill>
                  <a:srgbClr val="60728A"/>
                </a:solidFill>
                <a:latin typeface="Arial" pitchFamily="34" charset="0"/>
                <a:ea typeface="Arial" pitchFamily="34" charset="-122"/>
                <a:cs typeface="Arial" pitchFamily="34" charset="-120"/>
              </a:rPr>
              <a:t>Uỷ quyền có phạm vi và thời hạn rõ ràng.</a:t>
            </a:r>
            <a:endParaRPr lang="en-US" sz="1080" dirty="0"/>
          </a:p>
        </p:txBody>
      </p:sp>
      <p:sp>
        <p:nvSpPr>
          <p:cNvPr id="19" name="Shape 17"/>
          <p:cNvSpPr/>
          <p:nvPr/>
        </p:nvSpPr>
        <p:spPr>
          <a:xfrm>
            <a:off x="6419088" y="2011680"/>
            <a:ext cx="2487168" cy="2414016"/>
          </a:xfrm>
          <a:prstGeom prst="roundRect">
            <a:avLst>
              <a:gd name="adj" fmla="val 2652"/>
            </a:avLst>
          </a:prstGeom>
          <a:solidFill>
            <a:srgbClr val="FFFFFF"/>
          </a:solidFill>
          <a:ln w="12700">
            <a:solidFill>
              <a:srgbClr val="D8E4EF"/>
            </a:solidFill>
            <a:prstDash val="solid"/>
          </a:ln>
        </p:spPr>
      </p:sp>
      <p:sp>
        <p:nvSpPr>
          <p:cNvPr id="20" name="Shape 18"/>
          <p:cNvSpPr/>
          <p:nvPr/>
        </p:nvSpPr>
        <p:spPr>
          <a:xfrm>
            <a:off x="6665976" y="2304288"/>
            <a:ext cx="768096" cy="393192"/>
          </a:xfrm>
          <a:prstGeom prst="roundRect">
            <a:avLst>
              <a:gd name="adj" fmla="val 11628"/>
            </a:avLst>
          </a:prstGeom>
          <a:solidFill>
            <a:srgbClr val="FCE9EE"/>
          </a:solidFill>
          <a:ln w="12700">
            <a:solidFill>
              <a:srgbClr val="FCE9EE"/>
            </a:solidFill>
            <a:prstDash val="solid"/>
          </a:ln>
        </p:spPr>
      </p:sp>
      <p:sp>
        <p:nvSpPr>
          <p:cNvPr id="21" name="Text 19"/>
          <p:cNvSpPr/>
          <p:nvPr/>
        </p:nvSpPr>
        <p:spPr>
          <a:xfrm>
            <a:off x="6665976" y="2395728"/>
            <a:ext cx="768096" cy="146304"/>
          </a:xfrm>
          <a:prstGeom prst="rect">
            <a:avLst/>
          </a:prstGeom>
          <a:noFill/>
          <a:ln/>
        </p:spPr>
        <p:txBody>
          <a:bodyPr wrap="square" lIns="0" tIns="0" rIns="0" bIns="0" rtlCol="0" anchor="ctr">
            <a:normAutofit/>
          </a:bodyPr>
          <a:lstStyle/>
          <a:p>
            <a:pPr marL="0" indent="0" algn="ctr">
              <a:buNone/>
            </a:pPr>
            <a:r>
              <a:rPr lang="en-US" sz="850" b="1" dirty="0">
                <a:solidFill>
                  <a:srgbClr val="D94C6A"/>
                </a:solidFill>
                <a:latin typeface="Arial" pitchFamily="34" charset="0"/>
                <a:ea typeface="Arial" pitchFamily="34" charset="-122"/>
                <a:cs typeface="Arial" pitchFamily="34" charset="-120"/>
              </a:rPr>
              <a:t>SAFE</a:t>
            </a:r>
            <a:endParaRPr lang="en-US" sz="850" dirty="0"/>
          </a:p>
        </p:txBody>
      </p:sp>
      <p:sp>
        <p:nvSpPr>
          <p:cNvPr id="22" name="Text 20"/>
          <p:cNvSpPr/>
          <p:nvPr/>
        </p:nvSpPr>
        <p:spPr>
          <a:xfrm>
            <a:off x="6665976" y="3017520"/>
            <a:ext cx="1947672" cy="438912"/>
          </a:xfrm>
          <a:prstGeom prst="rect">
            <a:avLst/>
          </a:prstGeom>
          <a:noFill/>
          <a:ln/>
        </p:spPr>
        <p:txBody>
          <a:bodyPr wrap="square" lIns="0" tIns="0" rIns="0" bIns="0" rtlCol="0" anchor="ctr">
            <a:normAutofit lnSpcReduction="10000"/>
          </a:bodyPr>
          <a:lstStyle/>
          <a:p>
            <a:pPr marL="0" indent="0" algn="l">
              <a:buNone/>
            </a:pPr>
            <a:r>
              <a:rPr lang="en-US" sz="1500" b="1" dirty="0">
                <a:solidFill>
                  <a:srgbClr val="081B33"/>
                </a:solidFill>
                <a:latin typeface="Arial" pitchFamily="34" charset="0"/>
                <a:ea typeface="Arial" pitchFamily="34" charset="-122"/>
                <a:cs typeface="Arial" pitchFamily="34" charset="-120"/>
              </a:rPr>
              <a:t>Transaction guardrails</a:t>
            </a:r>
            <a:endParaRPr lang="en-US" sz="1500" dirty="0"/>
          </a:p>
        </p:txBody>
      </p:sp>
      <p:sp>
        <p:nvSpPr>
          <p:cNvPr id="23" name="Text 21"/>
          <p:cNvSpPr/>
          <p:nvPr/>
        </p:nvSpPr>
        <p:spPr>
          <a:xfrm>
            <a:off x="6665976" y="3675888"/>
            <a:ext cx="1947672" cy="365760"/>
          </a:xfrm>
          <a:prstGeom prst="rect">
            <a:avLst/>
          </a:prstGeom>
          <a:noFill/>
          <a:ln/>
        </p:spPr>
        <p:txBody>
          <a:bodyPr wrap="square" lIns="0" tIns="0" rIns="0" bIns="0" rtlCol="0" anchor="t">
            <a:normAutofit/>
          </a:bodyPr>
          <a:lstStyle/>
          <a:p>
            <a:pPr marL="0" indent="0" algn="l">
              <a:buNone/>
            </a:pPr>
            <a:r>
              <a:rPr lang="en-US" sz="1080" dirty="0">
                <a:solidFill>
                  <a:srgbClr val="60728A"/>
                </a:solidFill>
                <a:latin typeface="Arial" pitchFamily="34" charset="0"/>
                <a:ea typeface="Arial" pitchFamily="34" charset="-122"/>
                <a:cs typeface="Arial" pitchFamily="34" charset="-120"/>
              </a:rPr>
              <a:t>Giới hạn số tiền, protocol và slippage.</a:t>
            </a:r>
            <a:endParaRPr lang="en-US" sz="1080" dirty="0"/>
          </a:p>
        </p:txBody>
      </p:sp>
      <p:sp>
        <p:nvSpPr>
          <p:cNvPr id="24" name="Shape 22"/>
          <p:cNvSpPr/>
          <p:nvPr/>
        </p:nvSpPr>
        <p:spPr>
          <a:xfrm>
            <a:off x="9299448" y="2011680"/>
            <a:ext cx="2487168" cy="2414016"/>
          </a:xfrm>
          <a:prstGeom prst="roundRect">
            <a:avLst>
              <a:gd name="adj" fmla="val 2652"/>
            </a:avLst>
          </a:prstGeom>
          <a:solidFill>
            <a:srgbClr val="FFFFFF"/>
          </a:solidFill>
          <a:ln w="12700">
            <a:solidFill>
              <a:srgbClr val="D8E4EF"/>
            </a:solidFill>
            <a:prstDash val="solid"/>
          </a:ln>
        </p:spPr>
      </p:sp>
      <p:sp>
        <p:nvSpPr>
          <p:cNvPr id="25" name="Shape 23"/>
          <p:cNvSpPr/>
          <p:nvPr/>
        </p:nvSpPr>
        <p:spPr>
          <a:xfrm>
            <a:off x="9546336" y="2304288"/>
            <a:ext cx="768096" cy="393192"/>
          </a:xfrm>
          <a:prstGeom prst="roundRect">
            <a:avLst>
              <a:gd name="adj" fmla="val 11628"/>
            </a:avLst>
          </a:prstGeom>
          <a:solidFill>
            <a:srgbClr val="DDF6FC"/>
          </a:solidFill>
          <a:ln w="12700">
            <a:solidFill>
              <a:srgbClr val="DDF6FC"/>
            </a:solidFill>
            <a:prstDash val="solid"/>
          </a:ln>
        </p:spPr>
      </p:sp>
      <p:sp>
        <p:nvSpPr>
          <p:cNvPr id="26" name="Text 24"/>
          <p:cNvSpPr/>
          <p:nvPr/>
        </p:nvSpPr>
        <p:spPr>
          <a:xfrm>
            <a:off x="9546336" y="2395728"/>
            <a:ext cx="768096" cy="146304"/>
          </a:xfrm>
          <a:prstGeom prst="rect">
            <a:avLst/>
          </a:prstGeom>
          <a:noFill/>
          <a:ln/>
        </p:spPr>
        <p:txBody>
          <a:bodyPr wrap="square" lIns="0" tIns="0" rIns="0" bIns="0" rtlCol="0" anchor="ctr">
            <a:normAutofit/>
          </a:bodyPr>
          <a:lstStyle/>
          <a:p>
            <a:pPr marL="0" indent="0" algn="ctr">
              <a:buNone/>
            </a:pPr>
            <a:r>
              <a:rPr lang="en-US" sz="850" b="1" dirty="0">
                <a:solidFill>
                  <a:srgbClr val="08A6D6"/>
                </a:solidFill>
                <a:latin typeface="Arial" pitchFamily="34" charset="0"/>
                <a:ea typeface="Arial" pitchFamily="34" charset="-122"/>
                <a:cs typeface="Arial" pitchFamily="34" charset="-120"/>
              </a:rPr>
              <a:t>LOG</a:t>
            </a:r>
            <a:endParaRPr lang="en-US" sz="850" dirty="0"/>
          </a:p>
        </p:txBody>
      </p:sp>
      <p:sp>
        <p:nvSpPr>
          <p:cNvPr id="27" name="Text 25"/>
          <p:cNvSpPr/>
          <p:nvPr/>
        </p:nvSpPr>
        <p:spPr>
          <a:xfrm>
            <a:off x="9546336" y="3017520"/>
            <a:ext cx="1947672" cy="438912"/>
          </a:xfrm>
          <a:prstGeom prst="rect">
            <a:avLst/>
          </a:prstGeom>
          <a:noFill/>
          <a:ln/>
        </p:spPr>
        <p:txBody>
          <a:bodyPr wrap="square" lIns="0" tIns="0" rIns="0" bIns="0" rtlCol="0" anchor="ctr">
            <a:normAutofit/>
          </a:bodyPr>
          <a:lstStyle/>
          <a:p>
            <a:pPr marL="0" indent="0" algn="l">
              <a:buNone/>
            </a:pPr>
            <a:r>
              <a:rPr lang="en-US" sz="1500" b="1" dirty="0">
                <a:solidFill>
                  <a:srgbClr val="081B33"/>
                </a:solidFill>
                <a:latin typeface="Arial" pitchFamily="34" charset="0"/>
                <a:ea typeface="Arial" pitchFamily="34" charset="-122"/>
                <a:cs typeface="Arial" pitchFamily="34" charset="-120"/>
              </a:rPr>
              <a:t>Execution tracking</a:t>
            </a:r>
            <a:endParaRPr lang="en-US" sz="1500" dirty="0"/>
          </a:p>
        </p:txBody>
      </p:sp>
      <p:sp>
        <p:nvSpPr>
          <p:cNvPr id="28" name="Text 26"/>
          <p:cNvSpPr/>
          <p:nvPr/>
        </p:nvSpPr>
        <p:spPr>
          <a:xfrm>
            <a:off x="9546336" y="3675888"/>
            <a:ext cx="1947672" cy="365760"/>
          </a:xfrm>
          <a:prstGeom prst="rect">
            <a:avLst/>
          </a:prstGeom>
          <a:noFill/>
          <a:ln/>
        </p:spPr>
        <p:txBody>
          <a:bodyPr wrap="square" lIns="0" tIns="0" rIns="0" bIns="0" rtlCol="0" anchor="t">
            <a:normAutofit/>
          </a:bodyPr>
          <a:lstStyle/>
          <a:p>
            <a:pPr marL="0" indent="0" algn="l">
              <a:buNone/>
            </a:pPr>
            <a:r>
              <a:rPr lang="en-US" sz="1080" dirty="0">
                <a:solidFill>
                  <a:srgbClr val="60728A"/>
                </a:solidFill>
                <a:latin typeface="Arial" pitchFamily="34" charset="0"/>
                <a:ea typeface="Arial" pitchFamily="34" charset="-122"/>
                <a:cs typeface="Arial" pitchFamily="34" charset="-120"/>
              </a:rPr>
              <a:t>Xem trạng thái, hash và lịch sử lần chạy.</a:t>
            </a:r>
            <a:endParaRPr lang="en-US" sz="10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8A6D6"/>
          </a:solidFill>
          <a:ln w="12700">
            <a:solidFill>
              <a:srgbClr val="08A6D6"/>
            </a:solidFill>
            <a:prstDash val="solid"/>
          </a:ln>
        </p:spPr>
      </p:sp>
      <p:sp>
        <p:nvSpPr>
          <p:cNvPr id="3" name="Shape 1"/>
          <p:cNvSpPr/>
          <p:nvPr/>
        </p:nvSpPr>
        <p:spPr>
          <a:xfrm>
            <a:off x="0" y="6574536"/>
            <a:ext cx="12191695" cy="283464"/>
          </a:xfrm>
          <a:prstGeom prst="rect">
            <a:avLst/>
          </a:prstGeom>
          <a:solidFill>
            <a:srgbClr val="081B33"/>
          </a:solidFill>
          <a:ln w="12700">
            <a:solidFill>
              <a:srgbClr val="081B33"/>
            </a:solidFill>
            <a:prstDash val="solid"/>
          </a:ln>
        </p:spPr>
      </p:sp>
      <p:sp>
        <p:nvSpPr>
          <p:cNvPr id="4" name="Text 2"/>
          <p:cNvSpPr/>
          <p:nvPr/>
        </p:nvSpPr>
        <p:spPr>
          <a:xfrm>
            <a:off x="502920" y="6629400"/>
            <a:ext cx="2377440" cy="128016"/>
          </a:xfrm>
          <a:prstGeom prst="rect">
            <a:avLst/>
          </a:prstGeom>
          <a:noFill/>
          <a:ln/>
        </p:spPr>
        <p:txBody>
          <a:bodyPr wrap="square" lIns="0" tIns="0" rIns="0" bIns="0" rtlCol="0" anchor="ctr">
            <a:normAutofit/>
          </a:bodyPr>
          <a:lstStyle/>
          <a:p>
            <a:pPr marL="0" indent="0" algn="l">
              <a:buNone/>
            </a:pPr>
            <a:r>
              <a:rPr lang="en-US" sz="750" b="1" dirty="0">
                <a:solidFill>
                  <a:srgbClr val="B6D4E8"/>
                </a:solidFill>
                <a:latin typeface="Arial" pitchFamily="34" charset="0"/>
                <a:ea typeface="Arial" pitchFamily="34" charset="-122"/>
                <a:cs typeface="Arial" pitchFamily="34" charset="-120"/>
              </a:rPr>
              <a:t>DEFI RECIPES ON ARC</a:t>
            </a:r>
            <a:endParaRPr lang="en-US" sz="750" dirty="0"/>
          </a:p>
        </p:txBody>
      </p:sp>
      <p:sp>
        <p:nvSpPr>
          <p:cNvPr id="5" name="Text 3"/>
          <p:cNvSpPr/>
          <p:nvPr/>
        </p:nvSpPr>
        <p:spPr>
          <a:xfrm>
            <a:off x="11173968" y="6611112"/>
            <a:ext cx="502920" cy="146304"/>
          </a:xfrm>
          <a:prstGeom prst="rect">
            <a:avLst/>
          </a:prstGeom>
          <a:noFill/>
          <a:ln/>
        </p:spPr>
        <p:txBody>
          <a:bodyPr wrap="square" lIns="0" tIns="0" rIns="0" bIns="0" rtlCol="0" anchor="ctr">
            <a:normAutofit/>
          </a:bodyPr>
          <a:lstStyle/>
          <a:p>
            <a:pPr marL="0" indent="0" algn="r">
              <a:buNone/>
            </a:pPr>
            <a:r>
              <a:rPr lang="en-US" sz="800" b="1" dirty="0">
                <a:solidFill>
                  <a:srgbClr val="FFFFFF"/>
                </a:solidFill>
                <a:latin typeface="Arial" pitchFamily="34" charset="0"/>
                <a:ea typeface="Arial" pitchFamily="34" charset="-122"/>
                <a:cs typeface="Arial" pitchFamily="34" charset="-120"/>
              </a:rPr>
              <a:t>06</a:t>
            </a:r>
            <a:endParaRPr lang="en-US" sz="800" dirty="0"/>
          </a:p>
        </p:txBody>
      </p:sp>
      <p:sp>
        <p:nvSpPr>
          <p:cNvPr id="6" name="Text 4"/>
          <p:cNvSpPr/>
          <p:nvPr/>
        </p:nvSpPr>
        <p:spPr>
          <a:xfrm>
            <a:off x="594360" y="438912"/>
            <a:ext cx="411480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8A6D6"/>
                </a:solidFill>
                <a:latin typeface="Arial" pitchFamily="34" charset="0"/>
                <a:ea typeface="Arial" pitchFamily="34" charset="-122"/>
                <a:cs typeface="Arial" pitchFamily="34" charset="-120"/>
              </a:rPr>
              <a:t>TRẢI NGHIỆM</a:t>
            </a:r>
            <a:endParaRPr lang="en-US" sz="900" dirty="0"/>
          </a:p>
        </p:txBody>
      </p:sp>
      <p:sp>
        <p:nvSpPr>
          <p:cNvPr id="7" name="Text 5"/>
          <p:cNvSpPr/>
          <p:nvPr/>
        </p:nvSpPr>
        <p:spPr>
          <a:xfrm>
            <a:off x="594360" y="713232"/>
            <a:ext cx="10789920" cy="530352"/>
          </a:xfrm>
          <a:prstGeom prst="rect">
            <a:avLst/>
          </a:prstGeom>
          <a:noFill/>
          <a:ln/>
        </p:spPr>
        <p:txBody>
          <a:bodyPr wrap="square" lIns="0" tIns="0" rIns="0" bIns="0" rtlCol="0" anchor="ctr">
            <a:normAutofit/>
          </a:bodyPr>
          <a:lstStyle/>
          <a:p>
            <a:pPr marL="0" indent="0" algn="l">
              <a:buNone/>
            </a:pPr>
            <a:r>
              <a:rPr lang="en-US" sz="2800" b="1" dirty="0">
                <a:solidFill>
                  <a:srgbClr val="081B33"/>
                </a:solidFill>
                <a:latin typeface="Arial" pitchFamily="34" charset="0"/>
                <a:ea typeface="Arial" pitchFamily="34" charset="-122"/>
                <a:cs typeface="Arial" pitchFamily="34" charset="-120"/>
              </a:rPr>
              <a:t>Từ kết nối ví đến theo dõi kết quả trong 6 bước</a:t>
            </a:r>
            <a:endParaRPr lang="en-US" sz="2800" dirty="0"/>
          </a:p>
        </p:txBody>
      </p:sp>
      <p:sp>
        <p:nvSpPr>
          <p:cNvPr id="8" name="Text 6"/>
          <p:cNvSpPr/>
          <p:nvPr/>
        </p:nvSpPr>
        <p:spPr>
          <a:xfrm>
            <a:off x="594360" y="1289304"/>
            <a:ext cx="10424160" cy="329184"/>
          </a:xfrm>
          <a:prstGeom prst="rect">
            <a:avLst/>
          </a:prstGeom>
          <a:noFill/>
          <a:ln/>
        </p:spPr>
        <p:txBody>
          <a:bodyPr wrap="square" lIns="0" tIns="0" rIns="0" bIns="0" rtlCol="0" anchor="ctr">
            <a:normAutofit/>
          </a:bodyPr>
          <a:lstStyle/>
          <a:p>
            <a:pPr marL="0" indent="0" algn="l">
              <a:buNone/>
            </a:pPr>
            <a:r>
              <a:rPr lang="en-US" sz="1250" dirty="0">
                <a:solidFill>
                  <a:srgbClr val="60728A"/>
                </a:solidFill>
                <a:latin typeface="Arial" pitchFamily="34" charset="0"/>
                <a:ea typeface="Arial" pitchFamily="34" charset="-122"/>
                <a:cs typeface="Arial" pitchFamily="34" charset="-120"/>
              </a:rPr>
              <a:t>Một flow ngắn, có màn hình review trước khi có bất kỳ thao tác on-chain nào.</a:t>
            </a:r>
            <a:endParaRPr lang="en-US" sz="1250" dirty="0"/>
          </a:p>
        </p:txBody>
      </p:sp>
      <p:sp>
        <p:nvSpPr>
          <p:cNvPr id="9" name="Shape 7"/>
          <p:cNvSpPr/>
          <p:nvPr/>
        </p:nvSpPr>
        <p:spPr>
          <a:xfrm>
            <a:off x="1865376" y="3154680"/>
            <a:ext cx="640080" cy="0"/>
          </a:xfrm>
          <a:prstGeom prst="line">
            <a:avLst/>
          </a:prstGeom>
          <a:noFill/>
          <a:ln w="19050">
            <a:solidFill>
              <a:srgbClr val="D8E4EF"/>
            </a:solidFill>
            <a:prstDash val="solid"/>
            <a:headEnd type="none"/>
            <a:tailEnd type="triangle"/>
          </a:ln>
        </p:spPr>
      </p:sp>
      <p:sp>
        <p:nvSpPr>
          <p:cNvPr id="10" name="Shape 8"/>
          <p:cNvSpPr/>
          <p:nvPr/>
        </p:nvSpPr>
        <p:spPr>
          <a:xfrm>
            <a:off x="566928" y="2487168"/>
            <a:ext cx="1325880" cy="1325880"/>
          </a:xfrm>
          <a:prstGeom prst="ellipse">
            <a:avLst/>
          </a:prstGeom>
          <a:solidFill>
            <a:schemeClr val="accent1">
              <a:lumMod val="60000"/>
              <a:lumOff val="40000"/>
            </a:schemeClr>
          </a:solidFill>
          <a:ln w="17780">
            <a:solidFill>
              <a:srgbClr val="D8E4EF"/>
            </a:solidFill>
            <a:prstDash val="solid"/>
          </a:ln>
        </p:spPr>
      </p:sp>
      <p:sp>
        <p:nvSpPr>
          <p:cNvPr id="11" name="Text 9"/>
          <p:cNvSpPr/>
          <p:nvPr/>
        </p:nvSpPr>
        <p:spPr>
          <a:xfrm>
            <a:off x="566928" y="2724912"/>
            <a:ext cx="1325880" cy="320040"/>
          </a:xfrm>
          <a:prstGeom prst="rect">
            <a:avLst/>
          </a:prstGeom>
          <a:noFill/>
          <a:ln/>
        </p:spPr>
        <p:txBody>
          <a:bodyPr wrap="square" lIns="0" tIns="0" rIns="0" bIns="0" rtlCol="0" anchor="ctr">
            <a:normAutofit/>
          </a:bodyPr>
          <a:lstStyle/>
          <a:p>
            <a:pPr marL="0" indent="0" algn="ctr">
              <a:buNone/>
            </a:pPr>
            <a:r>
              <a:rPr lang="en-US" sz="1900" b="1" dirty="0">
                <a:solidFill>
                  <a:srgbClr val="08A6D6"/>
                </a:solidFill>
                <a:latin typeface="Arial" pitchFamily="34" charset="0"/>
                <a:ea typeface="Arial" pitchFamily="34" charset="-122"/>
                <a:cs typeface="Arial" pitchFamily="34" charset="-120"/>
              </a:rPr>
              <a:t>1</a:t>
            </a:r>
            <a:endParaRPr lang="en-US" sz="1900" dirty="0"/>
          </a:p>
        </p:txBody>
      </p:sp>
      <p:sp>
        <p:nvSpPr>
          <p:cNvPr id="12" name="Text 10"/>
          <p:cNvSpPr/>
          <p:nvPr/>
        </p:nvSpPr>
        <p:spPr>
          <a:xfrm>
            <a:off x="402336" y="4069080"/>
            <a:ext cx="1664208" cy="438912"/>
          </a:xfrm>
          <a:prstGeom prst="rect">
            <a:avLst/>
          </a:prstGeom>
          <a:noFill/>
          <a:ln/>
        </p:spPr>
        <p:txBody>
          <a:bodyPr wrap="square" lIns="0" tIns="0" rIns="0" bIns="0" rtlCol="0" anchor="ctr">
            <a:normAutofit/>
          </a:bodyPr>
          <a:lstStyle/>
          <a:p>
            <a:pPr marL="0" indent="0" algn="ctr">
              <a:buNone/>
            </a:pPr>
            <a:r>
              <a:rPr lang="en-US" sz="1200" b="1" dirty="0">
                <a:solidFill>
                  <a:srgbClr val="081B33"/>
                </a:solidFill>
                <a:latin typeface="Arial" pitchFamily="34" charset="0"/>
                <a:ea typeface="Arial" pitchFamily="34" charset="-122"/>
                <a:cs typeface="Arial" pitchFamily="34" charset="-120"/>
              </a:rPr>
              <a:t>Connect</a:t>
            </a:r>
            <a:endParaRPr lang="en-US" sz="1200" dirty="0"/>
          </a:p>
          <a:p>
            <a:pPr marL="0" indent="0" algn="ctr">
              <a:buNone/>
            </a:pPr>
            <a:r>
              <a:rPr lang="en-US" sz="1200" b="1" dirty="0">
                <a:solidFill>
                  <a:srgbClr val="081B33"/>
                </a:solidFill>
                <a:latin typeface="Arial" pitchFamily="34" charset="0"/>
                <a:ea typeface="Arial" pitchFamily="34" charset="-122"/>
                <a:cs typeface="Arial" pitchFamily="34" charset="-120"/>
              </a:rPr>
              <a:t>wallet</a:t>
            </a:r>
            <a:endParaRPr lang="en-US" sz="1200" dirty="0"/>
          </a:p>
        </p:txBody>
      </p:sp>
      <p:sp>
        <p:nvSpPr>
          <p:cNvPr id="13" name="Shape 11"/>
          <p:cNvSpPr/>
          <p:nvPr/>
        </p:nvSpPr>
        <p:spPr>
          <a:xfrm>
            <a:off x="3785616" y="3154680"/>
            <a:ext cx="640080" cy="0"/>
          </a:xfrm>
          <a:prstGeom prst="line">
            <a:avLst/>
          </a:prstGeom>
          <a:noFill/>
          <a:ln w="19050">
            <a:solidFill>
              <a:srgbClr val="D8E4EF"/>
            </a:solidFill>
            <a:prstDash val="solid"/>
            <a:headEnd type="none"/>
            <a:tailEnd type="triangle"/>
          </a:ln>
        </p:spPr>
      </p:sp>
      <p:sp>
        <p:nvSpPr>
          <p:cNvPr id="14" name="Shape 12"/>
          <p:cNvSpPr/>
          <p:nvPr/>
        </p:nvSpPr>
        <p:spPr>
          <a:xfrm>
            <a:off x="2487168" y="2487168"/>
            <a:ext cx="1325880" cy="1325880"/>
          </a:xfrm>
          <a:prstGeom prst="ellipse">
            <a:avLst/>
          </a:prstGeom>
          <a:solidFill>
            <a:schemeClr val="accent2">
              <a:lumMod val="40000"/>
              <a:lumOff val="60000"/>
            </a:schemeClr>
          </a:solidFill>
          <a:ln w="17780">
            <a:solidFill>
              <a:srgbClr val="D8E4EF"/>
            </a:solidFill>
            <a:prstDash val="solid"/>
          </a:ln>
        </p:spPr>
      </p:sp>
      <p:sp>
        <p:nvSpPr>
          <p:cNvPr id="15" name="Text 13"/>
          <p:cNvSpPr/>
          <p:nvPr/>
        </p:nvSpPr>
        <p:spPr>
          <a:xfrm>
            <a:off x="2487168" y="2724912"/>
            <a:ext cx="1325880" cy="320040"/>
          </a:xfrm>
          <a:prstGeom prst="rect">
            <a:avLst/>
          </a:prstGeom>
          <a:noFill/>
          <a:ln/>
        </p:spPr>
        <p:txBody>
          <a:bodyPr wrap="square" lIns="0" tIns="0" rIns="0" bIns="0" rtlCol="0" anchor="ctr">
            <a:normAutofit/>
          </a:bodyPr>
          <a:lstStyle/>
          <a:p>
            <a:pPr marL="0" indent="0" algn="ctr">
              <a:buNone/>
            </a:pPr>
            <a:r>
              <a:rPr lang="en-US" sz="1900" b="1" dirty="0">
                <a:solidFill>
                  <a:srgbClr val="08A6D6"/>
                </a:solidFill>
                <a:latin typeface="Arial" pitchFamily="34" charset="0"/>
                <a:ea typeface="Arial" pitchFamily="34" charset="-122"/>
                <a:cs typeface="Arial" pitchFamily="34" charset="-120"/>
              </a:rPr>
              <a:t>2</a:t>
            </a:r>
            <a:endParaRPr lang="en-US" sz="1900" dirty="0"/>
          </a:p>
        </p:txBody>
      </p:sp>
      <p:sp>
        <p:nvSpPr>
          <p:cNvPr id="16" name="Text 14"/>
          <p:cNvSpPr/>
          <p:nvPr/>
        </p:nvSpPr>
        <p:spPr>
          <a:xfrm>
            <a:off x="2322576" y="4069080"/>
            <a:ext cx="1664208" cy="438912"/>
          </a:xfrm>
          <a:prstGeom prst="rect">
            <a:avLst/>
          </a:prstGeom>
          <a:noFill/>
          <a:ln/>
        </p:spPr>
        <p:txBody>
          <a:bodyPr wrap="square" lIns="0" tIns="0" rIns="0" bIns="0" rtlCol="0" anchor="ctr">
            <a:normAutofit/>
          </a:bodyPr>
          <a:lstStyle/>
          <a:p>
            <a:pPr marL="0" indent="0" algn="ctr">
              <a:buNone/>
            </a:pPr>
            <a:r>
              <a:rPr lang="en-US" sz="1200" b="1" dirty="0">
                <a:solidFill>
                  <a:srgbClr val="081B33"/>
                </a:solidFill>
                <a:latin typeface="Arial" pitchFamily="34" charset="0"/>
                <a:ea typeface="Arial" pitchFamily="34" charset="-122"/>
                <a:cs typeface="Arial" pitchFamily="34" charset="-120"/>
              </a:rPr>
              <a:t>Create</a:t>
            </a:r>
            <a:endParaRPr lang="en-US" sz="1200" dirty="0"/>
          </a:p>
          <a:p>
            <a:pPr marL="0" indent="0" algn="ctr">
              <a:buNone/>
            </a:pPr>
            <a:r>
              <a:rPr lang="en-US" sz="1200" b="1" dirty="0">
                <a:solidFill>
                  <a:srgbClr val="081B33"/>
                </a:solidFill>
                <a:latin typeface="Arial" pitchFamily="34" charset="0"/>
                <a:ea typeface="Arial" pitchFamily="34" charset="-122"/>
                <a:cs typeface="Arial" pitchFamily="34" charset="-120"/>
              </a:rPr>
              <a:t>recipe</a:t>
            </a:r>
            <a:endParaRPr lang="en-US" sz="1200" dirty="0"/>
          </a:p>
        </p:txBody>
      </p:sp>
      <p:sp>
        <p:nvSpPr>
          <p:cNvPr id="17" name="Shape 15"/>
          <p:cNvSpPr/>
          <p:nvPr/>
        </p:nvSpPr>
        <p:spPr>
          <a:xfrm>
            <a:off x="5705856" y="3154680"/>
            <a:ext cx="640080" cy="0"/>
          </a:xfrm>
          <a:prstGeom prst="line">
            <a:avLst/>
          </a:prstGeom>
          <a:noFill/>
          <a:ln w="19050">
            <a:solidFill>
              <a:srgbClr val="D8E4EF"/>
            </a:solidFill>
            <a:prstDash val="solid"/>
            <a:headEnd type="none"/>
            <a:tailEnd type="triangle"/>
          </a:ln>
        </p:spPr>
      </p:sp>
      <p:sp>
        <p:nvSpPr>
          <p:cNvPr id="18" name="Shape 16"/>
          <p:cNvSpPr/>
          <p:nvPr/>
        </p:nvSpPr>
        <p:spPr>
          <a:xfrm>
            <a:off x="4407408" y="2487168"/>
            <a:ext cx="1325880" cy="1325880"/>
          </a:xfrm>
          <a:prstGeom prst="ellipse">
            <a:avLst/>
          </a:prstGeom>
          <a:solidFill>
            <a:schemeClr val="accent3">
              <a:lumMod val="40000"/>
              <a:lumOff val="60000"/>
            </a:schemeClr>
          </a:solidFill>
          <a:ln w="17780">
            <a:solidFill>
              <a:srgbClr val="D8E4EF"/>
            </a:solidFill>
            <a:prstDash val="solid"/>
          </a:ln>
        </p:spPr>
      </p:sp>
      <p:sp>
        <p:nvSpPr>
          <p:cNvPr id="19" name="Text 17"/>
          <p:cNvSpPr/>
          <p:nvPr/>
        </p:nvSpPr>
        <p:spPr>
          <a:xfrm>
            <a:off x="4407408" y="2724912"/>
            <a:ext cx="1325880" cy="320040"/>
          </a:xfrm>
          <a:prstGeom prst="rect">
            <a:avLst/>
          </a:prstGeom>
          <a:noFill/>
          <a:ln/>
        </p:spPr>
        <p:txBody>
          <a:bodyPr wrap="square" lIns="0" tIns="0" rIns="0" bIns="0" rtlCol="0" anchor="ctr">
            <a:normAutofit/>
          </a:bodyPr>
          <a:lstStyle/>
          <a:p>
            <a:pPr marL="0" indent="0" algn="ctr">
              <a:buNone/>
            </a:pPr>
            <a:r>
              <a:rPr lang="en-US" sz="1900" b="1" dirty="0">
                <a:solidFill>
                  <a:srgbClr val="08A6D6"/>
                </a:solidFill>
                <a:latin typeface="Arial" pitchFamily="34" charset="0"/>
                <a:ea typeface="Arial" pitchFamily="34" charset="-122"/>
                <a:cs typeface="Arial" pitchFamily="34" charset="-120"/>
              </a:rPr>
              <a:t>3</a:t>
            </a:r>
            <a:endParaRPr lang="en-US" sz="1900" dirty="0"/>
          </a:p>
        </p:txBody>
      </p:sp>
      <p:sp>
        <p:nvSpPr>
          <p:cNvPr id="20" name="Text 18"/>
          <p:cNvSpPr/>
          <p:nvPr/>
        </p:nvSpPr>
        <p:spPr>
          <a:xfrm>
            <a:off x="4242816" y="4069080"/>
            <a:ext cx="1664208" cy="438912"/>
          </a:xfrm>
          <a:prstGeom prst="rect">
            <a:avLst/>
          </a:prstGeom>
          <a:noFill/>
          <a:ln/>
        </p:spPr>
        <p:txBody>
          <a:bodyPr wrap="square" lIns="0" tIns="0" rIns="0" bIns="0" rtlCol="0" anchor="ctr">
            <a:normAutofit/>
          </a:bodyPr>
          <a:lstStyle/>
          <a:p>
            <a:pPr marL="0" indent="0" algn="ctr">
              <a:buNone/>
            </a:pPr>
            <a:r>
              <a:rPr lang="en-US" sz="1200" b="1" dirty="0">
                <a:solidFill>
                  <a:srgbClr val="081B33"/>
                </a:solidFill>
                <a:latin typeface="Arial" pitchFamily="34" charset="0"/>
                <a:ea typeface="Arial" pitchFamily="34" charset="-122"/>
                <a:cs typeface="Arial" pitchFamily="34" charset="-120"/>
              </a:rPr>
              <a:t>Set rules</a:t>
            </a:r>
            <a:endParaRPr lang="en-US" sz="1200" dirty="0"/>
          </a:p>
        </p:txBody>
      </p:sp>
      <p:sp>
        <p:nvSpPr>
          <p:cNvPr id="21" name="Shape 19"/>
          <p:cNvSpPr/>
          <p:nvPr/>
        </p:nvSpPr>
        <p:spPr>
          <a:xfrm>
            <a:off x="7626096" y="3154680"/>
            <a:ext cx="640080" cy="0"/>
          </a:xfrm>
          <a:prstGeom prst="line">
            <a:avLst/>
          </a:prstGeom>
          <a:noFill/>
          <a:ln w="19050">
            <a:solidFill>
              <a:srgbClr val="D8E4EF"/>
            </a:solidFill>
            <a:prstDash val="solid"/>
            <a:headEnd type="none"/>
            <a:tailEnd type="triangle"/>
          </a:ln>
        </p:spPr>
      </p:sp>
      <p:sp>
        <p:nvSpPr>
          <p:cNvPr id="22" name="Shape 20"/>
          <p:cNvSpPr/>
          <p:nvPr/>
        </p:nvSpPr>
        <p:spPr>
          <a:xfrm>
            <a:off x="6327648" y="2487168"/>
            <a:ext cx="1325880" cy="1325880"/>
          </a:xfrm>
          <a:prstGeom prst="ellipse">
            <a:avLst/>
          </a:prstGeom>
          <a:solidFill>
            <a:schemeClr val="accent4">
              <a:lumMod val="40000"/>
              <a:lumOff val="60000"/>
            </a:schemeClr>
          </a:solidFill>
          <a:ln w="17780">
            <a:solidFill>
              <a:srgbClr val="D8E4EF"/>
            </a:solidFill>
            <a:prstDash val="solid"/>
          </a:ln>
        </p:spPr>
      </p:sp>
      <p:sp>
        <p:nvSpPr>
          <p:cNvPr id="23" name="Text 21"/>
          <p:cNvSpPr/>
          <p:nvPr/>
        </p:nvSpPr>
        <p:spPr>
          <a:xfrm>
            <a:off x="6327648" y="2724912"/>
            <a:ext cx="1325880" cy="320040"/>
          </a:xfrm>
          <a:prstGeom prst="rect">
            <a:avLst/>
          </a:prstGeom>
          <a:noFill/>
          <a:ln/>
        </p:spPr>
        <p:txBody>
          <a:bodyPr wrap="square" lIns="0" tIns="0" rIns="0" bIns="0" rtlCol="0" anchor="ctr">
            <a:normAutofit/>
          </a:bodyPr>
          <a:lstStyle/>
          <a:p>
            <a:pPr marL="0" indent="0" algn="ctr">
              <a:buNone/>
            </a:pPr>
            <a:r>
              <a:rPr lang="en-US" sz="1900" b="1" dirty="0">
                <a:solidFill>
                  <a:srgbClr val="08A6D6"/>
                </a:solidFill>
                <a:latin typeface="Arial" pitchFamily="34" charset="0"/>
                <a:ea typeface="Arial" pitchFamily="34" charset="-122"/>
                <a:cs typeface="Arial" pitchFamily="34" charset="-120"/>
              </a:rPr>
              <a:t>4</a:t>
            </a:r>
            <a:endParaRPr lang="en-US" sz="1900" dirty="0"/>
          </a:p>
        </p:txBody>
      </p:sp>
      <p:sp>
        <p:nvSpPr>
          <p:cNvPr id="24" name="Text 22"/>
          <p:cNvSpPr/>
          <p:nvPr/>
        </p:nvSpPr>
        <p:spPr>
          <a:xfrm>
            <a:off x="6163056" y="4069080"/>
            <a:ext cx="1664208" cy="438912"/>
          </a:xfrm>
          <a:prstGeom prst="rect">
            <a:avLst/>
          </a:prstGeom>
          <a:noFill/>
          <a:ln/>
        </p:spPr>
        <p:txBody>
          <a:bodyPr wrap="square" lIns="0" tIns="0" rIns="0" bIns="0" rtlCol="0" anchor="ctr">
            <a:normAutofit/>
          </a:bodyPr>
          <a:lstStyle/>
          <a:p>
            <a:pPr marL="0" indent="0" algn="ctr">
              <a:buNone/>
            </a:pPr>
            <a:r>
              <a:rPr lang="en-US" sz="1200" b="1" dirty="0">
                <a:solidFill>
                  <a:srgbClr val="081B33"/>
                </a:solidFill>
                <a:latin typeface="Arial" pitchFamily="34" charset="0"/>
                <a:ea typeface="Arial" pitchFamily="34" charset="-122"/>
                <a:cs typeface="Arial" pitchFamily="34" charset="-120"/>
              </a:rPr>
              <a:t>Review</a:t>
            </a:r>
            <a:endParaRPr lang="en-US" sz="1200" dirty="0"/>
          </a:p>
        </p:txBody>
      </p:sp>
      <p:sp>
        <p:nvSpPr>
          <p:cNvPr id="25" name="Shape 23"/>
          <p:cNvSpPr/>
          <p:nvPr/>
        </p:nvSpPr>
        <p:spPr>
          <a:xfrm>
            <a:off x="9546336" y="3154680"/>
            <a:ext cx="640080" cy="0"/>
          </a:xfrm>
          <a:prstGeom prst="line">
            <a:avLst/>
          </a:prstGeom>
          <a:noFill/>
          <a:ln w="19050">
            <a:solidFill>
              <a:srgbClr val="D8E4EF"/>
            </a:solidFill>
            <a:prstDash val="solid"/>
            <a:headEnd type="none"/>
            <a:tailEnd type="triangle"/>
          </a:ln>
        </p:spPr>
      </p:sp>
      <p:sp>
        <p:nvSpPr>
          <p:cNvPr id="26" name="Shape 24"/>
          <p:cNvSpPr/>
          <p:nvPr/>
        </p:nvSpPr>
        <p:spPr>
          <a:xfrm>
            <a:off x="8247888" y="2487168"/>
            <a:ext cx="1325880" cy="1325880"/>
          </a:xfrm>
          <a:prstGeom prst="ellipse">
            <a:avLst/>
          </a:prstGeom>
          <a:solidFill>
            <a:srgbClr val="08A6D6"/>
          </a:solidFill>
          <a:ln w="17780">
            <a:solidFill>
              <a:srgbClr val="08A6D6"/>
            </a:solidFill>
            <a:prstDash val="solid"/>
          </a:ln>
        </p:spPr>
      </p:sp>
      <p:sp>
        <p:nvSpPr>
          <p:cNvPr id="27" name="Text 25"/>
          <p:cNvSpPr/>
          <p:nvPr/>
        </p:nvSpPr>
        <p:spPr>
          <a:xfrm>
            <a:off x="8247888" y="2724912"/>
            <a:ext cx="1325880" cy="320040"/>
          </a:xfrm>
          <a:prstGeom prst="rect">
            <a:avLst/>
          </a:prstGeom>
          <a:noFill/>
          <a:ln/>
        </p:spPr>
        <p:txBody>
          <a:bodyPr wrap="square" lIns="0" tIns="0" rIns="0" bIns="0" rtlCol="0" anchor="ctr">
            <a:normAutofit/>
          </a:bodyPr>
          <a:lstStyle/>
          <a:p>
            <a:pPr marL="0" indent="0" algn="ctr">
              <a:buNone/>
            </a:pPr>
            <a:r>
              <a:rPr lang="en-US" sz="1900" b="1" dirty="0">
                <a:solidFill>
                  <a:srgbClr val="FFFFFF"/>
                </a:solidFill>
                <a:latin typeface="Arial" pitchFamily="34" charset="0"/>
                <a:ea typeface="Arial" pitchFamily="34" charset="-122"/>
                <a:cs typeface="Arial" pitchFamily="34" charset="-120"/>
              </a:rPr>
              <a:t>5</a:t>
            </a:r>
            <a:endParaRPr lang="en-US" sz="1900" dirty="0"/>
          </a:p>
        </p:txBody>
      </p:sp>
      <p:sp>
        <p:nvSpPr>
          <p:cNvPr id="28" name="Text 26"/>
          <p:cNvSpPr/>
          <p:nvPr/>
        </p:nvSpPr>
        <p:spPr>
          <a:xfrm>
            <a:off x="8083296" y="4069080"/>
            <a:ext cx="1664208" cy="438912"/>
          </a:xfrm>
          <a:prstGeom prst="rect">
            <a:avLst/>
          </a:prstGeom>
          <a:noFill/>
          <a:ln/>
        </p:spPr>
        <p:txBody>
          <a:bodyPr wrap="square" lIns="0" tIns="0" rIns="0" bIns="0" rtlCol="0" anchor="ctr">
            <a:normAutofit/>
          </a:bodyPr>
          <a:lstStyle/>
          <a:p>
            <a:pPr marL="0" indent="0" algn="ctr">
              <a:buNone/>
            </a:pPr>
            <a:r>
              <a:rPr lang="en-US" sz="1200" b="1" dirty="0">
                <a:solidFill>
                  <a:srgbClr val="081B33"/>
                </a:solidFill>
                <a:latin typeface="Arial" pitchFamily="34" charset="0"/>
                <a:ea typeface="Arial" pitchFamily="34" charset="-122"/>
                <a:cs typeface="Arial" pitchFamily="34" charset="-120"/>
              </a:rPr>
              <a:t>Activate</a:t>
            </a:r>
            <a:endParaRPr lang="en-US" sz="1200" dirty="0"/>
          </a:p>
        </p:txBody>
      </p:sp>
      <p:sp>
        <p:nvSpPr>
          <p:cNvPr id="29" name="Shape 27"/>
          <p:cNvSpPr/>
          <p:nvPr/>
        </p:nvSpPr>
        <p:spPr>
          <a:xfrm>
            <a:off x="10168128" y="2487168"/>
            <a:ext cx="1325880" cy="1325880"/>
          </a:xfrm>
          <a:prstGeom prst="ellipse">
            <a:avLst/>
          </a:prstGeom>
          <a:solidFill>
            <a:schemeClr val="accent6">
              <a:lumMod val="60000"/>
              <a:lumOff val="40000"/>
            </a:schemeClr>
          </a:solidFill>
          <a:ln w="17780">
            <a:solidFill>
              <a:srgbClr val="D8E4EF"/>
            </a:solidFill>
            <a:prstDash val="solid"/>
          </a:ln>
        </p:spPr>
      </p:sp>
      <p:sp>
        <p:nvSpPr>
          <p:cNvPr id="30" name="Text 28"/>
          <p:cNvSpPr/>
          <p:nvPr/>
        </p:nvSpPr>
        <p:spPr>
          <a:xfrm>
            <a:off x="10168128" y="2724912"/>
            <a:ext cx="1325880" cy="320040"/>
          </a:xfrm>
          <a:prstGeom prst="rect">
            <a:avLst/>
          </a:prstGeom>
          <a:noFill/>
          <a:ln/>
        </p:spPr>
        <p:txBody>
          <a:bodyPr wrap="square" lIns="0" tIns="0" rIns="0" bIns="0" rtlCol="0" anchor="ctr">
            <a:normAutofit/>
          </a:bodyPr>
          <a:lstStyle/>
          <a:p>
            <a:pPr marL="0" indent="0" algn="ctr">
              <a:buNone/>
            </a:pPr>
            <a:r>
              <a:rPr lang="en-US" sz="1900" b="1" dirty="0">
                <a:solidFill>
                  <a:srgbClr val="08A6D6"/>
                </a:solidFill>
                <a:latin typeface="Arial" pitchFamily="34" charset="0"/>
                <a:ea typeface="Arial" pitchFamily="34" charset="-122"/>
                <a:cs typeface="Arial" pitchFamily="34" charset="-120"/>
              </a:rPr>
              <a:t>6</a:t>
            </a:r>
            <a:endParaRPr lang="en-US" sz="1900" dirty="0"/>
          </a:p>
        </p:txBody>
      </p:sp>
      <p:sp>
        <p:nvSpPr>
          <p:cNvPr id="31" name="Text 29"/>
          <p:cNvSpPr/>
          <p:nvPr/>
        </p:nvSpPr>
        <p:spPr>
          <a:xfrm>
            <a:off x="10003536" y="4069080"/>
            <a:ext cx="1664208" cy="438912"/>
          </a:xfrm>
          <a:prstGeom prst="rect">
            <a:avLst/>
          </a:prstGeom>
          <a:noFill/>
          <a:ln/>
        </p:spPr>
        <p:txBody>
          <a:bodyPr wrap="square" lIns="0" tIns="0" rIns="0" bIns="0" rtlCol="0" anchor="ctr">
            <a:normAutofit/>
          </a:bodyPr>
          <a:lstStyle/>
          <a:p>
            <a:pPr marL="0" indent="0" algn="ctr">
              <a:buNone/>
            </a:pPr>
            <a:r>
              <a:rPr lang="en-US" sz="1200" b="1" dirty="0">
                <a:solidFill>
                  <a:srgbClr val="081B33"/>
                </a:solidFill>
                <a:latin typeface="Arial" pitchFamily="34" charset="0"/>
                <a:ea typeface="Arial" pitchFamily="34" charset="-122"/>
                <a:cs typeface="Arial" pitchFamily="34" charset="-120"/>
              </a:rPr>
              <a:t>Monitor</a:t>
            </a:r>
            <a:endParaRPr lang="en-US" sz="1200" dirty="0"/>
          </a:p>
          <a:p>
            <a:pPr marL="0" indent="0" algn="ctr">
              <a:buNone/>
            </a:pPr>
            <a:r>
              <a:rPr lang="en-US" sz="1200" b="1" dirty="0">
                <a:solidFill>
                  <a:srgbClr val="081B33"/>
                </a:solidFill>
                <a:latin typeface="Arial" pitchFamily="34" charset="0"/>
                <a:ea typeface="Arial" pitchFamily="34" charset="-122"/>
                <a:cs typeface="Arial" pitchFamily="34" charset="-120"/>
              </a:rPr>
              <a:t>results</a:t>
            </a:r>
            <a:endParaRPr lang="en-US" sz="1200" dirty="0"/>
          </a:p>
        </p:txBody>
      </p:sp>
      <p:sp>
        <p:nvSpPr>
          <p:cNvPr id="32" name="Shape 30"/>
          <p:cNvSpPr/>
          <p:nvPr/>
        </p:nvSpPr>
        <p:spPr>
          <a:xfrm>
            <a:off x="3886200" y="5010912"/>
            <a:ext cx="731520" cy="310896"/>
          </a:xfrm>
          <a:prstGeom prst="roundRect">
            <a:avLst>
              <a:gd name="adj" fmla="val 23529"/>
            </a:avLst>
          </a:prstGeom>
          <a:solidFill>
            <a:srgbClr val="DDF6FC"/>
          </a:solidFill>
          <a:ln w="12700">
            <a:solidFill>
              <a:srgbClr val="DDF6FC"/>
            </a:solidFill>
            <a:prstDash val="solid"/>
          </a:ln>
        </p:spPr>
      </p:sp>
      <p:sp>
        <p:nvSpPr>
          <p:cNvPr id="33" name="Text 31"/>
          <p:cNvSpPr/>
          <p:nvPr/>
        </p:nvSpPr>
        <p:spPr>
          <a:xfrm>
            <a:off x="3886200" y="5029200"/>
            <a:ext cx="731520" cy="228600"/>
          </a:xfrm>
          <a:prstGeom prst="rect">
            <a:avLst/>
          </a:prstGeom>
          <a:noFill/>
          <a:ln/>
        </p:spPr>
        <p:txBody>
          <a:bodyPr wrap="square" lIns="0" tIns="0" rIns="0" bIns="0" rtlCol="0" anchor="ctr">
            <a:normAutofit/>
          </a:bodyPr>
          <a:lstStyle/>
          <a:p>
            <a:pPr marL="0" indent="0" algn="ctr">
              <a:buNone/>
            </a:pPr>
            <a:r>
              <a:rPr lang="en-US" sz="850" b="1" dirty="0">
                <a:solidFill>
                  <a:srgbClr val="08A6D6"/>
                </a:solidFill>
                <a:latin typeface="Arial" pitchFamily="34" charset="0"/>
                <a:ea typeface="Arial" pitchFamily="34" charset="-122"/>
                <a:cs typeface="Arial" pitchFamily="34" charset="-120"/>
              </a:rPr>
              <a:t>amount</a:t>
            </a:r>
            <a:endParaRPr lang="en-US" sz="850" dirty="0"/>
          </a:p>
        </p:txBody>
      </p:sp>
      <p:sp>
        <p:nvSpPr>
          <p:cNvPr id="34" name="Shape 32"/>
          <p:cNvSpPr/>
          <p:nvPr/>
        </p:nvSpPr>
        <p:spPr>
          <a:xfrm>
            <a:off x="4736592" y="5010912"/>
            <a:ext cx="868680" cy="310896"/>
          </a:xfrm>
          <a:prstGeom prst="roundRect">
            <a:avLst>
              <a:gd name="adj" fmla="val 23529"/>
            </a:avLst>
          </a:prstGeom>
          <a:solidFill>
            <a:srgbClr val="DDF6FC"/>
          </a:solidFill>
          <a:ln w="12700">
            <a:solidFill>
              <a:srgbClr val="DDF6FC"/>
            </a:solidFill>
            <a:prstDash val="solid"/>
          </a:ln>
        </p:spPr>
      </p:sp>
      <p:sp>
        <p:nvSpPr>
          <p:cNvPr id="35" name="Text 33"/>
          <p:cNvSpPr/>
          <p:nvPr/>
        </p:nvSpPr>
        <p:spPr>
          <a:xfrm>
            <a:off x="4736592" y="5029200"/>
            <a:ext cx="868680" cy="228600"/>
          </a:xfrm>
          <a:prstGeom prst="rect">
            <a:avLst/>
          </a:prstGeom>
          <a:noFill/>
          <a:ln/>
        </p:spPr>
        <p:txBody>
          <a:bodyPr wrap="square" lIns="0" tIns="0" rIns="0" bIns="0" rtlCol="0" anchor="ctr">
            <a:normAutofit/>
          </a:bodyPr>
          <a:lstStyle/>
          <a:p>
            <a:pPr marL="0" indent="0" algn="ctr">
              <a:buNone/>
            </a:pPr>
            <a:r>
              <a:rPr lang="en-US" sz="850" b="1" dirty="0">
                <a:solidFill>
                  <a:srgbClr val="08A6D6"/>
                </a:solidFill>
                <a:latin typeface="Arial" pitchFamily="34" charset="0"/>
                <a:ea typeface="Arial" pitchFamily="34" charset="-122"/>
                <a:cs typeface="Arial" pitchFamily="34" charset="-120"/>
              </a:rPr>
              <a:t>frequency</a:t>
            </a:r>
            <a:endParaRPr lang="en-US" sz="850" dirty="0"/>
          </a:p>
        </p:txBody>
      </p:sp>
      <p:sp>
        <p:nvSpPr>
          <p:cNvPr id="36" name="Shape 34"/>
          <p:cNvSpPr/>
          <p:nvPr/>
        </p:nvSpPr>
        <p:spPr>
          <a:xfrm>
            <a:off x="5742432" y="5010912"/>
            <a:ext cx="658368" cy="310896"/>
          </a:xfrm>
          <a:prstGeom prst="roundRect">
            <a:avLst>
              <a:gd name="adj" fmla="val 23529"/>
            </a:avLst>
          </a:prstGeom>
          <a:solidFill>
            <a:srgbClr val="FCE9EE"/>
          </a:solidFill>
          <a:ln w="12700">
            <a:solidFill>
              <a:srgbClr val="FCE9EE"/>
            </a:solidFill>
            <a:prstDash val="solid"/>
          </a:ln>
        </p:spPr>
      </p:sp>
      <p:sp>
        <p:nvSpPr>
          <p:cNvPr id="37" name="Text 35"/>
          <p:cNvSpPr/>
          <p:nvPr/>
        </p:nvSpPr>
        <p:spPr>
          <a:xfrm>
            <a:off x="5742432" y="5029200"/>
            <a:ext cx="658368" cy="228600"/>
          </a:xfrm>
          <a:prstGeom prst="rect">
            <a:avLst/>
          </a:prstGeom>
          <a:noFill/>
          <a:ln/>
        </p:spPr>
        <p:txBody>
          <a:bodyPr wrap="square" lIns="0" tIns="0" rIns="0" bIns="0" rtlCol="0" anchor="ctr">
            <a:normAutofit/>
          </a:bodyPr>
          <a:lstStyle/>
          <a:p>
            <a:pPr marL="0" indent="0" algn="ctr">
              <a:buNone/>
            </a:pPr>
            <a:r>
              <a:rPr lang="en-US" sz="850" b="1" dirty="0">
                <a:solidFill>
                  <a:srgbClr val="D94C6A"/>
                </a:solidFill>
                <a:latin typeface="Arial" pitchFamily="34" charset="0"/>
                <a:ea typeface="Arial" pitchFamily="34" charset="-122"/>
                <a:cs typeface="Arial" pitchFamily="34" charset="-120"/>
              </a:rPr>
              <a:t>limits</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8A6D6"/>
          </a:solidFill>
          <a:ln w="12700">
            <a:solidFill>
              <a:srgbClr val="08A6D6"/>
            </a:solidFill>
            <a:prstDash val="solid"/>
          </a:ln>
        </p:spPr>
      </p:sp>
      <p:sp>
        <p:nvSpPr>
          <p:cNvPr id="3" name="Shape 1"/>
          <p:cNvSpPr/>
          <p:nvPr/>
        </p:nvSpPr>
        <p:spPr>
          <a:xfrm>
            <a:off x="0" y="6574536"/>
            <a:ext cx="12191695" cy="283464"/>
          </a:xfrm>
          <a:prstGeom prst="rect">
            <a:avLst/>
          </a:prstGeom>
          <a:solidFill>
            <a:srgbClr val="081B33"/>
          </a:solidFill>
          <a:ln w="12700">
            <a:solidFill>
              <a:srgbClr val="081B33"/>
            </a:solidFill>
            <a:prstDash val="solid"/>
          </a:ln>
        </p:spPr>
      </p:sp>
      <p:sp>
        <p:nvSpPr>
          <p:cNvPr id="4" name="Text 2"/>
          <p:cNvSpPr/>
          <p:nvPr/>
        </p:nvSpPr>
        <p:spPr>
          <a:xfrm>
            <a:off x="502920" y="6629400"/>
            <a:ext cx="2377440" cy="128016"/>
          </a:xfrm>
          <a:prstGeom prst="rect">
            <a:avLst/>
          </a:prstGeom>
          <a:noFill/>
          <a:ln/>
        </p:spPr>
        <p:txBody>
          <a:bodyPr wrap="square" lIns="0" tIns="0" rIns="0" bIns="0" rtlCol="0" anchor="ctr">
            <a:normAutofit/>
          </a:bodyPr>
          <a:lstStyle/>
          <a:p>
            <a:pPr marL="0" indent="0" algn="l">
              <a:buNone/>
            </a:pPr>
            <a:r>
              <a:rPr lang="en-US" sz="750" b="1" dirty="0">
                <a:solidFill>
                  <a:srgbClr val="B6D4E8"/>
                </a:solidFill>
                <a:latin typeface="Arial" pitchFamily="34" charset="0"/>
                <a:ea typeface="Arial" pitchFamily="34" charset="-122"/>
                <a:cs typeface="Arial" pitchFamily="34" charset="-120"/>
              </a:rPr>
              <a:t>DEFI RECIPES ON ARC</a:t>
            </a:r>
            <a:endParaRPr lang="en-US" sz="750" dirty="0"/>
          </a:p>
        </p:txBody>
      </p:sp>
      <p:sp>
        <p:nvSpPr>
          <p:cNvPr id="5" name="Text 3"/>
          <p:cNvSpPr/>
          <p:nvPr/>
        </p:nvSpPr>
        <p:spPr>
          <a:xfrm>
            <a:off x="11173968" y="6611112"/>
            <a:ext cx="502920" cy="146304"/>
          </a:xfrm>
          <a:prstGeom prst="rect">
            <a:avLst/>
          </a:prstGeom>
          <a:noFill/>
          <a:ln/>
        </p:spPr>
        <p:txBody>
          <a:bodyPr wrap="square" lIns="0" tIns="0" rIns="0" bIns="0" rtlCol="0" anchor="ctr">
            <a:normAutofit/>
          </a:bodyPr>
          <a:lstStyle/>
          <a:p>
            <a:pPr marL="0" indent="0" algn="r">
              <a:buNone/>
            </a:pPr>
            <a:r>
              <a:rPr lang="en-US" sz="800" b="1" dirty="0">
                <a:solidFill>
                  <a:srgbClr val="FFFFFF"/>
                </a:solidFill>
                <a:latin typeface="Arial" pitchFamily="34" charset="0"/>
                <a:ea typeface="Arial" pitchFamily="34" charset="-122"/>
                <a:cs typeface="Arial" pitchFamily="34" charset="-120"/>
              </a:rPr>
              <a:t>07</a:t>
            </a:r>
            <a:endParaRPr lang="en-US" sz="800" dirty="0"/>
          </a:p>
        </p:txBody>
      </p:sp>
      <p:sp>
        <p:nvSpPr>
          <p:cNvPr id="6" name="Text 4"/>
          <p:cNvSpPr/>
          <p:nvPr/>
        </p:nvSpPr>
        <p:spPr>
          <a:xfrm>
            <a:off x="594360" y="438912"/>
            <a:ext cx="4114800" cy="201168"/>
          </a:xfrm>
          <a:prstGeom prst="rect">
            <a:avLst/>
          </a:prstGeom>
          <a:noFill/>
          <a:ln/>
        </p:spPr>
        <p:txBody>
          <a:bodyPr wrap="square" lIns="0" tIns="0" rIns="0" bIns="0" rtlCol="0" anchor="ctr">
            <a:normAutofit/>
          </a:bodyPr>
          <a:lstStyle/>
          <a:p>
            <a:pPr marL="0" indent="0" algn="l">
              <a:buNone/>
            </a:pPr>
            <a:r>
              <a:rPr lang="en-US" sz="900" b="1" kern="0" spc="120" dirty="0">
                <a:solidFill>
                  <a:srgbClr val="08A6D6"/>
                </a:solidFill>
                <a:latin typeface="Arial" pitchFamily="34" charset="0"/>
                <a:ea typeface="Arial" pitchFamily="34" charset="-122"/>
                <a:cs typeface="Arial" pitchFamily="34" charset="-120"/>
              </a:rPr>
              <a:t>DEMO TRỰC TIẾP</a:t>
            </a:r>
            <a:endParaRPr lang="en-US" sz="900" dirty="0"/>
          </a:p>
        </p:txBody>
      </p:sp>
      <p:sp>
        <p:nvSpPr>
          <p:cNvPr id="7" name="Text 5"/>
          <p:cNvSpPr/>
          <p:nvPr/>
        </p:nvSpPr>
        <p:spPr>
          <a:xfrm>
            <a:off x="594360" y="713232"/>
            <a:ext cx="10789920" cy="530352"/>
          </a:xfrm>
          <a:prstGeom prst="rect">
            <a:avLst/>
          </a:prstGeom>
          <a:noFill/>
          <a:ln/>
        </p:spPr>
        <p:txBody>
          <a:bodyPr wrap="square" lIns="0" tIns="0" rIns="0" bIns="0" rtlCol="0" anchor="ctr">
            <a:normAutofit/>
          </a:bodyPr>
          <a:lstStyle/>
          <a:p>
            <a:pPr marL="0" indent="0" algn="l">
              <a:buNone/>
            </a:pPr>
            <a:r>
              <a:rPr lang="en-US" sz="2800" b="1" dirty="0">
                <a:solidFill>
                  <a:srgbClr val="081B33"/>
                </a:solidFill>
                <a:latin typeface="Arial" pitchFamily="34" charset="0"/>
                <a:ea typeface="Arial" pitchFamily="34" charset="-122"/>
                <a:cs typeface="Arial" pitchFamily="34" charset="-120"/>
              </a:rPr>
              <a:t>Tạo một DCA recipe USDC trong chưa đến 2 phút</a:t>
            </a:r>
            <a:endParaRPr lang="en-US" sz="2800" dirty="0"/>
          </a:p>
        </p:txBody>
      </p:sp>
      <p:sp>
        <p:nvSpPr>
          <p:cNvPr id="8" name="Text 6"/>
          <p:cNvSpPr/>
          <p:nvPr/>
        </p:nvSpPr>
        <p:spPr>
          <a:xfrm>
            <a:off x="594360" y="1289304"/>
            <a:ext cx="10424160" cy="329184"/>
          </a:xfrm>
          <a:prstGeom prst="rect">
            <a:avLst/>
          </a:prstGeom>
          <a:noFill/>
          <a:ln/>
        </p:spPr>
        <p:txBody>
          <a:bodyPr wrap="square" lIns="0" tIns="0" rIns="0" bIns="0" rtlCol="0" anchor="ctr">
            <a:normAutofit/>
          </a:bodyPr>
          <a:lstStyle/>
          <a:p>
            <a:pPr marL="0" indent="0" algn="l">
              <a:buNone/>
            </a:pPr>
            <a:r>
              <a:rPr lang="en-US" sz="1250" dirty="0">
                <a:solidFill>
                  <a:srgbClr val="60728A"/>
                </a:solidFill>
                <a:latin typeface="Arial" pitchFamily="34" charset="0"/>
                <a:ea typeface="Arial" pitchFamily="34" charset="-122"/>
                <a:cs typeface="Arial" pitchFamily="34" charset="-120"/>
              </a:rPr>
              <a:t>Kịch bản minh hoạ: mua EURC bằng 50 USDC mỗi tuần.</a:t>
            </a:r>
            <a:endParaRPr lang="en-US" sz="1250" dirty="0"/>
          </a:p>
        </p:txBody>
      </p:sp>
      <p:sp>
        <p:nvSpPr>
          <p:cNvPr id="9" name="Shape 7"/>
          <p:cNvSpPr/>
          <p:nvPr/>
        </p:nvSpPr>
        <p:spPr>
          <a:xfrm>
            <a:off x="658368" y="1874520"/>
            <a:ext cx="5989320" cy="3886200"/>
          </a:xfrm>
          <a:prstGeom prst="roundRect">
            <a:avLst>
              <a:gd name="adj" fmla="val 1647"/>
            </a:avLst>
          </a:prstGeom>
          <a:solidFill>
            <a:srgbClr val="FFFFFF"/>
          </a:solidFill>
          <a:ln w="12700">
            <a:solidFill>
              <a:srgbClr val="D8E4EF"/>
            </a:solidFill>
            <a:prstDash val="solid"/>
          </a:ln>
        </p:spPr>
      </p:sp>
      <p:sp>
        <p:nvSpPr>
          <p:cNvPr id="10" name="Text 8"/>
          <p:cNvSpPr/>
          <p:nvPr/>
        </p:nvSpPr>
        <p:spPr>
          <a:xfrm>
            <a:off x="941832" y="2167128"/>
            <a:ext cx="2103120" cy="228600"/>
          </a:xfrm>
          <a:prstGeom prst="rect">
            <a:avLst/>
          </a:prstGeom>
          <a:noFill/>
          <a:ln/>
        </p:spPr>
        <p:txBody>
          <a:bodyPr wrap="square" lIns="0" tIns="0" rIns="0" bIns="0" rtlCol="0" anchor="ctr">
            <a:normAutofit lnSpcReduction="10000"/>
          </a:bodyPr>
          <a:lstStyle/>
          <a:p>
            <a:pPr marL="0" indent="0" algn="l">
              <a:buNone/>
            </a:pPr>
            <a:r>
              <a:rPr lang="en-US" sz="1550" b="1" dirty="0">
                <a:solidFill>
                  <a:srgbClr val="11233A"/>
                </a:solidFill>
                <a:latin typeface="Arial" pitchFamily="34" charset="0"/>
                <a:ea typeface="Arial" pitchFamily="34" charset="-122"/>
                <a:cs typeface="Arial" pitchFamily="34" charset="-120"/>
              </a:rPr>
              <a:t>Create recipe</a:t>
            </a:r>
            <a:endParaRPr lang="en-US" sz="1550" dirty="0"/>
          </a:p>
        </p:txBody>
      </p:sp>
      <p:sp>
        <p:nvSpPr>
          <p:cNvPr id="11" name="Text 9"/>
          <p:cNvSpPr/>
          <p:nvPr/>
        </p:nvSpPr>
        <p:spPr>
          <a:xfrm>
            <a:off x="941832" y="2578608"/>
            <a:ext cx="3383280" cy="219456"/>
          </a:xfrm>
          <a:prstGeom prst="rect">
            <a:avLst/>
          </a:prstGeom>
          <a:noFill/>
          <a:ln/>
        </p:spPr>
        <p:txBody>
          <a:bodyPr wrap="square" lIns="0" tIns="0" rIns="0" bIns="0" rtlCol="0" anchor="ctr">
            <a:normAutofit/>
          </a:bodyPr>
          <a:lstStyle/>
          <a:p>
            <a:pPr marL="0" indent="0" algn="l">
              <a:buNone/>
            </a:pPr>
            <a:r>
              <a:rPr lang="en-US" sz="1130" dirty="0">
                <a:solidFill>
                  <a:srgbClr val="60728A"/>
                </a:solidFill>
                <a:latin typeface="Arial" pitchFamily="34" charset="0"/>
                <a:ea typeface="Arial" pitchFamily="34" charset="-122"/>
                <a:cs typeface="Arial" pitchFamily="34" charset="-120"/>
              </a:rPr>
              <a:t>USDC → EURC Recurring DCA</a:t>
            </a:r>
            <a:endParaRPr lang="en-US" sz="1130" dirty="0"/>
          </a:p>
        </p:txBody>
      </p:sp>
      <p:sp>
        <p:nvSpPr>
          <p:cNvPr id="12" name="Text 10"/>
          <p:cNvSpPr/>
          <p:nvPr/>
        </p:nvSpPr>
        <p:spPr>
          <a:xfrm>
            <a:off x="941832" y="3063240"/>
            <a:ext cx="1280160" cy="182880"/>
          </a:xfrm>
          <a:prstGeom prst="rect">
            <a:avLst/>
          </a:prstGeom>
          <a:noFill/>
          <a:ln/>
        </p:spPr>
        <p:txBody>
          <a:bodyPr wrap="square" lIns="0" tIns="0" rIns="0" bIns="0" rtlCol="0" anchor="ctr">
            <a:normAutofit/>
          </a:bodyPr>
          <a:lstStyle/>
          <a:p>
            <a:pPr marL="0" indent="0" algn="l">
              <a:buNone/>
            </a:pPr>
            <a:r>
              <a:rPr lang="en-US" sz="1050" dirty="0">
                <a:solidFill>
                  <a:srgbClr val="60728A"/>
                </a:solidFill>
                <a:latin typeface="Arial" pitchFamily="34" charset="0"/>
                <a:ea typeface="Arial" pitchFamily="34" charset="-122"/>
                <a:cs typeface="Arial" pitchFamily="34" charset="-120"/>
              </a:rPr>
              <a:t>Amount</a:t>
            </a:r>
            <a:endParaRPr lang="en-US" sz="1050" dirty="0"/>
          </a:p>
        </p:txBody>
      </p:sp>
      <p:sp>
        <p:nvSpPr>
          <p:cNvPr id="13" name="Shape 11"/>
          <p:cNvSpPr/>
          <p:nvPr/>
        </p:nvSpPr>
        <p:spPr>
          <a:xfrm>
            <a:off x="2267712" y="3008376"/>
            <a:ext cx="2212848" cy="320040"/>
          </a:xfrm>
          <a:prstGeom prst="roundRect">
            <a:avLst>
              <a:gd name="adj" fmla="val 8571"/>
            </a:avLst>
          </a:prstGeom>
          <a:solidFill>
            <a:srgbClr val="F4F8FC"/>
          </a:solidFill>
          <a:ln w="12700">
            <a:solidFill>
              <a:srgbClr val="D8E4EF"/>
            </a:solidFill>
            <a:prstDash val="solid"/>
          </a:ln>
        </p:spPr>
      </p:sp>
      <p:sp>
        <p:nvSpPr>
          <p:cNvPr id="14" name="Text 12"/>
          <p:cNvSpPr/>
          <p:nvPr/>
        </p:nvSpPr>
        <p:spPr>
          <a:xfrm>
            <a:off x="2441448" y="3076956"/>
            <a:ext cx="1783080" cy="128016"/>
          </a:xfrm>
          <a:prstGeom prst="rect">
            <a:avLst/>
          </a:prstGeom>
          <a:noFill/>
          <a:ln/>
        </p:spPr>
        <p:txBody>
          <a:bodyPr wrap="square" lIns="0" tIns="0" rIns="0" bIns="0" rtlCol="0" anchor="ctr">
            <a:normAutofit fontScale="92500" lnSpcReduction="20000"/>
          </a:bodyPr>
          <a:lstStyle/>
          <a:p>
            <a:pPr marL="0" indent="0" algn="l">
              <a:buNone/>
            </a:pPr>
            <a:r>
              <a:rPr lang="en-US" sz="1040" dirty="0">
                <a:solidFill>
                  <a:srgbClr val="11233A"/>
                </a:solidFill>
                <a:latin typeface="Arial" pitchFamily="34" charset="0"/>
                <a:ea typeface="Arial" pitchFamily="34" charset="-122"/>
                <a:cs typeface="Arial" pitchFamily="34" charset="-120"/>
              </a:rPr>
              <a:t>$50 USDC</a:t>
            </a:r>
            <a:endParaRPr lang="en-US" sz="1040" dirty="0"/>
          </a:p>
        </p:txBody>
      </p:sp>
      <p:sp>
        <p:nvSpPr>
          <p:cNvPr id="15" name="Text 13"/>
          <p:cNvSpPr/>
          <p:nvPr/>
        </p:nvSpPr>
        <p:spPr>
          <a:xfrm>
            <a:off x="941832" y="3630168"/>
            <a:ext cx="1280160" cy="182880"/>
          </a:xfrm>
          <a:prstGeom prst="rect">
            <a:avLst/>
          </a:prstGeom>
          <a:noFill/>
          <a:ln/>
        </p:spPr>
        <p:txBody>
          <a:bodyPr wrap="square" lIns="0" tIns="0" rIns="0" bIns="0" rtlCol="0" anchor="ctr">
            <a:normAutofit/>
          </a:bodyPr>
          <a:lstStyle/>
          <a:p>
            <a:pPr marL="0" indent="0" algn="l">
              <a:buNone/>
            </a:pPr>
            <a:r>
              <a:rPr lang="en-US" sz="1050" dirty="0">
                <a:solidFill>
                  <a:srgbClr val="60728A"/>
                </a:solidFill>
                <a:latin typeface="Arial" pitchFamily="34" charset="0"/>
                <a:ea typeface="Arial" pitchFamily="34" charset="-122"/>
                <a:cs typeface="Arial" pitchFamily="34" charset="-120"/>
              </a:rPr>
              <a:t>Frequency</a:t>
            </a:r>
            <a:endParaRPr lang="en-US" sz="1050" dirty="0"/>
          </a:p>
        </p:txBody>
      </p:sp>
      <p:sp>
        <p:nvSpPr>
          <p:cNvPr id="16" name="Shape 14"/>
          <p:cNvSpPr/>
          <p:nvPr/>
        </p:nvSpPr>
        <p:spPr>
          <a:xfrm>
            <a:off x="2267712" y="3575304"/>
            <a:ext cx="2212848" cy="320040"/>
          </a:xfrm>
          <a:prstGeom prst="roundRect">
            <a:avLst>
              <a:gd name="adj" fmla="val 8571"/>
            </a:avLst>
          </a:prstGeom>
          <a:solidFill>
            <a:srgbClr val="F4F8FC"/>
          </a:solidFill>
          <a:ln w="12700">
            <a:solidFill>
              <a:srgbClr val="D8E4EF"/>
            </a:solidFill>
            <a:prstDash val="solid"/>
          </a:ln>
        </p:spPr>
      </p:sp>
      <p:sp>
        <p:nvSpPr>
          <p:cNvPr id="17" name="Text 15"/>
          <p:cNvSpPr/>
          <p:nvPr/>
        </p:nvSpPr>
        <p:spPr>
          <a:xfrm>
            <a:off x="2441448" y="3643884"/>
            <a:ext cx="1783080" cy="128016"/>
          </a:xfrm>
          <a:prstGeom prst="rect">
            <a:avLst/>
          </a:prstGeom>
          <a:noFill/>
          <a:ln/>
        </p:spPr>
        <p:txBody>
          <a:bodyPr wrap="square" lIns="0" tIns="0" rIns="0" bIns="0" rtlCol="0" anchor="ctr">
            <a:normAutofit fontScale="92500" lnSpcReduction="20000"/>
          </a:bodyPr>
          <a:lstStyle/>
          <a:p>
            <a:pPr marL="0" indent="0" algn="l">
              <a:buNone/>
            </a:pPr>
            <a:r>
              <a:rPr lang="en-US" sz="1040" dirty="0">
                <a:solidFill>
                  <a:srgbClr val="11233A"/>
                </a:solidFill>
                <a:latin typeface="Arial" pitchFamily="34" charset="0"/>
                <a:ea typeface="Arial" pitchFamily="34" charset="-122"/>
                <a:cs typeface="Arial" pitchFamily="34" charset="-120"/>
              </a:rPr>
              <a:t>Weekly</a:t>
            </a:r>
            <a:endParaRPr lang="en-US" sz="1040" dirty="0"/>
          </a:p>
        </p:txBody>
      </p:sp>
      <p:sp>
        <p:nvSpPr>
          <p:cNvPr id="18" name="Text 16"/>
          <p:cNvSpPr/>
          <p:nvPr/>
        </p:nvSpPr>
        <p:spPr>
          <a:xfrm>
            <a:off x="941832" y="4197096"/>
            <a:ext cx="1280160" cy="182880"/>
          </a:xfrm>
          <a:prstGeom prst="rect">
            <a:avLst/>
          </a:prstGeom>
          <a:noFill/>
          <a:ln/>
        </p:spPr>
        <p:txBody>
          <a:bodyPr wrap="square" lIns="0" tIns="0" rIns="0" bIns="0" rtlCol="0" anchor="ctr">
            <a:normAutofit/>
          </a:bodyPr>
          <a:lstStyle/>
          <a:p>
            <a:pPr marL="0" indent="0" algn="l">
              <a:buNone/>
            </a:pPr>
            <a:r>
              <a:rPr lang="en-US" sz="1050" dirty="0">
                <a:solidFill>
                  <a:srgbClr val="60728A"/>
                </a:solidFill>
                <a:latin typeface="Arial" pitchFamily="34" charset="0"/>
                <a:ea typeface="Arial" pitchFamily="34" charset="-122"/>
                <a:cs typeface="Arial" pitchFamily="34" charset="-120"/>
              </a:rPr>
              <a:t>Max slippage</a:t>
            </a:r>
            <a:endParaRPr lang="en-US" sz="1050" dirty="0"/>
          </a:p>
        </p:txBody>
      </p:sp>
      <p:sp>
        <p:nvSpPr>
          <p:cNvPr id="19" name="Shape 17"/>
          <p:cNvSpPr/>
          <p:nvPr/>
        </p:nvSpPr>
        <p:spPr>
          <a:xfrm>
            <a:off x="2267712" y="4142232"/>
            <a:ext cx="2212848" cy="320040"/>
          </a:xfrm>
          <a:prstGeom prst="roundRect">
            <a:avLst>
              <a:gd name="adj" fmla="val 8571"/>
            </a:avLst>
          </a:prstGeom>
          <a:solidFill>
            <a:srgbClr val="F4F8FC"/>
          </a:solidFill>
          <a:ln w="12700">
            <a:solidFill>
              <a:srgbClr val="D8E4EF"/>
            </a:solidFill>
            <a:prstDash val="solid"/>
          </a:ln>
        </p:spPr>
      </p:sp>
      <p:sp>
        <p:nvSpPr>
          <p:cNvPr id="20" name="Text 18"/>
          <p:cNvSpPr/>
          <p:nvPr/>
        </p:nvSpPr>
        <p:spPr>
          <a:xfrm>
            <a:off x="2441448" y="4210812"/>
            <a:ext cx="1783080" cy="128016"/>
          </a:xfrm>
          <a:prstGeom prst="rect">
            <a:avLst/>
          </a:prstGeom>
          <a:noFill/>
          <a:ln/>
        </p:spPr>
        <p:txBody>
          <a:bodyPr wrap="square" lIns="0" tIns="0" rIns="0" bIns="0" rtlCol="0" anchor="ctr">
            <a:normAutofit fontScale="92500" lnSpcReduction="20000"/>
          </a:bodyPr>
          <a:lstStyle/>
          <a:p>
            <a:pPr marL="0" indent="0" algn="l">
              <a:buNone/>
            </a:pPr>
            <a:r>
              <a:rPr lang="en-US" sz="1040" dirty="0">
                <a:solidFill>
                  <a:srgbClr val="11233A"/>
                </a:solidFill>
                <a:latin typeface="Arial" pitchFamily="34" charset="0"/>
                <a:ea typeface="Arial" pitchFamily="34" charset="-122"/>
                <a:cs typeface="Arial" pitchFamily="34" charset="-120"/>
              </a:rPr>
              <a:t>0.5%</a:t>
            </a:r>
            <a:endParaRPr lang="en-US" sz="1040" dirty="0"/>
          </a:p>
        </p:txBody>
      </p:sp>
      <p:sp>
        <p:nvSpPr>
          <p:cNvPr id="21" name="Shape 19"/>
          <p:cNvSpPr/>
          <p:nvPr/>
        </p:nvSpPr>
        <p:spPr>
          <a:xfrm>
            <a:off x="941832" y="4992624"/>
            <a:ext cx="1508760" cy="393192"/>
          </a:xfrm>
          <a:prstGeom prst="roundRect">
            <a:avLst>
              <a:gd name="adj" fmla="val 11628"/>
            </a:avLst>
          </a:prstGeom>
          <a:solidFill>
            <a:srgbClr val="08A6D6"/>
          </a:solidFill>
          <a:ln w="12700">
            <a:solidFill>
              <a:srgbClr val="08A6D6"/>
            </a:solidFill>
            <a:prstDash val="solid"/>
          </a:ln>
        </p:spPr>
      </p:sp>
      <p:sp>
        <p:nvSpPr>
          <p:cNvPr id="22" name="Text 20"/>
          <p:cNvSpPr/>
          <p:nvPr/>
        </p:nvSpPr>
        <p:spPr>
          <a:xfrm>
            <a:off x="941832" y="5074920"/>
            <a:ext cx="1508760" cy="137160"/>
          </a:xfrm>
          <a:prstGeom prst="rect">
            <a:avLst/>
          </a:prstGeom>
          <a:noFill/>
          <a:ln/>
        </p:spPr>
        <p:txBody>
          <a:bodyPr wrap="square" lIns="0" tIns="0" rIns="0" bIns="0" rtlCol="0" anchor="ctr">
            <a:normAutofit lnSpcReduction="10000"/>
          </a:bodyPr>
          <a:lstStyle/>
          <a:p>
            <a:pPr marL="0" indent="0" algn="ctr">
              <a:buNone/>
            </a:pPr>
            <a:r>
              <a:rPr lang="en-US" sz="950" b="1" dirty="0">
                <a:solidFill>
                  <a:srgbClr val="FFFFFF"/>
                </a:solidFill>
                <a:latin typeface="Arial" pitchFamily="34" charset="0"/>
                <a:ea typeface="Arial" pitchFamily="34" charset="-122"/>
                <a:cs typeface="Arial" pitchFamily="34" charset="-120"/>
              </a:rPr>
              <a:t>Activate recipe</a:t>
            </a:r>
            <a:endParaRPr lang="en-US" sz="950" dirty="0"/>
          </a:p>
        </p:txBody>
      </p:sp>
      <p:sp>
        <p:nvSpPr>
          <p:cNvPr id="23" name="Shape 21"/>
          <p:cNvSpPr/>
          <p:nvPr/>
        </p:nvSpPr>
        <p:spPr>
          <a:xfrm>
            <a:off x="7406640" y="1965960"/>
            <a:ext cx="475488" cy="475488"/>
          </a:xfrm>
          <a:prstGeom prst="ellipse">
            <a:avLst/>
          </a:prstGeom>
          <a:solidFill>
            <a:srgbClr val="08A6D6"/>
          </a:solidFill>
          <a:ln w="12700">
            <a:solidFill>
              <a:srgbClr val="08A6D6"/>
            </a:solidFill>
            <a:prstDash val="solid"/>
          </a:ln>
        </p:spPr>
      </p:sp>
      <p:sp>
        <p:nvSpPr>
          <p:cNvPr id="24" name="Text 22"/>
          <p:cNvSpPr/>
          <p:nvPr/>
        </p:nvSpPr>
        <p:spPr>
          <a:xfrm>
            <a:off x="7406640" y="1975104"/>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1</a:t>
            </a:r>
            <a:endParaRPr lang="en-US" sz="1700" dirty="0"/>
          </a:p>
        </p:txBody>
      </p:sp>
      <p:sp>
        <p:nvSpPr>
          <p:cNvPr id="25" name="Text 23"/>
          <p:cNvSpPr/>
          <p:nvPr/>
        </p:nvSpPr>
        <p:spPr>
          <a:xfrm>
            <a:off x="8101584" y="1984248"/>
            <a:ext cx="1298448" cy="182880"/>
          </a:xfrm>
          <a:prstGeom prst="rect">
            <a:avLst/>
          </a:prstGeom>
          <a:noFill/>
          <a:ln/>
        </p:spPr>
        <p:txBody>
          <a:bodyPr wrap="square" lIns="0" tIns="0" rIns="0" bIns="0" rtlCol="0" anchor="ctr">
            <a:normAutofit fontScale="92500" lnSpcReduction="10000"/>
          </a:bodyPr>
          <a:lstStyle/>
          <a:p>
            <a:pPr marL="0" indent="0" algn="l">
              <a:buNone/>
            </a:pPr>
            <a:r>
              <a:rPr lang="en-US" sz="1450" b="1" dirty="0">
                <a:solidFill>
                  <a:srgbClr val="11233A"/>
                </a:solidFill>
                <a:latin typeface="Arial" pitchFamily="34" charset="0"/>
                <a:ea typeface="Arial" pitchFamily="34" charset="-122"/>
                <a:cs typeface="Arial" pitchFamily="34" charset="-120"/>
              </a:rPr>
              <a:t>Create</a:t>
            </a:r>
            <a:endParaRPr lang="en-US" sz="1450" dirty="0"/>
          </a:p>
        </p:txBody>
      </p:sp>
      <p:sp>
        <p:nvSpPr>
          <p:cNvPr id="26" name="Text 24"/>
          <p:cNvSpPr/>
          <p:nvPr/>
        </p:nvSpPr>
        <p:spPr>
          <a:xfrm>
            <a:off x="8101584" y="2249424"/>
            <a:ext cx="2962656" cy="201168"/>
          </a:xfrm>
          <a:prstGeom prst="rect">
            <a:avLst/>
          </a:prstGeom>
          <a:noFill/>
          <a:ln/>
        </p:spPr>
        <p:txBody>
          <a:bodyPr wrap="square" lIns="0" tIns="0" rIns="0" bIns="0" rtlCol="0" anchor="ctr">
            <a:normAutofit/>
          </a:bodyPr>
          <a:lstStyle/>
          <a:p>
            <a:pPr marL="0" indent="0" algn="l">
              <a:buNone/>
            </a:pPr>
            <a:r>
              <a:rPr lang="en-US" sz="1050" dirty="0">
                <a:solidFill>
                  <a:srgbClr val="60728A"/>
                </a:solidFill>
                <a:latin typeface="Arial" pitchFamily="34" charset="0"/>
                <a:ea typeface="Arial" pitchFamily="34" charset="-122"/>
                <a:cs typeface="Arial" pitchFamily="34" charset="-120"/>
              </a:rPr>
              <a:t>Chọn DCA USDC → EURC.</a:t>
            </a:r>
            <a:endParaRPr lang="en-US" sz="1050" dirty="0"/>
          </a:p>
        </p:txBody>
      </p:sp>
      <p:sp>
        <p:nvSpPr>
          <p:cNvPr id="27" name="Shape 25"/>
          <p:cNvSpPr/>
          <p:nvPr/>
        </p:nvSpPr>
        <p:spPr>
          <a:xfrm>
            <a:off x="7406640" y="2852928"/>
            <a:ext cx="475488" cy="475488"/>
          </a:xfrm>
          <a:prstGeom prst="ellipse">
            <a:avLst/>
          </a:prstGeom>
          <a:solidFill>
            <a:srgbClr val="08A6D6"/>
          </a:solidFill>
          <a:ln w="12700">
            <a:solidFill>
              <a:srgbClr val="08A6D6"/>
            </a:solidFill>
            <a:prstDash val="solid"/>
          </a:ln>
        </p:spPr>
      </p:sp>
      <p:sp>
        <p:nvSpPr>
          <p:cNvPr id="28" name="Text 26"/>
          <p:cNvSpPr/>
          <p:nvPr/>
        </p:nvSpPr>
        <p:spPr>
          <a:xfrm>
            <a:off x="7406640" y="2862072"/>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2</a:t>
            </a:r>
            <a:endParaRPr lang="en-US" sz="1700" dirty="0"/>
          </a:p>
        </p:txBody>
      </p:sp>
      <p:sp>
        <p:nvSpPr>
          <p:cNvPr id="29" name="Text 27"/>
          <p:cNvSpPr/>
          <p:nvPr/>
        </p:nvSpPr>
        <p:spPr>
          <a:xfrm>
            <a:off x="8101584" y="2871216"/>
            <a:ext cx="1298448" cy="182880"/>
          </a:xfrm>
          <a:prstGeom prst="rect">
            <a:avLst/>
          </a:prstGeom>
          <a:noFill/>
          <a:ln/>
        </p:spPr>
        <p:txBody>
          <a:bodyPr wrap="square" lIns="0" tIns="0" rIns="0" bIns="0" rtlCol="0" anchor="ctr">
            <a:normAutofit fontScale="92500" lnSpcReduction="10000"/>
          </a:bodyPr>
          <a:lstStyle/>
          <a:p>
            <a:pPr marL="0" indent="0" algn="l">
              <a:buNone/>
            </a:pPr>
            <a:r>
              <a:rPr lang="en-US" sz="1450" b="1" dirty="0">
                <a:solidFill>
                  <a:srgbClr val="11233A"/>
                </a:solidFill>
                <a:latin typeface="Arial" pitchFamily="34" charset="0"/>
                <a:ea typeface="Arial" pitchFamily="34" charset="-122"/>
                <a:cs typeface="Arial" pitchFamily="34" charset="-120"/>
              </a:rPr>
              <a:t>Schedule</a:t>
            </a:r>
            <a:endParaRPr lang="en-US" sz="1450" dirty="0"/>
          </a:p>
        </p:txBody>
      </p:sp>
      <p:sp>
        <p:nvSpPr>
          <p:cNvPr id="30" name="Text 28"/>
          <p:cNvSpPr/>
          <p:nvPr/>
        </p:nvSpPr>
        <p:spPr>
          <a:xfrm>
            <a:off x="8101584" y="3136392"/>
            <a:ext cx="2962656" cy="201168"/>
          </a:xfrm>
          <a:prstGeom prst="rect">
            <a:avLst/>
          </a:prstGeom>
          <a:noFill/>
          <a:ln/>
        </p:spPr>
        <p:txBody>
          <a:bodyPr wrap="square" lIns="0" tIns="0" rIns="0" bIns="0" rtlCol="0" anchor="ctr">
            <a:normAutofit/>
          </a:bodyPr>
          <a:lstStyle/>
          <a:p>
            <a:pPr marL="0" indent="0" algn="l">
              <a:buNone/>
            </a:pPr>
            <a:r>
              <a:rPr lang="en-US" sz="1050" dirty="0">
                <a:solidFill>
                  <a:srgbClr val="60728A"/>
                </a:solidFill>
                <a:latin typeface="Arial" pitchFamily="34" charset="0"/>
                <a:ea typeface="Arial" pitchFamily="34" charset="-122"/>
                <a:cs typeface="Arial" pitchFamily="34" charset="-120"/>
              </a:rPr>
              <a:t>Đặt số tiền và tần suất.</a:t>
            </a:r>
            <a:endParaRPr lang="en-US" sz="1050" dirty="0"/>
          </a:p>
        </p:txBody>
      </p:sp>
      <p:sp>
        <p:nvSpPr>
          <p:cNvPr id="31" name="Shape 29"/>
          <p:cNvSpPr/>
          <p:nvPr/>
        </p:nvSpPr>
        <p:spPr>
          <a:xfrm>
            <a:off x="7406640" y="3739896"/>
            <a:ext cx="475488" cy="475488"/>
          </a:xfrm>
          <a:prstGeom prst="ellipse">
            <a:avLst/>
          </a:prstGeom>
          <a:solidFill>
            <a:srgbClr val="08A6D6"/>
          </a:solidFill>
          <a:ln w="12700">
            <a:solidFill>
              <a:srgbClr val="08A6D6"/>
            </a:solidFill>
            <a:prstDash val="solid"/>
          </a:ln>
        </p:spPr>
      </p:sp>
      <p:sp>
        <p:nvSpPr>
          <p:cNvPr id="32" name="Text 30"/>
          <p:cNvSpPr/>
          <p:nvPr/>
        </p:nvSpPr>
        <p:spPr>
          <a:xfrm>
            <a:off x="7406640" y="3749040"/>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3</a:t>
            </a:r>
            <a:endParaRPr lang="en-US" sz="1700" dirty="0"/>
          </a:p>
        </p:txBody>
      </p:sp>
      <p:sp>
        <p:nvSpPr>
          <p:cNvPr id="33" name="Text 31"/>
          <p:cNvSpPr/>
          <p:nvPr/>
        </p:nvSpPr>
        <p:spPr>
          <a:xfrm>
            <a:off x="8101584" y="3758184"/>
            <a:ext cx="1298448" cy="182880"/>
          </a:xfrm>
          <a:prstGeom prst="rect">
            <a:avLst/>
          </a:prstGeom>
          <a:noFill/>
          <a:ln/>
        </p:spPr>
        <p:txBody>
          <a:bodyPr wrap="square" lIns="0" tIns="0" rIns="0" bIns="0" rtlCol="0" anchor="ctr">
            <a:normAutofit fontScale="92500" lnSpcReduction="10000"/>
          </a:bodyPr>
          <a:lstStyle/>
          <a:p>
            <a:pPr marL="0" indent="0" algn="l">
              <a:buNone/>
            </a:pPr>
            <a:r>
              <a:rPr lang="en-US" sz="1450" b="1" dirty="0">
                <a:solidFill>
                  <a:srgbClr val="11233A"/>
                </a:solidFill>
                <a:latin typeface="Arial" pitchFamily="34" charset="0"/>
                <a:ea typeface="Arial" pitchFamily="34" charset="-122"/>
                <a:cs typeface="Arial" pitchFamily="34" charset="-120"/>
              </a:rPr>
              <a:t>Protect</a:t>
            </a:r>
            <a:endParaRPr lang="en-US" sz="1450" dirty="0"/>
          </a:p>
        </p:txBody>
      </p:sp>
      <p:sp>
        <p:nvSpPr>
          <p:cNvPr id="34" name="Text 32"/>
          <p:cNvSpPr/>
          <p:nvPr/>
        </p:nvSpPr>
        <p:spPr>
          <a:xfrm>
            <a:off x="8101584" y="4023360"/>
            <a:ext cx="2962656" cy="201168"/>
          </a:xfrm>
          <a:prstGeom prst="rect">
            <a:avLst/>
          </a:prstGeom>
          <a:noFill/>
          <a:ln/>
        </p:spPr>
        <p:txBody>
          <a:bodyPr wrap="square" lIns="0" tIns="0" rIns="0" bIns="0" rtlCol="0" anchor="ctr">
            <a:normAutofit/>
          </a:bodyPr>
          <a:lstStyle/>
          <a:p>
            <a:pPr marL="0" indent="0" algn="l">
              <a:buNone/>
            </a:pPr>
            <a:r>
              <a:rPr lang="en-US" sz="1050" dirty="0">
                <a:solidFill>
                  <a:srgbClr val="60728A"/>
                </a:solidFill>
                <a:latin typeface="Arial" pitchFamily="34" charset="0"/>
                <a:ea typeface="Arial" pitchFamily="34" charset="-122"/>
                <a:cs typeface="Arial" pitchFamily="34" charset="-120"/>
              </a:rPr>
              <a:t>Chọn slippage và spending limit.</a:t>
            </a:r>
            <a:endParaRPr lang="en-US" sz="1050" dirty="0"/>
          </a:p>
        </p:txBody>
      </p:sp>
      <p:sp>
        <p:nvSpPr>
          <p:cNvPr id="35" name="Shape 33"/>
          <p:cNvSpPr/>
          <p:nvPr/>
        </p:nvSpPr>
        <p:spPr>
          <a:xfrm>
            <a:off x="7406640" y="4626864"/>
            <a:ext cx="475488" cy="475488"/>
          </a:xfrm>
          <a:prstGeom prst="ellipse">
            <a:avLst/>
          </a:prstGeom>
          <a:solidFill>
            <a:srgbClr val="19A974"/>
          </a:solidFill>
          <a:ln w="12700">
            <a:solidFill>
              <a:srgbClr val="19A974"/>
            </a:solidFill>
            <a:prstDash val="solid"/>
          </a:ln>
        </p:spPr>
      </p:sp>
      <p:sp>
        <p:nvSpPr>
          <p:cNvPr id="36" name="Text 34"/>
          <p:cNvSpPr/>
          <p:nvPr/>
        </p:nvSpPr>
        <p:spPr>
          <a:xfrm>
            <a:off x="7406640" y="4636008"/>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4</a:t>
            </a:r>
            <a:endParaRPr lang="en-US" sz="1700" dirty="0"/>
          </a:p>
        </p:txBody>
      </p:sp>
      <p:sp>
        <p:nvSpPr>
          <p:cNvPr id="37" name="Text 35"/>
          <p:cNvSpPr/>
          <p:nvPr/>
        </p:nvSpPr>
        <p:spPr>
          <a:xfrm>
            <a:off x="8101584" y="4645152"/>
            <a:ext cx="1298448" cy="182880"/>
          </a:xfrm>
          <a:prstGeom prst="rect">
            <a:avLst/>
          </a:prstGeom>
          <a:noFill/>
          <a:ln/>
        </p:spPr>
        <p:txBody>
          <a:bodyPr wrap="square" lIns="0" tIns="0" rIns="0" bIns="0" rtlCol="0" anchor="ctr">
            <a:normAutofit fontScale="92500" lnSpcReduction="10000"/>
          </a:bodyPr>
          <a:lstStyle/>
          <a:p>
            <a:pPr marL="0" indent="0" algn="l">
              <a:buNone/>
            </a:pPr>
            <a:r>
              <a:rPr lang="en-US" sz="1450" b="1" dirty="0">
                <a:solidFill>
                  <a:srgbClr val="11233A"/>
                </a:solidFill>
                <a:latin typeface="Arial" pitchFamily="34" charset="0"/>
                <a:ea typeface="Arial" pitchFamily="34" charset="-122"/>
                <a:cs typeface="Arial" pitchFamily="34" charset="-120"/>
              </a:rPr>
              <a:t>Activate</a:t>
            </a:r>
            <a:endParaRPr lang="en-US" sz="1450" dirty="0"/>
          </a:p>
        </p:txBody>
      </p:sp>
      <p:sp>
        <p:nvSpPr>
          <p:cNvPr id="38" name="Text 36"/>
          <p:cNvSpPr/>
          <p:nvPr/>
        </p:nvSpPr>
        <p:spPr>
          <a:xfrm>
            <a:off x="8101584" y="4910328"/>
            <a:ext cx="2962656" cy="201168"/>
          </a:xfrm>
          <a:prstGeom prst="rect">
            <a:avLst/>
          </a:prstGeom>
          <a:noFill/>
          <a:ln/>
        </p:spPr>
        <p:txBody>
          <a:bodyPr wrap="square" lIns="0" tIns="0" rIns="0" bIns="0" rtlCol="0" anchor="ctr">
            <a:normAutofit/>
          </a:bodyPr>
          <a:lstStyle/>
          <a:p>
            <a:pPr marL="0" indent="0" algn="l">
              <a:buNone/>
            </a:pPr>
            <a:r>
              <a:rPr lang="en-US" sz="1050" dirty="0">
                <a:solidFill>
                  <a:srgbClr val="60728A"/>
                </a:solidFill>
                <a:latin typeface="Arial" pitchFamily="34" charset="0"/>
                <a:ea typeface="Arial" pitchFamily="34" charset="-122"/>
                <a:cs typeface="Arial" pitchFamily="34" charset="-120"/>
              </a:rPr>
              <a:t>Xác nhận rồi xem execution history.</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81B33"/>
        </a:solidFill>
        <a:effectLst/>
      </p:bgPr>
    </p:bg>
    <p:spTree>
      <p:nvGrpSpPr>
        <p:cNvPr id="1" name=""/>
        <p:cNvGrpSpPr/>
        <p:nvPr/>
      </p:nvGrpSpPr>
      <p:grpSpPr>
        <a:xfrm>
          <a:off x="0" y="0"/>
          <a:ext cx="0" cy="0"/>
          <a:chOff x="0" y="0"/>
          <a:chExt cx="0" cy="0"/>
        </a:xfrm>
      </p:grpSpPr>
      <p:sp>
        <p:nvSpPr>
          <p:cNvPr id="2" name="Shape 0"/>
          <p:cNvSpPr/>
          <p:nvPr/>
        </p:nvSpPr>
        <p:spPr>
          <a:xfrm>
            <a:off x="6949440" y="-868680"/>
            <a:ext cx="5669280" cy="5669280"/>
          </a:xfrm>
          <a:prstGeom prst="arc">
            <a:avLst/>
          </a:prstGeom>
          <a:solidFill>
            <a:srgbClr val="081B33">
              <a:alpha val="0"/>
            </a:srgbClr>
          </a:solidFill>
          <a:ln w="31750">
            <a:solidFill>
              <a:srgbClr val="08A6D6">
                <a:alpha val="84000"/>
              </a:srgbClr>
            </a:solidFill>
            <a:prstDash val="solid"/>
          </a:ln>
        </p:spPr>
      </p:sp>
      <p:sp>
        <p:nvSpPr>
          <p:cNvPr id="3" name="Shape 1"/>
          <p:cNvSpPr/>
          <p:nvPr/>
        </p:nvSpPr>
        <p:spPr>
          <a:xfrm>
            <a:off x="8001000" y="1097280"/>
            <a:ext cx="3703320" cy="3703320"/>
          </a:xfrm>
          <a:prstGeom prst="arc">
            <a:avLst/>
          </a:prstGeom>
          <a:solidFill>
            <a:srgbClr val="081B33">
              <a:alpha val="0"/>
            </a:srgbClr>
          </a:solidFill>
          <a:ln w="15240">
            <a:solidFill>
              <a:srgbClr val="19A974">
                <a:alpha val="55000"/>
              </a:srgbClr>
            </a:solidFill>
            <a:prstDash val="solid"/>
          </a:ln>
        </p:spPr>
      </p:sp>
      <p:sp>
        <p:nvSpPr>
          <p:cNvPr id="4" name="Shape 2"/>
          <p:cNvSpPr/>
          <p:nvPr/>
        </p:nvSpPr>
        <p:spPr>
          <a:xfrm>
            <a:off x="731520" y="777240"/>
            <a:ext cx="1051560" cy="310896"/>
          </a:xfrm>
          <a:prstGeom prst="roundRect">
            <a:avLst>
              <a:gd name="adj" fmla="val 23529"/>
            </a:avLst>
          </a:prstGeom>
          <a:solidFill>
            <a:srgbClr val="103E62"/>
          </a:solidFill>
          <a:ln w="12700">
            <a:solidFill>
              <a:srgbClr val="103E62"/>
            </a:solidFill>
            <a:prstDash val="solid"/>
          </a:ln>
        </p:spPr>
      </p:sp>
      <p:sp>
        <p:nvSpPr>
          <p:cNvPr id="5" name="Text 3"/>
          <p:cNvSpPr/>
          <p:nvPr/>
        </p:nvSpPr>
        <p:spPr>
          <a:xfrm>
            <a:off x="731520" y="795528"/>
            <a:ext cx="1051560" cy="228600"/>
          </a:xfrm>
          <a:prstGeom prst="rect">
            <a:avLst/>
          </a:prstGeom>
          <a:noFill/>
          <a:ln/>
        </p:spPr>
        <p:txBody>
          <a:bodyPr wrap="square" lIns="0" tIns="0" rIns="0" bIns="0" rtlCol="0" anchor="ctr">
            <a:normAutofit/>
          </a:bodyPr>
          <a:lstStyle/>
          <a:p>
            <a:pPr marL="0" indent="0" algn="ctr">
              <a:buNone/>
            </a:pPr>
            <a:r>
              <a:rPr lang="en-US" sz="850" b="1" dirty="0">
                <a:solidFill>
                  <a:srgbClr val="7CE4FF"/>
                </a:solidFill>
                <a:latin typeface="Arial" pitchFamily="34" charset="0"/>
                <a:ea typeface="Arial" pitchFamily="34" charset="-122"/>
                <a:cs typeface="Arial" pitchFamily="34" charset="-120"/>
              </a:rPr>
              <a:t>ARC TESTNET</a:t>
            </a:r>
            <a:endParaRPr lang="en-US" sz="850" dirty="0"/>
          </a:p>
        </p:txBody>
      </p:sp>
      <p:sp>
        <p:nvSpPr>
          <p:cNvPr id="6" name="Text 4"/>
          <p:cNvSpPr/>
          <p:nvPr/>
        </p:nvSpPr>
        <p:spPr>
          <a:xfrm>
            <a:off x="713232" y="1444752"/>
            <a:ext cx="5715000" cy="1051560"/>
          </a:xfrm>
          <a:prstGeom prst="rect">
            <a:avLst/>
          </a:prstGeom>
          <a:noFill/>
          <a:ln/>
        </p:spPr>
        <p:txBody>
          <a:bodyPr wrap="square" lIns="0" tIns="0" rIns="0" bIns="0" rtlCol="0" anchor="ctr">
            <a:normAutofit/>
          </a:bodyPr>
          <a:lstStyle/>
          <a:p>
            <a:pPr marL="0" indent="0" algn="l">
              <a:buNone/>
            </a:pPr>
            <a:r>
              <a:rPr lang="en-US" sz="3400" b="1" dirty="0">
                <a:solidFill>
                  <a:srgbClr val="FFFFFF"/>
                </a:solidFill>
                <a:latin typeface="Arial" pitchFamily="34" charset="0"/>
                <a:ea typeface="Arial" pitchFamily="34" charset="-122"/>
                <a:cs typeface="Arial" pitchFamily="34" charset="-120"/>
              </a:rPr>
              <a:t>Bắt đầu với</a:t>
            </a:r>
            <a:endParaRPr lang="en-US" sz="3400" dirty="0"/>
          </a:p>
          <a:p>
            <a:pPr marL="0" indent="0" algn="l">
              <a:buNone/>
            </a:pPr>
            <a:r>
              <a:rPr lang="en-US" sz="3400" b="1" dirty="0">
                <a:solidFill>
                  <a:srgbClr val="FFFFFF"/>
                </a:solidFill>
                <a:latin typeface="Arial" pitchFamily="34" charset="0"/>
                <a:ea typeface="Arial" pitchFamily="34" charset="-122"/>
                <a:cs typeface="Arial" pitchFamily="34" charset="-120"/>
              </a:rPr>
              <a:t>recipe đầu tiên.</a:t>
            </a:r>
            <a:endParaRPr lang="en-US" sz="3400" dirty="0"/>
          </a:p>
        </p:txBody>
      </p:sp>
      <p:sp>
        <p:nvSpPr>
          <p:cNvPr id="7" name="Text 5"/>
          <p:cNvSpPr/>
          <p:nvPr/>
        </p:nvSpPr>
        <p:spPr>
          <a:xfrm>
            <a:off x="749808" y="2788920"/>
            <a:ext cx="4937760" cy="512064"/>
          </a:xfrm>
          <a:prstGeom prst="rect">
            <a:avLst/>
          </a:prstGeom>
          <a:noFill/>
          <a:ln/>
        </p:spPr>
        <p:txBody>
          <a:bodyPr wrap="square" lIns="0" tIns="0" rIns="0" bIns="0" rtlCol="0" anchor="ctr">
            <a:normAutofit/>
          </a:bodyPr>
          <a:lstStyle/>
          <a:p>
            <a:pPr marL="0" indent="0" algn="l">
              <a:buNone/>
            </a:pPr>
            <a:r>
              <a:rPr lang="en-US" sz="1500" dirty="0">
                <a:solidFill>
                  <a:srgbClr val="B6D4E8"/>
                </a:solidFill>
                <a:latin typeface="Arial" pitchFamily="34" charset="0"/>
                <a:ea typeface="Arial" pitchFamily="34" charset="-122"/>
                <a:cs typeface="Arial" pitchFamily="34" charset="-120"/>
              </a:rPr>
              <a:t>Kết nối ví, đặt quy tắc của bạn và để automation thực hiện phần còn lại.</a:t>
            </a:r>
            <a:endParaRPr lang="en-US" sz="1500" dirty="0"/>
          </a:p>
        </p:txBody>
      </p:sp>
      <p:sp>
        <p:nvSpPr>
          <p:cNvPr id="8" name="Shape 6"/>
          <p:cNvSpPr/>
          <p:nvPr/>
        </p:nvSpPr>
        <p:spPr>
          <a:xfrm>
            <a:off x="749808" y="3858768"/>
            <a:ext cx="1828800" cy="521208"/>
          </a:xfrm>
          <a:prstGeom prst="roundRect">
            <a:avLst>
              <a:gd name="adj" fmla="val 12281"/>
            </a:avLst>
          </a:prstGeom>
          <a:solidFill>
            <a:srgbClr val="08A6D6"/>
          </a:solidFill>
          <a:ln w="12700">
            <a:solidFill>
              <a:srgbClr val="08A6D6"/>
            </a:solidFill>
            <a:prstDash val="solid"/>
          </a:ln>
        </p:spPr>
      </p:sp>
      <p:sp>
        <p:nvSpPr>
          <p:cNvPr id="9" name="Text 7"/>
          <p:cNvSpPr/>
          <p:nvPr/>
        </p:nvSpPr>
        <p:spPr>
          <a:xfrm>
            <a:off x="749808" y="3986784"/>
            <a:ext cx="1828800" cy="173736"/>
          </a:xfrm>
          <a:prstGeom prst="rect">
            <a:avLst/>
          </a:prstGeom>
          <a:noFill/>
          <a:ln/>
        </p:spPr>
        <p:txBody>
          <a:bodyPr wrap="square" lIns="0" tIns="0" rIns="0" bIns="0" rtlCol="0" anchor="ctr">
            <a:normAutofit lnSpcReduction="10000"/>
          </a:bodyPr>
          <a:lstStyle/>
          <a:p>
            <a:pPr marL="0" indent="0" algn="ctr">
              <a:buNone/>
            </a:pPr>
            <a:r>
              <a:rPr lang="en-US" sz="1200" b="1" dirty="0">
                <a:solidFill>
                  <a:srgbClr val="FFFFFF"/>
                </a:solidFill>
                <a:latin typeface="Arial" pitchFamily="34" charset="0"/>
                <a:ea typeface="Arial" pitchFamily="34" charset="-122"/>
                <a:cs typeface="Arial" pitchFamily="34" charset="-120"/>
              </a:rPr>
              <a:t>Try the demo</a:t>
            </a:r>
            <a:endParaRPr lang="en-US" sz="1200" dirty="0"/>
          </a:p>
        </p:txBody>
      </p:sp>
      <p:sp>
        <p:nvSpPr>
          <p:cNvPr id="10" name="Text 8"/>
          <p:cNvSpPr/>
          <p:nvPr/>
        </p:nvSpPr>
        <p:spPr>
          <a:xfrm>
            <a:off x="749808" y="4892040"/>
            <a:ext cx="4480560" cy="201168"/>
          </a:xfrm>
          <a:prstGeom prst="rect">
            <a:avLst/>
          </a:prstGeom>
          <a:noFill/>
          <a:ln/>
        </p:spPr>
        <p:txBody>
          <a:bodyPr wrap="square" lIns="0" tIns="0" rIns="0" bIns="0" rtlCol="0" anchor="ctr">
            <a:normAutofit/>
          </a:bodyPr>
          <a:lstStyle/>
          <a:p>
            <a:pPr marL="0" indent="0" algn="l">
              <a:buNone/>
            </a:pPr>
            <a:r>
              <a:rPr lang="en-US" sz="1150" b="1" dirty="0">
                <a:solidFill>
                  <a:srgbClr val="B6D4E8"/>
                </a:solidFill>
                <a:latin typeface="Arial" pitchFamily="34" charset="0"/>
                <a:ea typeface="Arial" pitchFamily="34" charset="-122"/>
                <a:cs typeface="Arial" pitchFamily="34" charset="-120"/>
              </a:rPr>
              <a:t>Connect wallet  →  Create recipe  →  Activate</a:t>
            </a:r>
            <a:endParaRPr lang="en-US" sz="1150" dirty="0"/>
          </a:p>
        </p:txBody>
      </p:sp>
      <p:sp>
        <p:nvSpPr>
          <p:cNvPr id="11" name="Shape 9"/>
          <p:cNvSpPr/>
          <p:nvPr/>
        </p:nvSpPr>
        <p:spPr>
          <a:xfrm>
            <a:off x="6720840" y="1600200"/>
            <a:ext cx="4114800" cy="3493008"/>
          </a:xfrm>
          <a:prstGeom prst="roundRect">
            <a:avLst>
              <a:gd name="adj" fmla="val 2618"/>
            </a:avLst>
          </a:prstGeom>
          <a:solidFill>
            <a:srgbClr val="FFFFFF"/>
          </a:solidFill>
          <a:ln w="12700">
            <a:solidFill>
              <a:srgbClr val="FFFFFF"/>
            </a:solidFill>
            <a:prstDash val="solid"/>
          </a:ln>
        </p:spPr>
      </p:sp>
      <p:sp>
        <p:nvSpPr>
          <p:cNvPr id="12" name="Text 10"/>
          <p:cNvSpPr/>
          <p:nvPr/>
        </p:nvSpPr>
        <p:spPr>
          <a:xfrm>
            <a:off x="7095744" y="1993392"/>
            <a:ext cx="3108960" cy="274320"/>
          </a:xfrm>
          <a:prstGeom prst="rect">
            <a:avLst/>
          </a:prstGeom>
          <a:noFill/>
          <a:ln/>
        </p:spPr>
        <p:txBody>
          <a:bodyPr wrap="square" lIns="0" tIns="0" rIns="0" bIns="0" rtlCol="0" anchor="ctr">
            <a:normAutofit lnSpcReduction="10000"/>
          </a:bodyPr>
          <a:lstStyle/>
          <a:p>
            <a:pPr marL="0" indent="0" algn="ctr">
              <a:buNone/>
            </a:pPr>
            <a:r>
              <a:rPr lang="en-US" sz="1900" b="1" dirty="0">
                <a:solidFill>
                  <a:srgbClr val="081B33"/>
                </a:solidFill>
                <a:latin typeface="Arial" pitchFamily="34" charset="0"/>
                <a:ea typeface="Arial" pitchFamily="34" charset="-122"/>
                <a:cs typeface="Arial" pitchFamily="34" charset="-120"/>
              </a:rPr>
              <a:t>Ready to automate?</a:t>
            </a:r>
            <a:endParaRPr lang="en-US" sz="1900" dirty="0"/>
          </a:p>
        </p:txBody>
      </p:sp>
      <p:sp>
        <p:nvSpPr>
          <p:cNvPr id="13" name="Shape 11"/>
          <p:cNvSpPr/>
          <p:nvPr/>
        </p:nvSpPr>
        <p:spPr>
          <a:xfrm>
            <a:off x="8503920" y="2679192"/>
            <a:ext cx="475488" cy="475488"/>
          </a:xfrm>
          <a:prstGeom prst="ellipse">
            <a:avLst/>
          </a:prstGeom>
          <a:solidFill>
            <a:srgbClr val="19A974"/>
          </a:solidFill>
          <a:ln w="12700">
            <a:solidFill>
              <a:srgbClr val="19A974"/>
            </a:solidFill>
            <a:prstDash val="solid"/>
          </a:ln>
        </p:spPr>
      </p:sp>
      <p:sp>
        <p:nvSpPr>
          <p:cNvPr id="14" name="Text 12"/>
          <p:cNvSpPr/>
          <p:nvPr/>
        </p:nvSpPr>
        <p:spPr>
          <a:xfrm>
            <a:off x="8503920" y="2688336"/>
            <a:ext cx="475488" cy="402336"/>
          </a:xfrm>
          <a:prstGeom prst="rect">
            <a:avLst/>
          </a:prstGeom>
          <a:noFill/>
          <a:ln/>
        </p:spPr>
        <p:txBody>
          <a:bodyPr wrap="square" lIns="0" tIns="0" rIns="0" bIns="0" rtlCol="0" anchor="ctr">
            <a:normAutofit/>
          </a:bodyPr>
          <a:lstStyle/>
          <a:p>
            <a:pPr marL="0" indent="0" algn="ctr">
              <a:buNone/>
            </a:pPr>
            <a:r>
              <a:rPr lang="en-US" sz="1700" b="1" dirty="0">
                <a:solidFill>
                  <a:srgbClr val="FFFFFF"/>
                </a:solidFill>
                <a:latin typeface="Arial" pitchFamily="34" charset="0"/>
                <a:ea typeface="Arial" pitchFamily="34" charset="-122"/>
                <a:cs typeface="Arial" pitchFamily="34" charset="-120"/>
              </a:rPr>
              <a:t>✓</a:t>
            </a:r>
            <a:endParaRPr lang="en-US" sz="1700" dirty="0"/>
          </a:p>
        </p:txBody>
      </p:sp>
      <p:sp>
        <p:nvSpPr>
          <p:cNvPr id="15" name="Text 13"/>
          <p:cNvSpPr/>
          <p:nvPr/>
        </p:nvSpPr>
        <p:spPr>
          <a:xfrm>
            <a:off x="7479792" y="3401568"/>
            <a:ext cx="2560320" cy="182880"/>
          </a:xfrm>
          <a:prstGeom prst="rect">
            <a:avLst/>
          </a:prstGeom>
          <a:noFill/>
          <a:ln/>
        </p:spPr>
        <p:txBody>
          <a:bodyPr wrap="square" lIns="0" tIns="0" rIns="0" bIns="0" rtlCol="0" anchor="ctr">
            <a:normAutofit lnSpcReduction="10000"/>
          </a:bodyPr>
          <a:lstStyle/>
          <a:p>
            <a:pPr marL="0" indent="0" algn="ctr">
              <a:buNone/>
            </a:pPr>
            <a:r>
              <a:rPr lang="en-US" sz="1250" b="1" dirty="0">
                <a:solidFill>
                  <a:srgbClr val="081B33"/>
                </a:solidFill>
                <a:latin typeface="Arial" pitchFamily="34" charset="0"/>
                <a:ea typeface="Arial" pitchFamily="34" charset="-122"/>
                <a:cs typeface="Arial" pitchFamily="34" charset="-120"/>
              </a:rPr>
              <a:t>Wallet connected</a:t>
            </a:r>
            <a:endParaRPr lang="en-US" sz="1250" dirty="0"/>
          </a:p>
        </p:txBody>
      </p:sp>
      <p:sp>
        <p:nvSpPr>
          <p:cNvPr id="16" name="Shape 14"/>
          <p:cNvSpPr/>
          <p:nvPr/>
        </p:nvSpPr>
        <p:spPr>
          <a:xfrm>
            <a:off x="7991856" y="3813048"/>
            <a:ext cx="1508760" cy="310896"/>
          </a:xfrm>
          <a:prstGeom prst="roundRect">
            <a:avLst>
              <a:gd name="adj" fmla="val 23529"/>
            </a:avLst>
          </a:prstGeom>
          <a:solidFill>
            <a:srgbClr val="DDF6FC"/>
          </a:solidFill>
          <a:ln w="12700">
            <a:solidFill>
              <a:srgbClr val="DDF6FC"/>
            </a:solidFill>
            <a:prstDash val="solid"/>
          </a:ln>
        </p:spPr>
      </p:sp>
      <p:sp>
        <p:nvSpPr>
          <p:cNvPr id="17" name="Text 15"/>
          <p:cNvSpPr/>
          <p:nvPr/>
        </p:nvSpPr>
        <p:spPr>
          <a:xfrm>
            <a:off x="7991856" y="3831336"/>
            <a:ext cx="1508760" cy="228600"/>
          </a:xfrm>
          <a:prstGeom prst="rect">
            <a:avLst/>
          </a:prstGeom>
          <a:noFill/>
          <a:ln/>
        </p:spPr>
        <p:txBody>
          <a:bodyPr wrap="square" lIns="0" tIns="0" rIns="0" bIns="0" rtlCol="0" anchor="ctr">
            <a:normAutofit/>
          </a:bodyPr>
          <a:lstStyle/>
          <a:p>
            <a:pPr marL="0" indent="0" algn="ctr">
              <a:buNone/>
            </a:pPr>
            <a:r>
              <a:rPr lang="en-US" sz="850" b="1" dirty="0">
                <a:solidFill>
                  <a:srgbClr val="08A6D6"/>
                </a:solidFill>
                <a:latin typeface="Arial" pitchFamily="34" charset="0"/>
                <a:ea typeface="Arial" pitchFamily="34" charset="-122"/>
                <a:cs typeface="Arial" pitchFamily="34" charset="-120"/>
              </a:rPr>
              <a:t>Arc Testnet</a:t>
            </a:r>
            <a:endParaRPr lang="en-US" sz="850" dirty="0"/>
          </a:p>
        </p:txBody>
      </p:sp>
      <p:sp>
        <p:nvSpPr>
          <p:cNvPr id="18" name="Text 16"/>
          <p:cNvSpPr/>
          <p:nvPr/>
        </p:nvSpPr>
        <p:spPr>
          <a:xfrm>
            <a:off x="7406640" y="4434840"/>
            <a:ext cx="2788920" cy="164592"/>
          </a:xfrm>
          <a:prstGeom prst="rect">
            <a:avLst/>
          </a:prstGeom>
          <a:noFill/>
          <a:ln/>
        </p:spPr>
        <p:txBody>
          <a:bodyPr wrap="square" lIns="0" tIns="0" rIns="0" bIns="0" rtlCol="0" anchor="ctr">
            <a:normAutofit/>
          </a:bodyPr>
          <a:lstStyle/>
          <a:p>
            <a:pPr marL="0" indent="0" algn="ctr">
              <a:buNone/>
            </a:pPr>
            <a:r>
              <a:rPr lang="en-US" sz="1050" dirty="0">
                <a:solidFill>
                  <a:srgbClr val="60728A"/>
                </a:solidFill>
                <a:latin typeface="Arial" pitchFamily="34" charset="0"/>
                <a:ea typeface="Arial" pitchFamily="34" charset="-122"/>
                <a:cs typeface="Arial" pitchFamily="34" charset="-120"/>
              </a:rPr>
              <a:t>Your strategy. Your rules.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TotalTime>
  <Words>1018</Words>
  <Application>Microsoft Office PowerPoint</Application>
  <PresentationFormat>Widescreen</PresentationFormat>
  <Paragraphs>153</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DeFi Recipes on Arc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DeFi Recipes on Arc - Product Demo</dc:title>
  <dc:subject>Product demo</dc:subject>
  <dc:creator>DeFi Recipes on Arc</dc:creator>
  <cp:lastModifiedBy>Tuy LV</cp:lastModifiedBy>
  <cp:revision>3</cp:revision>
  <dcterms:created xsi:type="dcterms:W3CDTF">2026-09-09T09:41:08Z</dcterms:created>
  <dcterms:modified xsi:type="dcterms:W3CDTF">2026-09-09T09:49:14Z</dcterms:modified>
</cp:coreProperties>
</file>