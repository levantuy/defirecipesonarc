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1580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00:00–01:00.,### Slide 1. DeFi Recipes on Arc
**Thời gian:** 00:00–01:00.
**Trình chiếu:** Tên dự án; dòng thông điệp “Tự động hóa DeFi, giữ quyền kiểm soát”; nhãn Arc Testnet.
**Lời thoại:**
Xin chào mọi người. Hôm nay, tôi muốn giới thiệu DeFi Recipes on Arc, một dự án giúp tự động hóa các thao tác DeFi lặp lại trên Arc.
Ý tưởng xuất phát từ một câu hỏi rất thực tế: nếu chúng ta đã biết mình muốn thực hiện một chiến lược đều đặn, tại sao vẫn phải mở ví và làm lại cùng một chuỗi thao tác mỗi lần?
Nhưng khi giao công việc cho một hệ thống tự động, câu hỏi tiếp theo còn quan trọng hơn: hệ thống đó được phép làm gì, được dùng bao nhiêu tài sản, và người dùng có thể dừng nó bằng cách nào?
DeFi Recipes được xây dựng để giải quyết đồng thời hai vấn đề đó: giảm thao tác thủ công và làm rõ giới hạn thực thi.
Trong bài hôm nay, tôi sẽ giới thiệu bài toán, hai recipe cốt lõi, cơ chế kiểm soát quyền và một luồng demo DCA. Toàn bộ phần minh họa nằm trên Arc Testnet; đây là dự án cộng đồng độc lập, không phải sản phẩm chính thức của Arc hay Circle.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01:00–02:30.,### Slide 2. Chiến lược đơn giản, thao tác vẫn lặp lại
**Thời gian:** 01:00–02:30.
**Trình chiếu:** Ba nhóm vấn đề: nhớ lịch; thao tác nhiều bước; khó theo dõi và kiểm soát quyền.
**Lời thoại:**
Hãy lấy một ví dụ đơn giản. Một người dùng muốn định kỳ đổi một phần USDC sang EURC. Chiến lược không phức tạp: chọn số tiền, chọn chu kỳ và thực hiện đều đặn.
Tuy vậy, mỗi lần thực hiện, người dùng vẫn phải nhớ lịch, kiểm tra số dư, mở ứng dụng, xem báo giá, kiểm tra mức trượt giá rồi xác nhận giao dịch. Nếu bận hoặc quên, chiến lược bị gián đoạn. Nếu làm vội, họ có thể bỏ qua những thông tin quan trọng.
Với một vị thế sinh lợi, công việc cũng lặp lại: kiểm tra phần thưởng, nhận thưởng và cân nhắc tái đầu tư. Giá trị của chiến lược không chỉ nằm ở việc chọn đúng sản phẩm, mà còn nằm ở khả năng duy trì quy trình qua thời gian.
Cách xử lý quen thuộc là dùng bot. Nhưng một bot không tự nhiên trở nên đáng tin chỉ vì nó chạy tự động. Nếu bot có quá nhiều quyền, hoặc gọi sai hợp đồng, tự động hóa có thể khiến sai sót diễn ra nhanh hơn.
Vì vậy, bài toán của chúng tôi không phải xây một hệ thống được phép làm mọi thứ thay người dùng. Chúng tôi muốn đóng gói các công việc cụ thể thành quy trình có thể cấu hình, có điều kiện kiểm tra và có lịch sử để đối chiếu.
Điểm bắt đầu là những nhu cầu nhỏ nhưng rõ ràng: mua định kỳ và xử lý phần thưởng. Làm tốt các quy trình này trước sẽ có giá trị hơn việc đưa ra quá nhiều chiến lược khi nền tảng thực thi chưa đủ vững.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02:30–03:45.,### Slide 3. Vì sao chọn Arc?
**Thời gian:** 02:30–03:45.
**Trình chiếu:** USDC làm gas; chi phí dễ lập kế hoạch; finality nhanh; tương thích EVM.
**Lời thoại:**
Arc phù hợp với hướng đi này trước hết vì USDC là tài sản trả phí gas. Với một ứng dụng lấy stablecoin làm trung tâm, người dùng không phải chuẩn bị thêm một loại native token khác chỉ để chi trả phí trên Arc.
Điều đó cũng làm cách giải thích sản phẩm đơn giản hơn: ngân sách chiến lược và chi phí thực thi có thể cùng được nhìn bằng USDC. Với các thao tác định kỳ có quy mô nhỏ, khả năng dự đoán chi phí là một yếu tố quan trọng.
Arc có finality nhanh, ở mức dưới một giây theo đặc tính của mạng. Tuy nhiên, thời gian người dùng nhìn thấy một lượt chạy hoàn tất còn phụ thuộc vào RPC, hàng đợi, ví và dịch vụ bên ngoài. Chúng tôi không đồng nhất tốc độ của blockchain với tốc độ toàn bộ ứng dụng.
Một lợi thế khác là khả năng tương thích EVM. Dự án có thể sử dụng Solidity và Foundry cho hợp đồng, Viem và Wagmi cho giao tiếp blockchain, cùng Next.js cho giao diện.
Cần lưu ý thêm: USDC dùng cho gas và USDC qua giao diện ERC-20 trên Arc là hai cách truy cập cùng một tài sản, không phải hai khoản tiền để cộng lại. Trong các cấu hình số tiền của recipe, dự án sử dụng đơn vị ERC-20 với sáu chữ số thập phân.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03:45–05:00.,### Slide 4. Recipe là gì?
**Thời gian:** 03:45–05:00.
**Trình chiếu:** “Hành động + lịch chạy + ngân sách + giới hạn + theo dõi”; hai recipe cốt lõi.
**Lời thoại:**
Trong dự án, một recipe là một quy trình DeFi đã được định nghĩa trước. Người dùng không phải tự viết mã hay ghép từng lời gọi hợp đồng. Họ chọn quy trình phù hợp, cấu hình các tham số và xem lại quyền cần cấp.
Có thể hiểu recipe qua năm câu hỏi: làm việc gì, khi nào làm, dùng bao nhiêu, giới hạn ra sao và xem kết quả ở đâu.
Ví dụ, với DCA, câu trả lời có thể là: đổi USDC sang EURC, mỗi ngày một lần, mỗi lần năm USDC, trong tổng ngân sách năm mươi USDC, với ngưỡng trượt giá đã chọn.
MVP tập trung vào hai recipe: USDC sang EURC định kỳ, và hướng tự động hóa phần thưởng cho vị thế USDC. Việc giới hạn phạm vi này là chủ đích. Mỗi quy trình bổ sung đều kéo theo thêm cách gọi hợp đồng, điều kiện kiểm tra và tình huống lỗi cần xử lý.
Chúng tôi chưa đặt marketplace mở hay trình kéo thả chiến lược vào trọng tâm của MVP. Ưu tiên hiện tại là làm rõ luồng thực thi, quyền hạn và khả năng vận hành.
Giá trị của một recipe vì thế không chỉ là chiếc nút kích hoạt. Đó là việc biến một ý định của người dùng thành một cấu hình mà giao diện, keeper và hợp đồng cùng có thể xử lý.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05:00–06:30.,### Slide 5. DCA USDC sang EURC theo ngân sách
**Thời gian:** 05:00–06:30.
**Trình chiếu:** Tổng ngân sách 50 USDC; mỗi lượt 5 USDC; chu kỳ 24 giờ; tối đa 10 lượt theo ngân sách. Đây là cấu hình minh họa, không phải khuyến nghị đầu tư.
**Lời thoại:**
Recipe đầu tiên tôi muốn đi sâu là DCA từ USDC sang EURC. Người dùng đặt tổng ngân sách và số tiền cho mỗi lần thực hiện, thay vì chỉ đưa ra một lệnh swap riêng lẻ.
Trong ví dụ này, tổng ngân sách là năm mươi USDC, mỗi lần dùng năm USDC. Về mặt ngân sách, cấu hình tương ứng với tối đa mười lượt. Người dùng có thể chọn chu kỳ hằng ngày, hằng tuần hoặc một khoảng giờ phù hợp trong phạm vi giao diện cho phép.
Cách thực thi hiện tại là lấy tiền từ ví theo từng lượt, hay pull-per-run. Nghĩa là ngân sách được cấu hình không đồng nghĩa toàn bộ số tiền đã được chuyển vào hệ thống ngay lúc kích hoạt. Nhưng người dùng vẫn cần cấp allowance phù hợp và duy trì số dư để các lượt tiếp theo có thể chạy.
Khi đến hạn, keeper kiểm tra trạng thái recipe và ngân sách còn lại, lấy phương án swap, rồi kiểm tra các điều kiện cần thiết trước khi gửi giao dịch. Nếu không đủ số dư hoặc không có route phù hợp, lượt chạy có thể bị bỏ qua; lịch đã đến không phải là bảo đảm giao dịch sẽ thành công.
Phần định tuyến có nhiều phương án tích hợp như App Kit, LI.FI và Curve Direct. Route thực tế phụ thuộc cấu hình runtime của keeper. Một lựa chọn xuất hiện trên giao diện chưa đủ để kết luận backend đang dùng chính lựa chọn đó.
Điều chúng tôi muốn mang lại là khả năng thực thi một kế hoạch định kỳ có giới hạn. DCA không bảo đảm lợi nhuận, còn EURC và USDC vẫn là hai tài sản cần được người dùng tự đánh giá theo mục tiêu của mình.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06:30–08:00.,### Slide 6. Auto-Compounder: mục tiêu và hiện trạng
**Thời gian:** 06:30–08:00.
**Trình chiếu:** Hai cột: “Mục tiêu: nhận thưởng → đổi về USDC → tái gửi” và “Nhánh keeper hiện đọc được: kiểm tra reward → claimRewardsForUser”.
**Lời thoại:**
Recipe thứ hai là USDC Yield Auto-Compounder. Theo thiết kế sản phẩm, mục tiêu là tự động nhận phần thưởng, đổi về USDC nếu cần, sau đó tái đầu tư vào vị thế sinh lợi.
Đây là một nhu cầu dễ hiểu: nếu người dùng phải liên tục quay lại xử lý những khoản thưởng nhỏ, thao tác thủ công có thể trở thành chi phí về thời gian và sự chú ý.
Tuy nhiên, tôi muốn phân biệt rõ mục tiêu thiết kế với những gì đã thấy trong mã nguồn hiện tại. Nhánh keeper của Auto-Compounder đang kiểm tra phần thưởng có thể nhận và tạo lời gọi claimRewardsForUser cho hợp đồng lending được cấu hình. Khi không có phần thưởng, keeper bỏ qua lượt xử lý.
Chỉ từ mã keeper này, chúng ta chưa thể khẳng định đầy đủ chuỗi nhận thưởng, swap rồi tái gửi đã được thực hiện. Muốn kết luận về những gì xảy ra bên trong hợp đồng lending đích, cần kiểm tra riêng hợp đồng và giao dịch liên quan.
Vì thế, trong buổi hôm nay, DCA là luồng demo chính. Auto-Compounder được giới thiệu như một hướng nghiệp vụ đã có phần tích hợp xử lý reward, với chuỗi compound hoàn chỉnh cần được xác minh thêm trước khi công bố là hoàn tất.
Tương tự, con số APY trên thẻ recipe không phải cam kết lợi nhuận. Nó đang là dữ liệu khai báo trong giao diện, không phải bằng chứng về mức sinh lời thực tế của người dùng.
Cách tiếp cận của chúng tôi là trình bày đúng mức độ hoàn thiện, để người dùng biết phần nào có thể kiểm tra hôm nay và phần nào còn cần chứng minh thêm.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08:00–10:00.,### Slide 7. Tự động hóa đi kèm giới hạn quyền
**Thời gian:** 08:00–10:00.
**Trình chiếu:** Ví người dùng → keeper → SharedExecutorProxy → protocol; bên cạnh là SessionKeyRegistry và RecipeGuardrail. Đặt “Pause / Revoke” ở phía người dùng.
**Lời thoại:**
Bây giờ là câu hỏi quan trọng nhất: keeper được phép làm gì?
Kiến trúc hiện tại sử dụng ba hợp đồng chính. Hợp đồng đầu tiên là SessionKeyRegistry, lưu thông tin ủy quyền giữa người dùng và địa chỉ session key của keeper. Thông tin này bao gồm thời hạn hiệu lực, trạng thái thu hồi và hạn mức chi tiêu cộng dồn.
Ở đây cần nhấn mạnh chữ cộng dồn. Hạn mức session không phải mặc nhiên là hạn mức riêng cho từng lần swap, và cũng không phải hạn mức độc lập cho từng recipe. Các recipe dùng cùng cặp ví người dùng và keeper có thể cùng sử dụng quota đó.
Hợp đồng thứ hai là RecipeGuardrail. Nó kiểm tra địa chỉ protocol và function selector, tức là hàm nào trên hợp đồng nào được phép gọi. Đây là lớp giới hạn bề mặt thực thi, thay vì cho phép keeper tùy ý gọi mọi địa chỉ.
Hợp đồng thứ ba là SharedExecutorProxy, đầu mối nhận yêu cầu thực thi. Nó kiểm tra session key, trạng thái pause và guardrail trước khi gọi protocol đích. Hợp đồng cũng có cơ chế chống reentrancy và các xử lý liên quan đến dòng token cho một số loại swap.
Người dùng có thể thu hồi session key hoặc pause thực thi của chính mình trên hợp đồng. Cấp quản trị cũng có khả năng pause toàn hệ thống. Đây là những quyền cần được hiểu rõ: mô hình hiện tại vẫn có vai trò quản trị, không phải một hệ thống đã phi tập trung hoàn toàn.
Một điểm khác thường bị bỏ qua là session key và allowance của token không phải cùng một quyền. Thu hồi session key không tự động xóa mọi allowance đã cấp. Khi ngừng sử dụng, người dùng cần xem lại cả hai, nhất là khi có đường approve không giới hạn.
Những cơ chế này giúp đặt ra các lớp kiểm soát, nhưng không có nghĩa là rủi ro đã biến mất. Kiểm tra địa chỉ và selector không tự chứng minh toàn bộ tham số giao dịch đều an toàn. Với swap, bảo vệ đầu ra còn phụ thuộc vào calldata, adapter và protocol thực thi.
Chúng tôi không xem các báo cáo rà soát trong repository là chứng nhận kiểm toán độc lập. Điểm muốn nhấn mạnh là quyền phải có ranh giới có thể kiểm tra, và những ranh giới đó vẫn cần tiếp tục được kiểm thử, đánh giá.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10:00–11:00.,### Slide 8. Keeper biến lịch chạy thành giao dịch như thế nào?
**Thời gian:** 10:00–11:00.
**Trình chiếu:** Đến hạn → kiểm tra → resolve route → eth_call → hàng đợi → gửi → xác nhận → nhật ký.
**Lời thoại:**
Keeper là dịch vụ chạy ngoài blockchain, đảm nhiệm việc theo dõi các recipe đang hoạt động và đánh giá lúc nào cần xử lý.
Thông tin recipe được lưu trong PostgreSQL. Khi đến hạn, keeper kiểm tra điều kiện, chuẩn bị dữ liệu giao dịch và dùng eth_call để mô phỏng lời gọi thực thi trước khi phát giao dịch. Đây là kiểm tra trên trạng thái blockchain tại thời điểm gọi, không phải dự đoán giá hay bảo đảm kết quả trong tương lai.
Phần xử lý có cơ chế hàng đợi, hỗ trợ BullMQ với Redis theo cấu hình, cùng các luồng gửi và xác nhận giao dịch. Khi RPC gặp giới hạn tần suất hoặc lỗi tạm thời, mã có các cơ chế retry, backoff và chuyển endpoint.
Sau khi gửi, hệ thống cần phân biệt trạng thái đã phát giao dịch với trạng thái đã được xác nhận. Nhật ký và mã giao dịch giúp người dùng đối chiếu lại trên explorer.
Tự động hóa hữu ích không chỉ ở lúc chạy thành công. Nó còn phải giúp chúng ta hiểu vì sao một lượt chưa chạy, đang chờ hay đã thất bại.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11:00–15:00.,### Slide 9. Demo DCA: cấu hình, cấp quyền và theo dõi
**Thời gian:** 11:00–15:00. Khoảng 2 phút lời dẫn, phần còn lại dành cho thao tác, chuyển màn hình và xác nhận ví. Không chờ đủ 10 lượt DCA trong buổi trình bày.
**Trình chiếu:** Chuyển sang ứng dụng; chuẩn bị sẵn một recipe và một giao dịch lịch sử đã xác minh để đối chiếu.
#### 11:00–11:35. Kết nối và chọn recipe
**Thao tác:** Mở dashboard, kết nối ví demo, kiểm tra Arc Testnet, chọn recipe USDC → EURC Recurring DCA qua nút `Simulate &amp; Activate` hoặc nhãn tương ứng của bản đang chạy.
**Lời thoại:**
Bây giờ tôi sẽ đi qua luồng cấu hình một recipe DCA. Đây là ví demo trên Arc Testnet, không dùng tài sản mainnet.
Tôi chọn recipe USDC sang EURC. Màn hình này giúp xem lại tham số và quyền trước khi kích hoạt. Tên Simulation ở đây không có nghĩa mọi con số hiển thị đều vừa được mô phỏng on-chain; phần eth_call thực sự nằm trong luồng kiểm tra của keeper.
#### 11:35–12:20. Đặt ngân sách và giới hạn
**Thao tác:** Nhập tổng ngân sách `50`, mỗi lượt `5`, chọn `Daily: 24 hours`, đặt session spending limit `50` cho ví demo riêng, và chọn mức slippage đã kiểm chứng trước buổi nói. `0.5%` là ví dụ, không bắt buộc dùng khi route không đáp ứng. Không chọn provider chỉ vì nhãn “Recommended”; đối chiếu cấu hình backend trước.
**Lời thoại:**
Ở đây tôi đặt tổng ngân sách năm mươi USDC và mỗi lượt năm USDC. Giao diện tính ra mười lượt theo ngân sách. Tôi chọn chu kỳ hằng ngày, nhưng không cần chờ một ngày để chứng minh toàn bộ luồng trong buổi hôm nay.
Hạn mức session là một cấu hình khác với ngân sách recipe. Trong ví dụ dùng ví riêng này, tôi đặt cùng mức năm mươi USDC để dễ theo dõi. Nếu ví có nhiều recipe dùng chung keeper, cần cân nhắc quota chung trước khi thay đổi.
#### 12:20–13:20. Kiểm tra allowance và cấp quyền
**Thao tác:** Xem kết quả `Runtime Allowance Precheck`, địa chỉ spender, allowance cần thiết và trạng thái session key. Chỉ ký sau khi xác minh đúng chain, địa chỉ và số tiền. Nếu ví hiện allowance vô hạn hoặc thời hạn khác dự kiến, giải thích rõ; không mô tả đó là quyền chỉ giới hạn ở 50 USDC. Có thể dùng ví đã cấp quyền trước và chỉ trình bày phần review để tránh gián đoạn.
**Lời thoại:**
Bước tiếp theo là xem token sẽ được cấp quyền cho địa chỉ nào và keeper đã có session hợp lệ hay chưa.
Hai quyền này khác nhau. Allowance cho phép một spender sử dụng token; session key là quyền được executor kiểm tra khi keeper thực thi. Mức năm mươi USDC của session không có nghĩa mọi allowance token cũng bị giới hạn ở đúng mức đó.
Lần kích hoạt đầu có thể cần nhiều xác nhận ví, chứ không phải luôn chỉ một giao dịch. Tôi sẽ kiểm tra từng yêu cầu trước khi ký, thay vì coi nút Activate là lý do để chấp nhận mọi quyền.
#### 13:20–14:15. Kích hoạt và xem trạng thái
**Thao tác:** Xác nhận kích hoạt trên bản demo đã chuẩn bị. Mở phần recipe đang hoạt động, trạng thái delegation và lịch sử thực thi. Nếu giao dịch mới chưa xác nhận, chỉ gọi nó là pending/submitted.
**Lời thoại:**
Sau khi cấu hình được đồng bộ, chúng ta có thể theo dõi recipe trên dashboard. Cần phân biệt ba điều: recipe đã được đăng ký, delegation đã xác nhận, và một lượt swap đã thực hiện thành công. Chúng không phải cùng một sự kiện.
Nếu trạng thái còn pending, tôi sẽ không gọi đó là đã hoàn tất. Trên testnet, thời gian phản hồi còn phụ thuộc RPC và các thành phần bên ngoài.
#### 14:15–15:00. Đối chiếu bằng chứng và quyền dừng
**Thao tác:** Mở transaction hash của một lượt DCA đã xác minh trước trên ArcScan; nêu rõ nếu đó là lịch sử. Chỉ ra ví liên quan, trạng thái receipt và token transfer tương ứng. Chỉ vị trí pause/revoke và giải thích phạm vi; không thu hồi session chung của ví đang dùng cho mục đích khác.
**Lời thoại:**
Đây là một lượt chạy đã được chuẩn bị và xác minh từ trước để chúng ta đối chiếu, không phải kết quả tôi mặc định gán cho giao dịch vừa tạo. Transaction hash giúp kiểm tra trạng thái và dòng token trên explorer.
Cuối cùng, người dùng có các cách dừng hoạt động hoặc thu hồi quyền. Pause một recipe trong ứng dụng khác với thu hồi session key dùng chung; khi ngừng hẳn, cần xem lại cả allowance token.
Điều tôi muốn mọi người thấy là cả vòng đời: cấu hình, cấp quyền, theo dõi và dừng, chứ không chỉ một màn hình báo thành công.
,
### Trước buổi trình bày
- Dùng ví testnet riêng, có đủ USDC thử nghiệm cho số tiền demo và gas. Không hiển thị seed phrase, private key, token API hay nội dung tệp môi trường.
- Xác minh đúng chain `5042002`, địa chỉ hợp đồng đang được frontend và keeper sử dụng, session key thực tế và cấu hình provider runtime. Không mặc định các địa chỉ trong tài liệu cũ còn là deployment đang chạy.
- Chạy thử trọn luồng DCA với đúng cấu hình sẽ trình bày. Xác minh recipient và token transfer của route được chọn, không chỉ nhìn receipt thành công.
- Chuẩn bị một recipe đang hoạt động và một transaction hash DCA thành công đã kiểm tra. Mở sẵn explorer và lịch sử ở tab riêng; có thể chuẩn bị ảnh hoặc video dự phòng từ chính phiên test đó.
- Kiểm tra allowance hiện có và các yêu cầu approve. Trong modal hiện có đường approve `maxUint256`; không mô tả mọi approval là chỉ đúng ngân sách. Khi có quyền vô hạn, nêu rõ và cân nhắc chuẩn bị allowance hữu hạn trước bằng công cụ ví phù hợp.
- Kiểm tra thời hạn session thực tế. Modal có đường đăng ký 365 ngày, còn luồng kích hoạt trang chính dùng mặc định 30 ngày; không hứa một thời hạn thống nhất khi chưa đối chiếu luồng đang chạy.
- Không gia hạn hoặc revoke trên ví dùng chung mà chưa hiểu ảnh hưởng. Đăng ký lại cùng cặp user–keeper đặt lại bộ đếm quota; thu hồi session ảnh hưởng các recipe dùng chung session đó.
- Kiểm tra ngôn ngữ UI trước buổi nói. Không cần sửa giao diện để dùng kịch bản tiếng Việt; đọc và chỉ đúng nhãn của bản đang mở.
- Bấm giờ một lượt. Giới hạn chờ lỗi ở khoảng 20–30 giây rồi chuyển phương án dự phòng, thay vì để phần demo chiếm hết thời gian.
### Khi demo không diễn ra như dự kiến
| Tình huống | Cách xử lý | Lời dẫn gợi ý |
| --- | --- | --- |
| RPC chậm, ví chưa phản hồi | Dừng thao tác lặp, chuyển sang lịch sử đã xác minh | “Giao dịch hiện chưa được xác nhận. Tôi sẽ dùng lượt chạy trước để giải thích cách đối chiếu, không coi đây là kết quả của thao tác vừa làm.” |
| Không lấy được route | Giữ nguyên giới hạn, không tăng slippage chỉ để demo thành công | “Route hiện chưa đáp ứng điều kiện. Chúng ta sẽ xem phiên chạy đã kiểm chứng thay vì ép giao dịch bằng cách nới giới hạn.” |
| Allowance hoặc session chưa đủ | Chỉ giải thích điều kiện thiếu; không ký mù | “Cấu hình đã có nhưng quyền thực thi chưa sẵn sàng. Đây là hai trạng thái khác nhau.” |
| Không có reward Auto-Compounder | Giải thích keeper bỏ qua; không tạo kỳ vọng có thưởng tức thì | “Không có reward khả dụng thì nhánh này chưa có công việc để thực hiện.” |
| Chưa có hash hoặc bằng chứng hợp lệ | Dừng ở walkthrough cấu hình | “Phần này minh họa luồng cấu hình; tôi chưa dùng nó làm bằng chứng giao dịch đã thành công.” |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15:00–16:00.,### Slide 10. Những công cụ USDC bổ trợ
**Thời gian:** 15:00–16:00.
**Trình chiếu:** Bốn tên màn hình: Swap, Send, Bridge, Unified Balance. Không thực hiện thêm giao dịch nếu cần giữ đúng giờ.
**Lời thoại:**
Bên cạnh recipe, giao diện hiện còn có các công cụ thao tác với USDC.
Swap cung cấp luồng lấy báo giá và đổi USDC, EURC qua App Kit. Send gửi USDC trên Arc Testnet. Bridge có luồng chuyển USDC giữa các testnet được cấu hình, theo các bước như approve, burn, lấy attestation và mint.
Unified Balance có các màn hình xem số dư, nạp và chi tiêu qua tích hợp App Kit. Đây là hướng giúp người dùng làm việc với USDC giữa nhiều mạng trong cùng trải nghiệm.
Tuy nhiên, có giao diện và lời gọi SDK không đồng nghĩa mọi luồng đã được xác minh đầu cuối. Ở keeper, các module Unified Balance và Gateway còn có feature flag, mặc định tắt nếu không được bật qua cấu hình.
Vì vậy, tôi xem đây là các công cụ bổ trợ đã có mã tích hợp, không phải tuyên bố rằng recipe hiện tại đã tự động sử dụng ngân sách xuyên chuỗi. Trọng tâm demo hôm nay vẫn là luồng DCA trên Arc Testnet.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16:00–17:00.,### Slide 11. Mức độ hoàn thiện và hướng phát triển
**Thời gian:** 16:00–17:00.
**Trình chiếu:** “Đã có trong mã” và “Cần tiếp tục xác minh, hoàn thiện”; không dùng số người dùng, TVL hay uptime nếu chưa có dữ liệu.
**Lời thoại:**
Đến hiện tại, repository đã có giao diện cấu hình recipe, API đồng bộ, scheduler, mô phỏng eth_call, xử lý hàng đợi, nhật ký và ba hợp đồng thực thi cốt lõi.
Các tệp kiểm thử bao phủ nhiều tình huống như cấu hình DCA, route swap, session quota, scheduler và lỗi HTTP. Báo cáo nội bộ ngày sáu tháng mười ghi nhận chín mươi tư trên chín mươi tư bài kiểm thử keeper đạt tại thời điểm đó. Đây là kết quả lịch sử, không phải lần chạy kiểm thử mới trong buổi chuẩn bị này.
Ưu tiên tiếp theo là xác minh đầu cuối từng route, làm rõ hơn quyền người dùng cấp và hoàn thiện chuỗi Auto-Compounder theo đúng đặc tả. Việc tăng độ bền vận hành và đánh giá bảo mật độc lập cũng quan trọng trước khi mở rộng sử dụng.
Sau nền tảng đó mới là các hướng như nhiều keeper hơn, công cụ tạo recipe và marketplace. Chúng tôi muốn mở rộng từ một lõi đã được chứng minh, thay vì để danh sách tính năng đi trước khả năng kiểm soát và vận hành.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Lê Văn Tùy | 0919249247 | levantuyit@gmail.com,Khung diễn tập: 17:00–18:00.,### Slide 12. Tổng kết và lời mời trải nghiệm
**Thời gian:** 17:00–18:00.
**Trình chiếu:** Ba ý: giảm thao tác; giới hạn quyền; đối chiếu kết quả. Kết thúc bằng tên dự án và lời mời thử nghiệm trên testnet.
**Lời thoại:**
Tôi muốn kết lại bằng ba điểm.
Thứ nhất, DeFi Recipes hướng đến một công việc rất cụ thể: giúp người dùng duy trì những thao tác DeFi lặp lại mà không phải thực hiện lại bằng tay ở mỗi chu kỳ.
Thứ hai, tự động hóa phải đi cùng quyền có giới hạn. Session key, quota, whitelist, pause và revoke là những thành phần để người dùng có thể hiểu và kiểm soát hoạt động của hệ thống.
Thứ ba, kết quả cần có bằng chứng để đối chiếu. Trạng thái trên giao diện, nhật ký keeper và giao dịch trên explorer phải được đọc cùng nhau, thay vì chỉ dựa vào một thông báo thành công.
Arc tạo một nền tảng phù hợp cho hướng đi USDC-first này. Phần chúng tôi đang xây dựng là lớp quy trình ở phía trên, để biến ý định của người dùng thành những lượt thực thi có thể kiểm tra.
Chúng tôi mong nhận được phản hồi từ người dùng thử, nhà phát triển và các protocol trong hệ sinh thái: thao tác nào đang tốn thời gian, quyền nào còn khó hiểu, và bằng chứng nào cần hiển thị rõ hơn.
Cảm ơn mọi người đã theo dõi. Tôi xin chuyển sang phần câu hỏi và trao đổi.
,
**Dự án có giữ private key của người dùng không?**
Luồng ví hiện tại không yêu cầu người dùng giao private key cho keeper. Keeper có key riêng và dùng quyền đã đăng ký. Tuy vậy, người dùng vẫn có rủi ro từ hợp đồng, allowance, quyền quản trị và protocol đích; “phi lưu ký” không có nghĩa là không có rủi ro.
**Thu hồi session key có xóa allowance USDC không?**
Không. Đây là hai cơ chế khác nhau. Nếu muốn chấm dứt quyền token, cần kiểm tra và thu hồi allowance tương ứng. Pause một recipe ở backend cũng không đồng nghĩa đã thu hồi toàn bộ quyền on-chain.
**Có lợi nhuận hay APY được bảo đảm không?**
Không. DCA là cách thực thi theo lịch, không bảo đảm lời. Con số `8.4%` trên catalog hiện là giá trị khai báo trong mã, không phải cam kết hoặc số liệu lợi nhuận được xác minh.
**Dự án đã được audit độc lập chưa?**
Trong nguồn đã quét có tài liệu mang tên audit và các báo cáo rà soát nội bộ, nhưng không đủ bằng chứng để tuyên bố đã có chứng nhận kiểm toán độc lập. Không dùng từ “đã audit” như một bảo chứng an toàn.
**Có miễn phí hoàn toàn không?**
Không nên khẳng định như vậy. Cần tách gas cho thao tác người dùng, gas keeper, phí protocol và phí ứng dụng theo cấu hình. Mã Swap có hỗ trợ custom fee; tài liệu MVP về tài trợ gas không chứng minh mọi thao tác đều miễn phí.
**Chọn provider trên UI có chắc keeper dùng provider đó không?**
Không thể suy ra chỉ từ UI. Scheduler dùng route client theo cấu hình runtime; cần đối chiếu cấu hình và giao dịch thực tế trước khi mô tả provider đang hoạt động.
**Unified Balance đã tự cấp ngân sách cho recipe xuyên chuỗi chưa?**
Có giao diện tích hợp và module readiness trong keeper, nhưng không đủ bằng chứng trong nguồn đã đọc để khẳng định một luồng recipe xuyên chuỗi hoàn chỉnh đang hoạt động. Feature flag của keeper và thao tác App Kit trực tiếp ở frontend là hai phần riêng.
**Nếu keeper ngừng chạy thì sao?**
Lượt tự động hóa có thể bị chậm hoặc không được kích hoạt. Cơ chế retry và failover RPC không thay thế khả năng sẵn sàng của dịch vụ keeper. Mạng keeper phân tán là hướng phát triển, không phải hiện trạng đã chứng minh.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3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C3D2E3"/>
                </a:solidFill>
                <a:latin typeface="Arial" pitchFamily="34" charset="0"/>
                <a:ea typeface="Arial" pitchFamily="34" charset="-122"/>
                <a:cs typeface="Arial" pitchFamily="34" charset="-120"/>
              </a:rPr>
              <a:t>DEFI RECIPES ON ARC  /  ARC TESTNET</a:t>
            </a:r>
            <a:endParaRPr lang="en-US" sz="900" dirty="0"/>
          </a:p>
        </p:txBody>
      </p:sp>
      <p:sp>
        <p:nvSpPr>
          <p:cNvPr id="4" name="Text 2"/>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C3D2E3"/>
                </a:solidFill>
                <a:latin typeface="Arial" pitchFamily="34" charset="0"/>
                <a:ea typeface="Arial" pitchFamily="34" charset="-122"/>
                <a:cs typeface="Arial" pitchFamily="34" charset="-120"/>
              </a:rPr>
              <a:t>00:00–01:00   |   01 / 12</a:t>
            </a:r>
            <a:endParaRPr lang="en-US" sz="1000" dirty="0"/>
          </a:p>
        </p:txBody>
      </p:sp>
      <p:sp>
        <p:nvSpPr>
          <p:cNvPr id="6" name="Shape 3"/>
          <p:cNvSpPr/>
          <p:nvPr/>
        </p:nvSpPr>
        <p:spPr>
          <a:xfrm>
            <a:off x="658368" y="612648"/>
            <a:ext cx="3200400" cy="320040"/>
          </a:xfrm>
          <a:prstGeom prst="roundRect">
            <a:avLst>
              <a:gd name="adj" fmla="val 42857"/>
            </a:avLst>
          </a:prstGeom>
          <a:solidFill>
            <a:srgbClr val="193951"/>
          </a:solidFill>
          <a:ln w="12700">
            <a:solidFill>
              <a:srgbClr val="193951"/>
            </a:solidFill>
            <a:prstDash val="solid"/>
          </a:ln>
        </p:spPr>
      </p:sp>
      <p:sp>
        <p:nvSpPr>
          <p:cNvPr id="7" name="Text 4"/>
          <p:cNvSpPr/>
          <p:nvPr/>
        </p:nvSpPr>
        <p:spPr>
          <a:xfrm>
            <a:off x="749808" y="649224"/>
            <a:ext cx="3017520" cy="228600"/>
          </a:xfrm>
          <a:prstGeom prst="rect">
            <a:avLst/>
          </a:prstGeom>
          <a:noFill/>
          <a:ln/>
        </p:spPr>
        <p:txBody>
          <a:bodyPr wrap="square" lIns="0" tIns="0" rIns="0" bIns="0" rtlCol="0" anchor="ctr"/>
          <a:lstStyle/>
          <a:p>
            <a:pPr marL="0" indent="0" algn="ctr">
              <a:buNone/>
            </a:pPr>
            <a:r>
              <a:rPr lang="en-US" sz="1000" b="1" dirty="0">
                <a:solidFill>
                  <a:srgbClr val="76E7C7"/>
                </a:solidFill>
                <a:latin typeface="Arial" pitchFamily="34" charset="0"/>
                <a:ea typeface="Arial" pitchFamily="34" charset="-122"/>
                <a:cs typeface="Arial" pitchFamily="34" charset="-120"/>
              </a:rPr>
              <a:t>DỰ ÁN CỘNG ĐỒNG • ARC TESTNET</a:t>
            </a:r>
            <a:endParaRPr lang="en-US" sz="1000" dirty="0"/>
          </a:p>
        </p:txBody>
      </p:sp>
      <p:sp>
        <p:nvSpPr>
          <p:cNvPr id="8" name="Text 5"/>
          <p:cNvSpPr/>
          <p:nvPr/>
        </p:nvSpPr>
        <p:spPr>
          <a:xfrm>
            <a:off x="658368" y="1417320"/>
            <a:ext cx="6400800" cy="1600200"/>
          </a:xfrm>
          <a:prstGeom prst="rect">
            <a:avLst/>
          </a:prstGeom>
          <a:noFill/>
          <a:ln/>
        </p:spPr>
        <p:txBody>
          <a:bodyPr wrap="square" lIns="0" tIns="0" rIns="0" bIns="0" rtlCol="0" anchor="ctr"/>
          <a:lstStyle/>
          <a:p>
            <a:pPr marL="0" indent="0">
              <a:buNone/>
            </a:pPr>
            <a:r>
              <a:rPr lang="en-US" sz="5100" b="1" dirty="0">
                <a:solidFill>
                  <a:srgbClr val="FFFFFF"/>
                </a:solidFill>
                <a:latin typeface="Arial" pitchFamily="34" charset="0"/>
                <a:ea typeface="Arial" pitchFamily="34" charset="-122"/>
                <a:cs typeface="Arial" pitchFamily="34" charset="-120"/>
              </a:rPr>
              <a:t>DeFi Recipes</a:t>
            </a:r>
            <a:endParaRPr lang="en-US" sz="5100" dirty="0"/>
          </a:p>
          <a:p>
            <a:pPr marL="0" indent="0">
              <a:buNone/>
            </a:pPr>
            <a:r>
              <a:rPr lang="en-US" sz="5100" b="1" dirty="0">
                <a:solidFill>
                  <a:srgbClr val="FFFFFF"/>
                </a:solidFill>
                <a:latin typeface="Arial" pitchFamily="34" charset="0"/>
                <a:ea typeface="Arial" pitchFamily="34" charset="-122"/>
                <a:cs typeface="Arial" pitchFamily="34" charset="-120"/>
              </a:rPr>
              <a:t>on Arc</a:t>
            </a:r>
            <a:endParaRPr lang="en-US" sz="5100" dirty="0"/>
          </a:p>
        </p:txBody>
      </p:sp>
      <p:sp>
        <p:nvSpPr>
          <p:cNvPr id="9" name="Text 6"/>
          <p:cNvSpPr/>
          <p:nvPr/>
        </p:nvSpPr>
        <p:spPr>
          <a:xfrm>
            <a:off x="694944" y="3337560"/>
            <a:ext cx="6126480" cy="960120"/>
          </a:xfrm>
          <a:prstGeom prst="rect">
            <a:avLst/>
          </a:prstGeom>
          <a:noFill/>
          <a:ln/>
        </p:spPr>
        <p:txBody>
          <a:bodyPr wrap="square" lIns="0" tIns="0" rIns="0" bIns="0" rtlCol="0" anchor="ctr"/>
          <a:lstStyle/>
          <a:p>
            <a:pPr marL="0" indent="0">
              <a:buNone/>
            </a:pPr>
            <a:r>
              <a:rPr lang="en-US" sz="2900" dirty="0">
                <a:solidFill>
                  <a:srgbClr val="76E7C7"/>
                </a:solidFill>
                <a:latin typeface="Arial" pitchFamily="34" charset="0"/>
                <a:ea typeface="Arial" pitchFamily="34" charset="-122"/>
                <a:cs typeface="Arial" pitchFamily="34" charset="-120"/>
              </a:rPr>
              <a:t>Tự động hóa DeFi,</a:t>
            </a:r>
            <a:endParaRPr lang="en-US" sz="2900" dirty="0"/>
          </a:p>
          <a:p>
            <a:pPr marL="0" indent="0">
              <a:buNone/>
            </a:pPr>
            <a:r>
              <a:rPr lang="en-US" sz="2900" dirty="0">
                <a:solidFill>
                  <a:srgbClr val="76E7C7"/>
                </a:solidFill>
                <a:latin typeface="Arial" pitchFamily="34" charset="0"/>
                <a:ea typeface="Arial" pitchFamily="34" charset="-122"/>
                <a:cs typeface="Arial" pitchFamily="34" charset="-120"/>
              </a:rPr>
              <a:t>giữ quyền kiểm soát.</a:t>
            </a:r>
            <a:endParaRPr lang="en-US" sz="2900" dirty="0"/>
          </a:p>
        </p:txBody>
      </p:sp>
      <p:sp>
        <p:nvSpPr>
          <p:cNvPr id="10" name="Text 7"/>
          <p:cNvSpPr/>
          <p:nvPr/>
        </p:nvSpPr>
        <p:spPr>
          <a:xfrm>
            <a:off x="694944" y="4983480"/>
            <a:ext cx="6126480" cy="594360"/>
          </a:xfrm>
          <a:prstGeom prst="rect">
            <a:avLst/>
          </a:prstGeom>
          <a:noFill/>
          <a:ln/>
        </p:spPr>
        <p:txBody>
          <a:bodyPr wrap="square" lIns="0" tIns="0" rIns="0" bIns="0" rtlCol="0" anchor="ctr"/>
          <a:lstStyle/>
          <a:p>
            <a:pPr marL="0" indent="0">
              <a:buNone/>
            </a:pPr>
            <a:r>
              <a:rPr lang="en-US" sz="1700" dirty="0">
                <a:solidFill>
                  <a:srgbClr val="C3D2E3"/>
                </a:solidFill>
                <a:latin typeface="Arial" pitchFamily="34" charset="0"/>
                <a:ea typeface="Arial" pitchFamily="34" charset="-122"/>
                <a:cs typeface="Arial" pitchFamily="34" charset="-120"/>
              </a:rPr>
              <a:t>Giảm thao tác  /  Giới hạn quyền  /  Đối chiếu kết quả</a:t>
            </a:r>
            <a:endParaRPr lang="en-US" sz="1700" dirty="0"/>
          </a:p>
        </p:txBody>
      </p:sp>
      <p:sp>
        <p:nvSpPr>
          <p:cNvPr id="11" name="Shape 8"/>
          <p:cNvSpPr/>
          <p:nvPr/>
        </p:nvSpPr>
        <p:spPr>
          <a:xfrm>
            <a:off x="7406640" y="1417320"/>
            <a:ext cx="4114800" cy="4343400"/>
          </a:xfrm>
          <a:prstGeom prst="roundRect">
            <a:avLst>
              <a:gd name="adj" fmla="val 3333"/>
            </a:avLst>
          </a:prstGeom>
          <a:solidFill>
            <a:srgbClr val="142C45"/>
          </a:solidFill>
          <a:ln w="12700">
            <a:solidFill>
              <a:srgbClr val="142C45"/>
            </a:solidFill>
            <a:prstDash val="solid"/>
          </a:ln>
        </p:spPr>
      </p:sp>
      <p:sp>
        <p:nvSpPr>
          <p:cNvPr id="12" name="Shape 9"/>
          <p:cNvSpPr/>
          <p:nvPr/>
        </p:nvSpPr>
        <p:spPr>
          <a:xfrm>
            <a:off x="7772400" y="1773936"/>
            <a:ext cx="804672" cy="804672"/>
          </a:xfrm>
          <a:prstGeom prst="roundRect">
            <a:avLst>
              <a:gd name="adj" fmla="val 17045"/>
            </a:avLst>
          </a:prstGeom>
          <a:solidFill>
            <a:srgbClr val="76E7C7"/>
          </a:solidFill>
          <a:ln w="12700">
            <a:solidFill>
              <a:srgbClr val="76E7C7"/>
            </a:solidFill>
            <a:prstDash val="solid"/>
          </a:ln>
        </p:spPr>
      </p:sp>
      <p:sp>
        <p:nvSpPr>
          <p:cNvPr id="13" name="Text 10"/>
          <p:cNvSpPr/>
          <p:nvPr/>
        </p:nvSpPr>
        <p:spPr>
          <a:xfrm>
            <a:off x="7772400" y="1947672"/>
            <a:ext cx="804672" cy="457200"/>
          </a:xfrm>
          <a:prstGeom prst="rect">
            <a:avLst/>
          </a:prstGeom>
          <a:noFill/>
          <a:ln/>
        </p:spPr>
        <p:txBody>
          <a:bodyPr wrap="square" lIns="0" tIns="0" rIns="0" bIns="0" rtlCol="0" anchor="ctr"/>
          <a:lstStyle/>
          <a:p>
            <a:pPr marL="0" indent="0" algn="ctr">
              <a:buNone/>
            </a:pPr>
            <a:r>
              <a:rPr lang="en-US" sz="2300" b="1" dirty="0">
                <a:solidFill>
                  <a:srgbClr val="0B1930"/>
                </a:solidFill>
                <a:latin typeface="Arial" pitchFamily="34" charset="0"/>
                <a:ea typeface="Arial" pitchFamily="34" charset="-122"/>
                <a:cs typeface="Arial" pitchFamily="34" charset="-120"/>
              </a:rPr>
              <a:t>DR</a:t>
            </a:r>
            <a:endParaRPr lang="en-US" sz="2300" dirty="0"/>
          </a:p>
        </p:txBody>
      </p:sp>
      <p:sp>
        <p:nvSpPr>
          <p:cNvPr id="14" name="Text 11"/>
          <p:cNvSpPr/>
          <p:nvPr/>
        </p:nvSpPr>
        <p:spPr>
          <a:xfrm>
            <a:off x="7772400" y="2880360"/>
            <a:ext cx="3383280" cy="274320"/>
          </a:xfrm>
          <a:prstGeom prst="rect">
            <a:avLst/>
          </a:prstGeom>
          <a:noFill/>
          <a:ln/>
        </p:spPr>
        <p:txBody>
          <a:bodyPr wrap="square" lIns="0" tIns="0" rIns="0" bIns="0" rtlCol="0" anchor="ctr"/>
          <a:lstStyle/>
          <a:p>
            <a:pPr marL="0" indent="0">
              <a:buNone/>
            </a:pPr>
            <a:r>
              <a:rPr lang="en-US" sz="1100" b="1" kern="0" spc="100" dirty="0">
                <a:solidFill>
                  <a:srgbClr val="C3D2E3"/>
                </a:solidFill>
                <a:latin typeface="Arial" pitchFamily="34" charset="0"/>
                <a:ea typeface="Arial" pitchFamily="34" charset="-122"/>
                <a:cs typeface="Arial" pitchFamily="34" charset="-120"/>
              </a:rPr>
              <a:t>NGƯỜI THUYẾT TRÌNH</a:t>
            </a:r>
            <a:endParaRPr lang="en-US" sz="1100" dirty="0"/>
          </a:p>
        </p:txBody>
      </p:sp>
      <p:sp>
        <p:nvSpPr>
          <p:cNvPr id="15" name="Text 12"/>
          <p:cNvSpPr/>
          <p:nvPr/>
        </p:nvSpPr>
        <p:spPr>
          <a:xfrm>
            <a:off x="7772400" y="3456432"/>
            <a:ext cx="3383280" cy="457200"/>
          </a:xfrm>
          <a:prstGeom prst="rect">
            <a:avLst/>
          </a:prstGeom>
          <a:noFill/>
          <a:ln/>
        </p:spPr>
        <p:txBody>
          <a:bodyPr wrap="square" lIns="0" tIns="0" rIns="0" bIns="0" rtlCol="0" anchor="ctr"/>
          <a:lstStyle/>
          <a:p>
            <a:pPr marL="0" indent="0">
              <a:buNone/>
            </a:pPr>
            <a:r>
              <a:rPr lang="en-US" sz="2700" b="1" dirty="0">
                <a:solidFill>
                  <a:srgbClr val="FFFFFF"/>
                </a:solidFill>
                <a:latin typeface="Arial" pitchFamily="34" charset="0"/>
                <a:ea typeface="Arial" pitchFamily="34" charset="-122"/>
                <a:cs typeface="Arial" pitchFamily="34" charset="-120"/>
              </a:rPr>
              <a:t>Lê Văn Tùy</a:t>
            </a:r>
            <a:endParaRPr lang="en-US" sz="2700" dirty="0"/>
          </a:p>
        </p:txBody>
      </p:sp>
      <p:sp>
        <p:nvSpPr>
          <p:cNvPr id="16" name="Text 13"/>
          <p:cNvSpPr/>
          <p:nvPr/>
        </p:nvSpPr>
        <p:spPr>
          <a:xfrm>
            <a:off x="7772400" y="4096512"/>
            <a:ext cx="3383280" cy="292608"/>
          </a:xfrm>
          <a:prstGeom prst="rect">
            <a:avLst/>
          </a:prstGeom>
          <a:noFill/>
          <a:ln/>
        </p:spPr>
        <p:txBody>
          <a:bodyPr wrap="square" lIns="0" tIns="0" rIns="0" bIns="0" rtlCol="0" anchor="ctr"/>
          <a:lstStyle/>
          <a:p>
            <a:pPr marL="0" indent="0">
              <a:buNone/>
            </a:pPr>
            <a:r>
              <a:rPr lang="en-US" sz="1700" dirty="0">
                <a:solidFill>
                  <a:srgbClr val="C3D2E3"/>
                </a:solidFill>
                <a:latin typeface="Arial" pitchFamily="34" charset="0"/>
                <a:ea typeface="Arial" pitchFamily="34" charset="-122"/>
                <a:cs typeface="Arial" pitchFamily="34" charset="-120"/>
              </a:rPr>
              <a:t>Điện thoại: 0919249247</a:t>
            </a:r>
            <a:endParaRPr lang="en-US" sz="1700" dirty="0"/>
          </a:p>
        </p:txBody>
      </p:sp>
      <p:sp>
        <p:nvSpPr>
          <p:cNvPr id="17" name="Text 14"/>
          <p:cNvSpPr/>
          <p:nvPr/>
        </p:nvSpPr>
        <p:spPr>
          <a:xfrm>
            <a:off x="7772400" y="4535424"/>
            <a:ext cx="3383280" cy="310896"/>
          </a:xfrm>
          <a:prstGeom prst="rect">
            <a:avLst/>
          </a:prstGeom>
          <a:noFill/>
          <a:ln/>
        </p:spPr>
        <p:txBody>
          <a:bodyPr wrap="square" lIns="0" tIns="0" rIns="0" bIns="0" rtlCol="0" anchor="ctr"/>
          <a:lstStyle/>
          <a:p>
            <a:pPr marL="0" indent="0">
              <a:buNone/>
            </a:pPr>
            <a:r>
              <a:rPr lang="en-US" sz="1700" dirty="0">
                <a:solidFill>
                  <a:srgbClr val="76E7C7"/>
                </a:solidFill>
                <a:latin typeface="Arial" pitchFamily="34" charset="0"/>
                <a:ea typeface="Arial" pitchFamily="34" charset="-122"/>
                <a:cs typeface="Arial" pitchFamily="34" charset="-120"/>
              </a:rPr>
              <a:t>Email: levantuyit@gmail.com</a:t>
            </a:r>
            <a:endParaRPr lang="en-US" sz="1700" dirty="0"/>
          </a:p>
        </p:txBody>
      </p:sp>
      <p:sp>
        <p:nvSpPr>
          <p:cNvPr id="18" name="Text 15"/>
          <p:cNvSpPr/>
          <p:nvPr/>
        </p:nvSpPr>
        <p:spPr>
          <a:xfrm>
            <a:off x="694944" y="5897880"/>
            <a:ext cx="10835640" cy="274320"/>
          </a:xfrm>
          <a:prstGeom prst="rect">
            <a:avLst/>
          </a:prstGeom>
          <a:noFill/>
          <a:ln/>
        </p:spPr>
        <p:txBody>
          <a:bodyPr wrap="square" lIns="0" tIns="0" rIns="0" bIns="0" rtlCol="0" anchor="ctr"/>
          <a:lstStyle/>
          <a:p>
            <a:pPr marL="0" indent="0">
              <a:buNone/>
            </a:pPr>
            <a:r>
              <a:rPr lang="en-US" sz="1200" dirty="0">
                <a:solidFill>
                  <a:srgbClr val="C3D2E3"/>
                </a:solidFill>
                <a:latin typeface="Arial" pitchFamily="34" charset="0"/>
                <a:ea typeface="Arial" pitchFamily="34" charset="-122"/>
                <a:cs typeface="Arial" pitchFamily="34" charset="-120"/>
              </a:rPr>
              <a:t>Dự án độc lập; không phải sản phẩm chính thức của Arc hoặc Circle.</a:t>
            </a:r>
            <a:endParaRPr lang="en-US" sz="1200" dirty="0"/>
          </a:p>
        </p:txBody>
      </p:sp>
      <p:pic>
        <p:nvPicPr>
          <p:cNvPr id="19" name="Picture 18"/>
          <p:cNvPicPr>
            <a:picLocks noChangeAspect="1"/>
          </p:cNvPicPr>
          <p:nvPr/>
        </p:nvPicPr>
        <p:blipFill>
          <a:blip r:embed="rId3"/>
          <a:stretch>
            <a:fillRect/>
          </a:stretch>
        </p:blipFill>
        <p:spPr>
          <a:xfrm>
            <a:off x="7772399" y="1690255"/>
            <a:ext cx="1389889" cy="10072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384048"/>
            <a:ext cx="10789920" cy="237744"/>
          </a:xfrm>
          <a:prstGeom prst="rect">
            <a:avLst/>
          </a:prstGeom>
          <a:noFill/>
          <a:ln/>
        </p:spPr>
        <p:txBody>
          <a:bodyPr wrap="square" lIns="0" tIns="0" rIns="0" bIns="0" rtlCol="0" anchor="ctr"/>
          <a:lstStyle/>
          <a:p>
            <a:pPr marL="0" indent="0">
              <a:buNone/>
            </a:pPr>
            <a:r>
              <a:rPr lang="en-US" sz="1100" b="1" kern="0" spc="140" dirty="0">
                <a:solidFill>
                  <a:srgbClr val="087F78"/>
                </a:solidFill>
                <a:latin typeface="Arial" pitchFamily="34" charset="0"/>
                <a:ea typeface="Arial" pitchFamily="34" charset="-122"/>
                <a:cs typeface="Arial" pitchFamily="34" charset="-120"/>
              </a:rPr>
              <a:t>BÀI TOÁN</a:t>
            </a:r>
            <a:endParaRPr lang="en-US" sz="1100" dirty="0"/>
          </a:p>
        </p:txBody>
      </p:sp>
      <p:sp>
        <p:nvSpPr>
          <p:cNvPr id="4" name="Text 2"/>
          <p:cNvSpPr/>
          <p:nvPr/>
        </p:nvSpPr>
        <p:spPr>
          <a:xfrm>
            <a:off x="594360" y="841248"/>
            <a:ext cx="11000232" cy="566928"/>
          </a:xfrm>
          <a:prstGeom prst="rect">
            <a:avLst/>
          </a:prstGeom>
          <a:noFill/>
          <a:ln/>
        </p:spPr>
        <p:txBody>
          <a:bodyPr wrap="square" lIns="0" tIns="0" rIns="0" bIns="0" rtlCol="0" anchor="ctr"/>
          <a:lstStyle/>
          <a:p>
            <a:pPr marL="0" indent="0">
              <a:buNone/>
            </a:pPr>
            <a:r>
              <a:rPr lang="en-US" sz="2900" b="1" dirty="0">
                <a:solidFill>
                  <a:srgbClr val="142B45"/>
                </a:solidFill>
                <a:latin typeface="Arial" pitchFamily="34" charset="0"/>
                <a:ea typeface="Arial" pitchFamily="34" charset="-122"/>
                <a:cs typeface="Arial" pitchFamily="34" charset="-120"/>
              </a:rPr>
              <a:t>Chiến lược đơn giản. Thao tác vẫn lặp lại.</a:t>
            </a:r>
            <a:endParaRPr lang="en-US" sz="2900" dirty="0"/>
          </a:p>
        </p:txBody>
      </p:sp>
      <p:sp>
        <p:nvSpPr>
          <p:cNvPr id="5" name="Text 3"/>
          <p:cNvSpPr/>
          <p:nvPr/>
        </p:nvSpPr>
        <p:spPr>
          <a:xfrm>
            <a:off x="594360" y="1508760"/>
            <a:ext cx="11000232" cy="47548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Ví dụ: định kỳ đổi một phần USDC sang EURC.</a:t>
            </a:r>
            <a:endParaRPr lang="en-US" sz="1600" dirty="0"/>
          </a:p>
        </p:txBody>
      </p:sp>
      <p:sp>
        <p:nvSpPr>
          <p:cNvPr id="6" name="Text 4"/>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52657A"/>
                </a:solidFill>
                <a:latin typeface="Arial" pitchFamily="34" charset="0"/>
                <a:ea typeface="Arial" pitchFamily="34" charset="-122"/>
                <a:cs typeface="Arial" pitchFamily="34" charset="-120"/>
              </a:rPr>
              <a:t>DEFI RECIPES ON ARC  /  ARC TESTNET</a:t>
            </a:r>
            <a:endParaRPr lang="en-US" sz="900" dirty="0"/>
          </a:p>
        </p:txBody>
      </p:sp>
      <p:sp>
        <p:nvSpPr>
          <p:cNvPr id="7" name="Text 5"/>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52657A"/>
                </a:solidFill>
                <a:latin typeface="Arial" pitchFamily="34" charset="0"/>
                <a:ea typeface="Arial" pitchFamily="34" charset="-122"/>
                <a:cs typeface="Arial" pitchFamily="34" charset="-120"/>
              </a:rPr>
              <a:t>01:00–02:30   |   02 / 12</a:t>
            </a:r>
            <a:endParaRPr lang="en-US" sz="1000" dirty="0"/>
          </a:p>
        </p:txBody>
      </p:sp>
      <p:sp>
        <p:nvSpPr>
          <p:cNvPr id="9" name="Shape 6"/>
          <p:cNvSpPr/>
          <p:nvPr/>
        </p:nvSpPr>
        <p:spPr>
          <a:xfrm>
            <a:off x="594360" y="2331720"/>
            <a:ext cx="3520440" cy="2852928"/>
          </a:xfrm>
          <a:prstGeom prst="roundRect">
            <a:avLst>
              <a:gd name="adj" fmla="val 4808"/>
            </a:avLst>
          </a:prstGeom>
          <a:solidFill>
            <a:srgbClr val="FFFFFF"/>
          </a:solidFill>
          <a:ln w="12700">
            <a:solidFill>
              <a:srgbClr val="D8E2ED"/>
            </a:solidFill>
            <a:prstDash val="solid"/>
          </a:ln>
        </p:spPr>
      </p:sp>
      <p:sp>
        <p:nvSpPr>
          <p:cNvPr id="10" name="Text 7"/>
          <p:cNvSpPr/>
          <p:nvPr/>
        </p:nvSpPr>
        <p:spPr>
          <a:xfrm>
            <a:off x="822960" y="2542032"/>
            <a:ext cx="3063240" cy="365760"/>
          </a:xfrm>
          <a:prstGeom prst="rect">
            <a:avLst/>
          </a:prstGeom>
          <a:noFill/>
          <a:ln/>
        </p:spPr>
        <p:txBody>
          <a:bodyPr wrap="square" lIns="0" tIns="0" rIns="0" bIns="0" rtlCol="0" anchor="ctr"/>
          <a:lstStyle/>
          <a:p>
            <a:pPr marL="0" indent="0">
              <a:buNone/>
            </a:pPr>
            <a:r>
              <a:rPr lang="en-US" sz="2300" b="1" dirty="0">
                <a:solidFill>
                  <a:srgbClr val="087F78"/>
                </a:solidFill>
                <a:latin typeface="Arial" pitchFamily="34" charset="0"/>
                <a:ea typeface="Arial" pitchFamily="34" charset="-122"/>
                <a:cs typeface="Arial" pitchFamily="34" charset="-120"/>
              </a:rPr>
              <a:t>01</a:t>
            </a:r>
            <a:endParaRPr lang="en-US" sz="2300" dirty="0"/>
          </a:p>
        </p:txBody>
      </p:sp>
      <p:sp>
        <p:nvSpPr>
          <p:cNvPr id="11" name="Text 8"/>
          <p:cNvSpPr/>
          <p:nvPr/>
        </p:nvSpPr>
        <p:spPr>
          <a:xfrm>
            <a:off x="822960" y="3118104"/>
            <a:ext cx="3063240" cy="640080"/>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Nhớ đúng lịch</a:t>
            </a:r>
            <a:endParaRPr lang="en-US" sz="2200" dirty="0"/>
          </a:p>
        </p:txBody>
      </p:sp>
      <p:sp>
        <p:nvSpPr>
          <p:cNvPr id="12" name="Text 9"/>
          <p:cNvSpPr/>
          <p:nvPr/>
        </p:nvSpPr>
        <p:spPr>
          <a:xfrm>
            <a:off x="822960" y="3931920"/>
            <a:ext cx="3063240" cy="105156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Bận hoặc quên khiến kế hoạch bị gián đoạn.</a:t>
            </a:r>
            <a:endParaRPr lang="en-US" sz="1700" dirty="0"/>
          </a:p>
        </p:txBody>
      </p:sp>
      <p:sp>
        <p:nvSpPr>
          <p:cNvPr id="13" name="Shape 10"/>
          <p:cNvSpPr/>
          <p:nvPr/>
        </p:nvSpPr>
        <p:spPr>
          <a:xfrm>
            <a:off x="4334256" y="2331720"/>
            <a:ext cx="3520440" cy="2852928"/>
          </a:xfrm>
          <a:prstGeom prst="roundRect">
            <a:avLst>
              <a:gd name="adj" fmla="val 4808"/>
            </a:avLst>
          </a:prstGeom>
          <a:solidFill>
            <a:srgbClr val="FFFFFF"/>
          </a:solidFill>
          <a:ln w="12700">
            <a:solidFill>
              <a:srgbClr val="D8E2ED"/>
            </a:solidFill>
            <a:prstDash val="solid"/>
          </a:ln>
        </p:spPr>
      </p:sp>
      <p:sp>
        <p:nvSpPr>
          <p:cNvPr id="14" name="Text 11"/>
          <p:cNvSpPr/>
          <p:nvPr/>
        </p:nvSpPr>
        <p:spPr>
          <a:xfrm>
            <a:off x="4562856" y="2542032"/>
            <a:ext cx="3063240" cy="365760"/>
          </a:xfrm>
          <a:prstGeom prst="rect">
            <a:avLst/>
          </a:prstGeom>
          <a:noFill/>
          <a:ln/>
        </p:spPr>
        <p:txBody>
          <a:bodyPr wrap="square" lIns="0" tIns="0" rIns="0" bIns="0" rtlCol="0" anchor="ctr"/>
          <a:lstStyle/>
          <a:p>
            <a:pPr marL="0" indent="0">
              <a:buNone/>
            </a:pPr>
            <a:r>
              <a:rPr lang="en-US" sz="2300" b="1" dirty="0">
                <a:solidFill>
                  <a:srgbClr val="087F78"/>
                </a:solidFill>
                <a:latin typeface="Arial" pitchFamily="34" charset="0"/>
                <a:ea typeface="Arial" pitchFamily="34" charset="-122"/>
                <a:cs typeface="Arial" pitchFamily="34" charset="-120"/>
              </a:rPr>
              <a:t>02</a:t>
            </a:r>
            <a:endParaRPr lang="en-US" sz="2300" dirty="0"/>
          </a:p>
        </p:txBody>
      </p:sp>
      <p:sp>
        <p:nvSpPr>
          <p:cNvPr id="15" name="Text 12"/>
          <p:cNvSpPr/>
          <p:nvPr/>
        </p:nvSpPr>
        <p:spPr>
          <a:xfrm>
            <a:off x="4562856" y="3118104"/>
            <a:ext cx="3063240" cy="640080"/>
          </a:xfrm>
          <a:prstGeom prst="rect">
            <a:avLst/>
          </a:prstGeom>
          <a:noFill/>
          <a:ln/>
        </p:spPr>
        <p:txBody>
          <a:bodyPr wrap="square" lIns="0" tIns="0" rIns="0" bIns="0" rtlCol="0" anchor="ctr"/>
          <a:lstStyle/>
          <a:p>
            <a:pPr marL="0" indent="0">
              <a:buNone/>
            </a:pPr>
            <a:r>
              <a:rPr lang="en-US" sz="2000" b="1" dirty="0">
                <a:solidFill>
                  <a:srgbClr val="142B45"/>
                </a:solidFill>
                <a:latin typeface="Arial" pitchFamily="34" charset="0"/>
                <a:ea typeface="Arial" pitchFamily="34" charset="-122"/>
                <a:cs typeface="Arial" pitchFamily="34" charset="-120"/>
              </a:rPr>
              <a:t>Làm lại nhiều bước</a:t>
            </a:r>
            <a:endParaRPr lang="en-US" sz="2000" dirty="0"/>
          </a:p>
        </p:txBody>
      </p:sp>
      <p:sp>
        <p:nvSpPr>
          <p:cNvPr id="16" name="Text 13"/>
          <p:cNvSpPr/>
          <p:nvPr/>
        </p:nvSpPr>
        <p:spPr>
          <a:xfrm>
            <a:off x="4562856" y="3931920"/>
            <a:ext cx="3063240" cy="105156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Kiểm tra số dư, báo giá, trượt giá và xác nhận ví.</a:t>
            </a:r>
            <a:endParaRPr lang="en-US" sz="1700" dirty="0"/>
          </a:p>
        </p:txBody>
      </p:sp>
      <p:sp>
        <p:nvSpPr>
          <p:cNvPr id="17" name="Shape 14"/>
          <p:cNvSpPr/>
          <p:nvPr/>
        </p:nvSpPr>
        <p:spPr>
          <a:xfrm>
            <a:off x="8074152" y="2331720"/>
            <a:ext cx="3520440" cy="2852928"/>
          </a:xfrm>
          <a:prstGeom prst="roundRect">
            <a:avLst>
              <a:gd name="adj" fmla="val 4808"/>
            </a:avLst>
          </a:prstGeom>
          <a:solidFill>
            <a:srgbClr val="FFFFFF"/>
          </a:solidFill>
          <a:ln w="12700">
            <a:solidFill>
              <a:srgbClr val="D8E2ED"/>
            </a:solidFill>
            <a:prstDash val="solid"/>
          </a:ln>
        </p:spPr>
      </p:sp>
      <p:sp>
        <p:nvSpPr>
          <p:cNvPr id="18" name="Text 15"/>
          <p:cNvSpPr/>
          <p:nvPr/>
        </p:nvSpPr>
        <p:spPr>
          <a:xfrm>
            <a:off x="8302752" y="2542032"/>
            <a:ext cx="3063240" cy="365760"/>
          </a:xfrm>
          <a:prstGeom prst="rect">
            <a:avLst/>
          </a:prstGeom>
          <a:noFill/>
          <a:ln/>
        </p:spPr>
        <p:txBody>
          <a:bodyPr wrap="square" lIns="0" tIns="0" rIns="0" bIns="0" rtlCol="0" anchor="ctr"/>
          <a:lstStyle/>
          <a:p>
            <a:pPr marL="0" indent="0">
              <a:buNone/>
            </a:pPr>
            <a:r>
              <a:rPr lang="en-US" sz="2300" b="1" dirty="0">
                <a:solidFill>
                  <a:srgbClr val="087F78"/>
                </a:solidFill>
                <a:latin typeface="Arial" pitchFamily="34" charset="0"/>
                <a:ea typeface="Arial" pitchFamily="34" charset="-122"/>
                <a:cs typeface="Arial" pitchFamily="34" charset="-120"/>
              </a:rPr>
              <a:t>03</a:t>
            </a:r>
            <a:endParaRPr lang="en-US" sz="2300" dirty="0"/>
          </a:p>
        </p:txBody>
      </p:sp>
      <p:sp>
        <p:nvSpPr>
          <p:cNvPr id="19" name="Text 16"/>
          <p:cNvSpPr/>
          <p:nvPr/>
        </p:nvSpPr>
        <p:spPr>
          <a:xfrm>
            <a:off x="8302752" y="3118104"/>
            <a:ext cx="3063240" cy="640080"/>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Kiểm soát bot</a:t>
            </a:r>
            <a:endParaRPr lang="en-US" sz="2200" dirty="0"/>
          </a:p>
        </p:txBody>
      </p:sp>
      <p:sp>
        <p:nvSpPr>
          <p:cNvPr id="20" name="Text 17"/>
          <p:cNvSpPr/>
          <p:nvPr/>
        </p:nvSpPr>
        <p:spPr>
          <a:xfrm>
            <a:off x="8302752" y="3931920"/>
            <a:ext cx="3063240" cy="105156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Bot được dùng bao nhiêu? Gọi đâu? Dừng bằng cách nào?</a:t>
            </a:r>
            <a:endParaRPr lang="en-US" sz="1700" dirty="0"/>
          </a:p>
        </p:txBody>
      </p:sp>
      <p:sp>
        <p:nvSpPr>
          <p:cNvPr id="21" name="Shape 18"/>
          <p:cNvSpPr/>
          <p:nvPr/>
        </p:nvSpPr>
        <p:spPr>
          <a:xfrm>
            <a:off x="594360" y="5550408"/>
            <a:ext cx="11000232" cy="566928"/>
          </a:xfrm>
          <a:prstGeom prst="roundRect">
            <a:avLst>
              <a:gd name="adj" fmla="val 24194"/>
            </a:avLst>
          </a:prstGeom>
          <a:solidFill>
            <a:srgbClr val="E7F6F1"/>
          </a:solidFill>
          <a:ln w="12700">
            <a:solidFill>
              <a:srgbClr val="E7F6F1"/>
            </a:solidFill>
            <a:prstDash val="solid"/>
          </a:ln>
        </p:spPr>
      </p:sp>
      <p:sp>
        <p:nvSpPr>
          <p:cNvPr id="22" name="Text 19"/>
          <p:cNvSpPr/>
          <p:nvPr/>
        </p:nvSpPr>
        <p:spPr>
          <a:xfrm>
            <a:off x="777240" y="5632704"/>
            <a:ext cx="10634472" cy="402336"/>
          </a:xfrm>
          <a:prstGeom prst="rect">
            <a:avLst/>
          </a:prstGeom>
          <a:noFill/>
          <a:ln/>
        </p:spPr>
        <p:txBody>
          <a:bodyPr wrap="square" lIns="0" tIns="0" rIns="0" bIns="0" rtlCol="0" anchor="ctr"/>
          <a:lstStyle/>
          <a:p>
            <a:pPr marL="0" indent="0">
              <a:buNone/>
            </a:pPr>
            <a:r>
              <a:rPr lang="en-US" sz="1400" b="1" dirty="0">
                <a:solidFill>
                  <a:srgbClr val="087F78"/>
                </a:solidFill>
                <a:latin typeface="Arial" pitchFamily="34" charset="0"/>
                <a:ea typeface="Arial" pitchFamily="34" charset="-122"/>
                <a:cs typeface="Arial" pitchFamily="34" charset="-120"/>
              </a:rPr>
              <a:t>Không chỉ tự động hóa thao tác — cần làm rõ giới hạn và lịch sử thực thi.</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384048"/>
            <a:ext cx="10789920" cy="237744"/>
          </a:xfrm>
          <a:prstGeom prst="rect">
            <a:avLst/>
          </a:prstGeom>
          <a:noFill/>
          <a:ln/>
        </p:spPr>
        <p:txBody>
          <a:bodyPr wrap="square" lIns="0" tIns="0" rIns="0" bIns="0" rtlCol="0" anchor="ctr"/>
          <a:lstStyle/>
          <a:p>
            <a:pPr marL="0" indent="0">
              <a:buNone/>
            </a:pPr>
            <a:r>
              <a:rPr lang="en-US" sz="1100" b="1" kern="0" spc="140" dirty="0">
                <a:solidFill>
                  <a:srgbClr val="087F78"/>
                </a:solidFill>
                <a:latin typeface="Arial" pitchFamily="34" charset="0"/>
                <a:ea typeface="Arial" pitchFamily="34" charset="-122"/>
                <a:cs typeface="Arial" pitchFamily="34" charset="-120"/>
              </a:rPr>
              <a:t>NỀN TẢNG</a:t>
            </a:r>
            <a:endParaRPr lang="en-US" sz="1100" dirty="0"/>
          </a:p>
        </p:txBody>
      </p:sp>
      <p:sp>
        <p:nvSpPr>
          <p:cNvPr id="4" name="Text 2"/>
          <p:cNvSpPr/>
          <p:nvPr/>
        </p:nvSpPr>
        <p:spPr>
          <a:xfrm>
            <a:off x="594360" y="841248"/>
            <a:ext cx="11000232" cy="566928"/>
          </a:xfrm>
          <a:prstGeom prst="rect">
            <a:avLst/>
          </a:prstGeom>
          <a:noFill/>
          <a:ln/>
        </p:spPr>
        <p:txBody>
          <a:bodyPr wrap="square" lIns="0" tIns="0" rIns="0" bIns="0" rtlCol="0" anchor="ctr"/>
          <a:lstStyle/>
          <a:p>
            <a:pPr marL="0" indent="0">
              <a:buNone/>
            </a:pPr>
            <a:r>
              <a:rPr lang="en-US" sz="2900" b="1" dirty="0">
                <a:solidFill>
                  <a:srgbClr val="142B45"/>
                </a:solidFill>
                <a:latin typeface="Arial" pitchFamily="34" charset="0"/>
                <a:ea typeface="Arial" pitchFamily="34" charset="-122"/>
                <a:cs typeface="Arial" pitchFamily="34" charset="-120"/>
              </a:rPr>
              <a:t>Vì sao chọn Arc?</a:t>
            </a:r>
            <a:endParaRPr lang="en-US" sz="2900" dirty="0"/>
          </a:p>
        </p:txBody>
      </p:sp>
      <p:sp>
        <p:nvSpPr>
          <p:cNvPr id="5" name="Text 3"/>
          <p:cNvSpPr/>
          <p:nvPr/>
        </p:nvSpPr>
        <p:spPr>
          <a:xfrm>
            <a:off x="594360" y="1508760"/>
            <a:ext cx="11000232" cy="47548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Một nền tảng phù hợp cho các quy trình lấy USDC làm trung tâm.</a:t>
            </a:r>
            <a:endParaRPr lang="en-US" sz="1600" dirty="0"/>
          </a:p>
        </p:txBody>
      </p:sp>
      <p:sp>
        <p:nvSpPr>
          <p:cNvPr id="6" name="Text 4"/>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52657A"/>
                </a:solidFill>
                <a:latin typeface="Arial" pitchFamily="34" charset="0"/>
                <a:ea typeface="Arial" pitchFamily="34" charset="-122"/>
                <a:cs typeface="Arial" pitchFamily="34" charset="-120"/>
              </a:rPr>
              <a:t>DEFI RECIPES ON ARC  /  ARC TESTNET</a:t>
            </a:r>
            <a:endParaRPr lang="en-US" sz="900" dirty="0"/>
          </a:p>
        </p:txBody>
      </p:sp>
      <p:sp>
        <p:nvSpPr>
          <p:cNvPr id="7" name="Text 5"/>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52657A"/>
                </a:solidFill>
                <a:latin typeface="Arial" pitchFamily="34" charset="0"/>
                <a:ea typeface="Arial" pitchFamily="34" charset="-122"/>
                <a:cs typeface="Arial" pitchFamily="34" charset="-120"/>
              </a:rPr>
              <a:t>02:30–03:45   |   03 / 12</a:t>
            </a:r>
            <a:endParaRPr lang="en-US" sz="1000" dirty="0"/>
          </a:p>
        </p:txBody>
      </p:sp>
      <p:sp>
        <p:nvSpPr>
          <p:cNvPr id="9" name="Shape 6"/>
          <p:cNvSpPr/>
          <p:nvPr/>
        </p:nvSpPr>
        <p:spPr>
          <a:xfrm>
            <a:off x="594360" y="2240280"/>
            <a:ext cx="5385816" cy="1298448"/>
          </a:xfrm>
          <a:prstGeom prst="roundRect">
            <a:avLst>
              <a:gd name="adj" fmla="val 10563"/>
            </a:avLst>
          </a:prstGeom>
          <a:solidFill>
            <a:srgbClr val="FFFFFF"/>
          </a:solidFill>
          <a:ln w="12700">
            <a:solidFill>
              <a:srgbClr val="D8E2ED"/>
            </a:solidFill>
            <a:prstDash val="solid"/>
          </a:ln>
        </p:spPr>
      </p:sp>
      <p:sp>
        <p:nvSpPr>
          <p:cNvPr id="10" name="Text 7"/>
          <p:cNvSpPr/>
          <p:nvPr/>
        </p:nvSpPr>
        <p:spPr>
          <a:xfrm>
            <a:off x="822960" y="2404872"/>
            <a:ext cx="4928616" cy="329184"/>
          </a:xfrm>
          <a:prstGeom prst="rect">
            <a:avLst/>
          </a:prstGeom>
          <a:noFill/>
          <a:ln/>
        </p:spPr>
        <p:txBody>
          <a:bodyPr wrap="square" lIns="0" tIns="0" rIns="0" bIns="0" rtlCol="0" anchor="ctr"/>
          <a:lstStyle/>
          <a:p>
            <a:pPr marL="0" indent="0">
              <a:buNone/>
            </a:pPr>
            <a:r>
              <a:rPr lang="en-US" sz="2200" b="1" dirty="0">
                <a:solidFill>
                  <a:srgbClr val="087F78"/>
                </a:solidFill>
                <a:latin typeface="Arial" pitchFamily="34" charset="0"/>
                <a:ea typeface="Arial" pitchFamily="34" charset="-122"/>
                <a:cs typeface="Arial" pitchFamily="34" charset="-120"/>
              </a:rPr>
              <a:t>USDC làm gas</a:t>
            </a:r>
            <a:endParaRPr lang="en-US" sz="2200" dirty="0"/>
          </a:p>
        </p:txBody>
      </p:sp>
      <p:sp>
        <p:nvSpPr>
          <p:cNvPr id="11" name="Text 8"/>
          <p:cNvSpPr/>
          <p:nvPr/>
        </p:nvSpPr>
        <p:spPr>
          <a:xfrm>
            <a:off x="822960" y="2852928"/>
            <a:ext cx="4928616" cy="52120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Không cần thêm một native token khác để trả phí trên Arc.</a:t>
            </a:r>
            <a:endParaRPr lang="en-US" sz="1600" dirty="0"/>
          </a:p>
        </p:txBody>
      </p:sp>
      <p:sp>
        <p:nvSpPr>
          <p:cNvPr id="12" name="Shape 9"/>
          <p:cNvSpPr/>
          <p:nvPr/>
        </p:nvSpPr>
        <p:spPr>
          <a:xfrm>
            <a:off x="6208776" y="2240280"/>
            <a:ext cx="5385816" cy="1298448"/>
          </a:xfrm>
          <a:prstGeom prst="roundRect">
            <a:avLst>
              <a:gd name="adj" fmla="val 10563"/>
            </a:avLst>
          </a:prstGeom>
          <a:solidFill>
            <a:srgbClr val="FFFFFF"/>
          </a:solidFill>
          <a:ln w="12700">
            <a:solidFill>
              <a:srgbClr val="D8E2ED"/>
            </a:solidFill>
            <a:prstDash val="solid"/>
          </a:ln>
        </p:spPr>
      </p:sp>
      <p:sp>
        <p:nvSpPr>
          <p:cNvPr id="13" name="Text 10"/>
          <p:cNvSpPr/>
          <p:nvPr/>
        </p:nvSpPr>
        <p:spPr>
          <a:xfrm>
            <a:off x="6437376" y="2404872"/>
            <a:ext cx="4928616" cy="329184"/>
          </a:xfrm>
          <a:prstGeom prst="rect">
            <a:avLst/>
          </a:prstGeom>
          <a:noFill/>
          <a:ln/>
        </p:spPr>
        <p:txBody>
          <a:bodyPr wrap="square" lIns="0" tIns="0" rIns="0" bIns="0" rtlCol="0" anchor="ctr"/>
          <a:lstStyle/>
          <a:p>
            <a:pPr marL="0" indent="0">
              <a:buNone/>
            </a:pPr>
            <a:r>
              <a:rPr lang="en-US" sz="2200" b="1" dirty="0">
                <a:solidFill>
                  <a:srgbClr val="087F78"/>
                </a:solidFill>
                <a:latin typeface="Arial" pitchFamily="34" charset="0"/>
                <a:ea typeface="Arial" pitchFamily="34" charset="-122"/>
                <a:cs typeface="Arial" pitchFamily="34" charset="-120"/>
              </a:rPr>
              <a:t>Chi phí dễ lập kế hoạch</a:t>
            </a:r>
            <a:endParaRPr lang="en-US" sz="2200" dirty="0"/>
          </a:p>
        </p:txBody>
      </p:sp>
      <p:sp>
        <p:nvSpPr>
          <p:cNvPr id="14" name="Text 11"/>
          <p:cNvSpPr/>
          <p:nvPr/>
        </p:nvSpPr>
        <p:spPr>
          <a:xfrm>
            <a:off x="6437376" y="2852928"/>
            <a:ext cx="4928616" cy="52120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Ngân sách chiến lược và chi phí thực thi cùng nhìn bằng USDC.</a:t>
            </a:r>
            <a:endParaRPr lang="en-US" sz="1600" dirty="0"/>
          </a:p>
        </p:txBody>
      </p:sp>
      <p:sp>
        <p:nvSpPr>
          <p:cNvPr id="15" name="Shape 12"/>
          <p:cNvSpPr/>
          <p:nvPr/>
        </p:nvSpPr>
        <p:spPr>
          <a:xfrm>
            <a:off x="594360" y="3730752"/>
            <a:ext cx="5385816" cy="1298448"/>
          </a:xfrm>
          <a:prstGeom prst="roundRect">
            <a:avLst>
              <a:gd name="adj" fmla="val 10563"/>
            </a:avLst>
          </a:prstGeom>
          <a:solidFill>
            <a:srgbClr val="FFFFFF"/>
          </a:solidFill>
          <a:ln w="12700">
            <a:solidFill>
              <a:srgbClr val="D8E2ED"/>
            </a:solidFill>
            <a:prstDash val="solid"/>
          </a:ln>
        </p:spPr>
      </p:sp>
      <p:sp>
        <p:nvSpPr>
          <p:cNvPr id="16" name="Text 13"/>
          <p:cNvSpPr/>
          <p:nvPr/>
        </p:nvSpPr>
        <p:spPr>
          <a:xfrm>
            <a:off x="822960" y="3895344"/>
            <a:ext cx="4928616" cy="329184"/>
          </a:xfrm>
          <a:prstGeom prst="rect">
            <a:avLst/>
          </a:prstGeom>
          <a:noFill/>
          <a:ln/>
        </p:spPr>
        <p:txBody>
          <a:bodyPr wrap="square" lIns="0" tIns="0" rIns="0" bIns="0" rtlCol="0" anchor="ctr"/>
          <a:lstStyle/>
          <a:p>
            <a:pPr marL="0" indent="0">
              <a:buNone/>
            </a:pPr>
            <a:r>
              <a:rPr lang="en-US" sz="2200" b="1" dirty="0">
                <a:solidFill>
                  <a:srgbClr val="087F78"/>
                </a:solidFill>
                <a:latin typeface="Arial" pitchFamily="34" charset="0"/>
                <a:ea typeface="Arial" pitchFamily="34" charset="-122"/>
                <a:cs typeface="Arial" pitchFamily="34" charset="-120"/>
              </a:rPr>
              <a:t>Finality nhanh</a:t>
            </a:r>
            <a:endParaRPr lang="en-US" sz="2200" dirty="0"/>
          </a:p>
        </p:txBody>
      </p:sp>
      <p:sp>
        <p:nvSpPr>
          <p:cNvPr id="17" name="Text 14"/>
          <p:cNvSpPr/>
          <p:nvPr/>
        </p:nvSpPr>
        <p:spPr>
          <a:xfrm>
            <a:off x="822960" y="4343400"/>
            <a:ext cx="4928616" cy="52120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Đặc tính mạng dưới một giây; không phải cam kết độ trễ toàn ứng dụng.</a:t>
            </a:r>
            <a:endParaRPr lang="en-US" sz="1600" dirty="0"/>
          </a:p>
        </p:txBody>
      </p:sp>
      <p:sp>
        <p:nvSpPr>
          <p:cNvPr id="18" name="Shape 15"/>
          <p:cNvSpPr/>
          <p:nvPr/>
        </p:nvSpPr>
        <p:spPr>
          <a:xfrm>
            <a:off x="6208776" y="3730752"/>
            <a:ext cx="5385816" cy="1298448"/>
          </a:xfrm>
          <a:prstGeom prst="roundRect">
            <a:avLst>
              <a:gd name="adj" fmla="val 10563"/>
            </a:avLst>
          </a:prstGeom>
          <a:solidFill>
            <a:srgbClr val="FFFFFF"/>
          </a:solidFill>
          <a:ln w="12700">
            <a:solidFill>
              <a:srgbClr val="D8E2ED"/>
            </a:solidFill>
            <a:prstDash val="solid"/>
          </a:ln>
        </p:spPr>
      </p:sp>
      <p:sp>
        <p:nvSpPr>
          <p:cNvPr id="19" name="Text 16"/>
          <p:cNvSpPr/>
          <p:nvPr/>
        </p:nvSpPr>
        <p:spPr>
          <a:xfrm>
            <a:off x="6437376" y="3895344"/>
            <a:ext cx="4928616" cy="329184"/>
          </a:xfrm>
          <a:prstGeom prst="rect">
            <a:avLst/>
          </a:prstGeom>
          <a:noFill/>
          <a:ln/>
        </p:spPr>
        <p:txBody>
          <a:bodyPr wrap="square" lIns="0" tIns="0" rIns="0" bIns="0" rtlCol="0" anchor="ctr"/>
          <a:lstStyle/>
          <a:p>
            <a:pPr marL="0" indent="0">
              <a:buNone/>
            </a:pPr>
            <a:r>
              <a:rPr lang="en-US" sz="2200" b="1" dirty="0">
                <a:solidFill>
                  <a:srgbClr val="087F78"/>
                </a:solidFill>
                <a:latin typeface="Arial" pitchFamily="34" charset="0"/>
                <a:ea typeface="Arial" pitchFamily="34" charset="-122"/>
                <a:cs typeface="Arial" pitchFamily="34" charset="-120"/>
              </a:rPr>
              <a:t>Tương thích EVM</a:t>
            </a:r>
            <a:endParaRPr lang="en-US" sz="2200" dirty="0"/>
          </a:p>
        </p:txBody>
      </p:sp>
      <p:sp>
        <p:nvSpPr>
          <p:cNvPr id="20" name="Text 17"/>
          <p:cNvSpPr/>
          <p:nvPr/>
        </p:nvSpPr>
        <p:spPr>
          <a:xfrm>
            <a:off x="6437376" y="4343400"/>
            <a:ext cx="4928616" cy="52120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Solidity • Foundry • Viem / Wagmi • Next.js</a:t>
            </a:r>
            <a:endParaRPr lang="en-US" sz="1600" dirty="0"/>
          </a:p>
        </p:txBody>
      </p:sp>
      <p:sp>
        <p:nvSpPr>
          <p:cNvPr id="21" name="Shape 18"/>
          <p:cNvSpPr/>
          <p:nvPr/>
        </p:nvSpPr>
        <p:spPr>
          <a:xfrm>
            <a:off x="594360" y="5550408"/>
            <a:ext cx="11000232" cy="566928"/>
          </a:xfrm>
          <a:prstGeom prst="roundRect">
            <a:avLst>
              <a:gd name="adj" fmla="val 24194"/>
            </a:avLst>
          </a:prstGeom>
          <a:solidFill>
            <a:srgbClr val="E7F6F1"/>
          </a:solidFill>
          <a:ln w="12700">
            <a:solidFill>
              <a:srgbClr val="E7F6F1"/>
            </a:solidFill>
            <a:prstDash val="solid"/>
          </a:ln>
        </p:spPr>
      </p:sp>
      <p:sp>
        <p:nvSpPr>
          <p:cNvPr id="22" name="Text 19"/>
          <p:cNvSpPr/>
          <p:nvPr/>
        </p:nvSpPr>
        <p:spPr>
          <a:xfrm>
            <a:off x="777240" y="5632704"/>
            <a:ext cx="10634472" cy="402336"/>
          </a:xfrm>
          <a:prstGeom prst="rect">
            <a:avLst/>
          </a:prstGeom>
          <a:noFill/>
          <a:ln/>
        </p:spPr>
        <p:txBody>
          <a:bodyPr wrap="square" lIns="0" tIns="0" rIns="0" bIns="0" rtlCol="0" anchor="ctr"/>
          <a:lstStyle/>
          <a:p>
            <a:pPr marL="0" indent="0">
              <a:buNone/>
            </a:pPr>
            <a:r>
              <a:rPr lang="en-US" sz="1400" b="1" dirty="0">
                <a:solidFill>
                  <a:srgbClr val="087F78"/>
                </a:solidFill>
                <a:latin typeface="Arial" pitchFamily="34" charset="0"/>
                <a:ea typeface="Arial" pitchFamily="34" charset="-122"/>
                <a:cs typeface="Arial" pitchFamily="34" charset="-120"/>
              </a:rPr>
              <a:t>USDC gas và USDC ERC-20 là cùng một tài sản. Không cộng hai số dư.</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384048"/>
            <a:ext cx="10789920" cy="237744"/>
          </a:xfrm>
          <a:prstGeom prst="rect">
            <a:avLst/>
          </a:prstGeom>
          <a:noFill/>
          <a:ln/>
        </p:spPr>
        <p:txBody>
          <a:bodyPr wrap="square" lIns="0" tIns="0" rIns="0" bIns="0" rtlCol="0" anchor="ctr"/>
          <a:lstStyle/>
          <a:p>
            <a:pPr marL="0" indent="0">
              <a:buNone/>
            </a:pPr>
            <a:r>
              <a:rPr lang="en-US" sz="1100" b="1" kern="0" spc="140" dirty="0">
                <a:solidFill>
                  <a:srgbClr val="087F78"/>
                </a:solidFill>
                <a:latin typeface="Arial" pitchFamily="34" charset="0"/>
                <a:ea typeface="Arial" pitchFamily="34" charset="-122"/>
                <a:cs typeface="Arial" pitchFamily="34" charset="-120"/>
              </a:rPr>
              <a:t>PHẠM VI MVP</a:t>
            </a:r>
            <a:endParaRPr lang="en-US" sz="1100" dirty="0"/>
          </a:p>
        </p:txBody>
      </p:sp>
      <p:sp>
        <p:nvSpPr>
          <p:cNvPr id="4" name="Text 2"/>
          <p:cNvSpPr/>
          <p:nvPr/>
        </p:nvSpPr>
        <p:spPr>
          <a:xfrm>
            <a:off x="594360" y="841248"/>
            <a:ext cx="11000232" cy="566928"/>
          </a:xfrm>
          <a:prstGeom prst="rect">
            <a:avLst/>
          </a:prstGeom>
          <a:noFill/>
          <a:ln/>
        </p:spPr>
        <p:txBody>
          <a:bodyPr wrap="square" lIns="0" tIns="0" rIns="0" bIns="0" rtlCol="0" anchor="ctr"/>
          <a:lstStyle/>
          <a:p>
            <a:pPr marL="0" indent="0">
              <a:buNone/>
            </a:pPr>
            <a:r>
              <a:rPr lang="en-US" sz="2900" b="1" dirty="0">
                <a:solidFill>
                  <a:srgbClr val="142B45"/>
                </a:solidFill>
                <a:latin typeface="Arial" pitchFamily="34" charset="0"/>
                <a:ea typeface="Arial" pitchFamily="34" charset="-122"/>
                <a:cs typeface="Arial" pitchFamily="34" charset="-120"/>
              </a:rPr>
              <a:t>Recipe biến ý định thành một quy trình</a:t>
            </a:r>
            <a:endParaRPr lang="en-US" sz="2900" dirty="0"/>
          </a:p>
        </p:txBody>
      </p:sp>
      <p:sp>
        <p:nvSpPr>
          <p:cNvPr id="5" name="Text 3"/>
          <p:cNvSpPr/>
          <p:nvPr/>
        </p:nvSpPr>
        <p:spPr>
          <a:xfrm>
            <a:off x="594360" y="1508760"/>
            <a:ext cx="11000232" cy="47548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Người dùng cấu hình quy trình có sẵn, thay vì tự ghép từng lời gọi hợp đồng.</a:t>
            </a:r>
            <a:endParaRPr lang="en-US" sz="1600" dirty="0"/>
          </a:p>
        </p:txBody>
      </p:sp>
      <p:sp>
        <p:nvSpPr>
          <p:cNvPr id="6" name="Text 4"/>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52657A"/>
                </a:solidFill>
                <a:latin typeface="Arial" pitchFamily="34" charset="0"/>
                <a:ea typeface="Arial" pitchFamily="34" charset="-122"/>
                <a:cs typeface="Arial" pitchFamily="34" charset="-120"/>
              </a:rPr>
              <a:t>DEFI RECIPES ON ARC  /  ARC TESTNET</a:t>
            </a:r>
            <a:endParaRPr lang="en-US" sz="900" dirty="0"/>
          </a:p>
        </p:txBody>
      </p:sp>
      <p:sp>
        <p:nvSpPr>
          <p:cNvPr id="7" name="Text 5"/>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52657A"/>
                </a:solidFill>
                <a:latin typeface="Arial" pitchFamily="34" charset="0"/>
                <a:ea typeface="Arial" pitchFamily="34" charset="-122"/>
                <a:cs typeface="Arial" pitchFamily="34" charset="-120"/>
              </a:rPr>
              <a:t>03:45–05:00   |   04 / 12</a:t>
            </a:r>
            <a:endParaRPr lang="en-US" sz="1000" dirty="0"/>
          </a:p>
        </p:txBody>
      </p:sp>
      <p:sp>
        <p:nvSpPr>
          <p:cNvPr id="9" name="Shape 6"/>
          <p:cNvSpPr/>
          <p:nvPr/>
        </p:nvSpPr>
        <p:spPr>
          <a:xfrm>
            <a:off x="594360" y="2286000"/>
            <a:ext cx="1993392" cy="777240"/>
          </a:xfrm>
          <a:prstGeom prst="roundRect">
            <a:avLst>
              <a:gd name="adj" fmla="val 17647"/>
            </a:avLst>
          </a:prstGeom>
          <a:solidFill>
            <a:srgbClr val="E7F6F1"/>
          </a:solidFill>
          <a:ln w="12700">
            <a:solidFill>
              <a:srgbClr val="E7F6F1"/>
            </a:solidFill>
            <a:prstDash val="solid"/>
          </a:ln>
        </p:spPr>
      </p:sp>
      <p:sp>
        <p:nvSpPr>
          <p:cNvPr id="10" name="Text 7"/>
          <p:cNvSpPr/>
          <p:nvPr/>
        </p:nvSpPr>
        <p:spPr>
          <a:xfrm>
            <a:off x="685800" y="2514600"/>
            <a:ext cx="1810512" cy="283464"/>
          </a:xfrm>
          <a:prstGeom prst="rect">
            <a:avLst/>
          </a:prstGeom>
          <a:noFill/>
          <a:ln/>
        </p:spPr>
        <p:txBody>
          <a:bodyPr wrap="square" lIns="0" tIns="0" rIns="0" bIns="0" rtlCol="0" anchor="ctr"/>
          <a:lstStyle/>
          <a:p>
            <a:pPr marL="0" indent="0" algn="ctr">
              <a:buNone/>
            </a:pPr>
            <a:r>
              <a:rPr lang="en-US" sz="1800" b="1" dirty="0">
                <a:solidFill>
                  <a:srgbClr val="087F78"/>
                </a:solidFill>
                <a:latin typeface="Arial" pitchFamily="34" charset="0"/>
                <a:ea typeface="Arial" pitchFamily="34" charset="-122"/>
                <a:cs typeface="Arial" pitchFamily="34" charset="-120"/>
              </a:rPr>
              <a:t>Hành động</a:t>
            </a:r>
            <a:endParaRPr lang="en-US" sz="1800" dirty="0"/>
          </a:p>
        </p:txBody>
      </p:sp>
      <p:sp>
        <p:nvSpPr>
          <p:cNvPr id="11" name="Text 8"/>
          <p:cNvSpPr/>
          <p:nvPr/>
        </p:nvSpPr>
        <p:spPr>
          <a:xfrm>
            <a:off x="2606040" y="2523744"/>
            <a:ext cx="228600" cy="256032"/>
          </a:xfrm>
          <a:prstGeom prst="rect">
            <a:avLst/>
          </a:prstGeom>
          <a:noFill/>
          <a:ln/>
        </p:spPr>
        <p:txBody>
          <a:bodyPr wrap="square" lIns="0" tIns="0" rIns="0" bIns="0" rtlCol="0" anchor="ctr"/>
          <a:lstStyle/>
          <a:p>
            <a:pPr marL="0" indent="0">
              <a:buNone/>
            </a:pPr>
            <a:r>
              <a:rPr lang="en-US" sz="1500" dirty="0">
                <a:solidFill>
                  <a:srgbClr val="087F78"/>
                </a:solidFill>
                <a:latin typeface="Arial" pitchFamily="34" charset="0"/>
                <a:ea typeface="Arial" pitchFamily="34" charset="-122"/>
                <a:cs typeface="Arial" pitchFamily="34" charset="-120"/>
              </a:rPr>
              <a:t>→</a:t>
            </a:r>
            <a:endParaRPr lang="en-US" sz="1500" dirty="0"/>
          </a:p>
        </p:txBody>
      </p:sp>
      <p:sp>
        <p:nvSpPr>
          <p:cNvPr id="12" name="Shape 9"/>
          <p:cNvSpPr/>
          <p:nvPr/>
        </p:nvSpPr>
        <p:spPr>
          <a:xfrm>
            <a:off x="2843784" y="2286000"/>
            <a:ext cx="1993392" cy="777240"/>
          </a:xfrm>
          <a:prstGeom prst="roundRect">
            <a:avLst>
              <a:gd name="adj" fmla="val 17647"/>
            </a:avLst>
          </a:prstGeom>
          <a:solidFill>
            <a:srgbClr val="E7F6F1"/>
          </a:solidFill>
          <a:ln w="12700">
            <a:solidFill>
              <a:srgbClr val="E7F6F1"/>
            </a:solidFill>
            <a:prstDash val="solid"/>
          </a:ln>
        </p:spPr>
      </p:sp>
      <p:sp>
        <p:nvSpPr>
          <p:cNvPr id="13" name="Text 10"/>
          <p:cNvSpPr/>
          <p:nvPr/>
        </p:nvSpPr>
        <p:spPr>
          <a:xfrm>
            <a:off x="2935224" y="2514600"/>
            <a:ext cx="1810512" cy="283464"/>
          </a:xfrm>
          <a:prstGeom prst="rect">
            <a:avLst/>
          </a:prstGeom>
          <a:noFill/>
          <a:ln/>
        </p:spPr>
        <p:txBody>
          <a:bodyPr wrap="square" lIns="0" tIns="0" rIns="0" bIns="0" rtlCol="0" anchor="ctr"/>
          <a:lstStyle/>
          <a:p>
            <a:pPr marL="0" indent="0" algn="ctr">
              <a:buNone/>
            </a:pPr>
            <a:r>
              <a:rPr lang="en-US" sz="1800" b="1" dirty="0">
                <a:solidFill>
                  <a:srgbClr val="087F78"/>
                </a:solidFill>
                <a:latin typeface="Arial" pitchFamily="34" charset="0"/>
                <a:ea typeface="Arial" pitchFamily="34" charset="-122"/>
                <a:cs typeface="Arial" pitchFamily="34" charset="-120"/>
              </a:rPr>
              <a:t>Lịch chạy</a:t>
            </a:r>
            <a:endParaRPr lang="en-US" sz="1800" dirty="0"/>
          </a:p>
        </p:txBody>
      </p:sp>
      <p:sp>
        <p:nvSpPr>
          <p:cNvPr id="14" name="Text 11"/>
          <p:cNvSpPr/>
          <p:nvPr/>
        </p:nvSpPr>
        <p:spPr>
          <a:xfrm>
            <a:off x="4855464" y="2523744"/>
            <a:ext cx="228600" cy="256032"/>
          </a:xfrm>
          <a:prstGeom prst="rect">
            <a:avLst/>
          </a:prstGeom>
          <a:noFill/>
          <a:ln/>
        </p:spPr>
        <p:txBody>
          <a:bodyPr wrap="square" lIns="0" tIns="0" rIns="0" bIns="0" rtlCol="0" anchor="ctr"/>
          <a:lstStyle/>
          <a:p>
            <a:pPr marL="0" indent="0">
              <a:buNone/>
            </a:pPr>
            <a:r>
              <a:rPr lang="en-US" sz="1500" dirty="0">
                <a:solidFill>
                  <a:srgbClr val="087F78"/>
                </a:solidFill>
                <a:latin typeface="Arial" pitchFamily="34" charset="0"/>
                <a:ea typeface="Arial" pitchFamily="34" charset="-122"/>
                <a:cs typeface="Arial" pitchFamily="34" charset="-120"/>
              </a:rPr>
              <a:t>→</a:t>
            </a:r>
            <a:endParaRPr lang="en-US" sz="1500" dirty="0"/>
          </a:p>
        </p:txBody>
      </p:sp>
      <p:sp>
        <p:nvSpPr>
          <p:cNvPr id="15" name="Shape 12"/>
          <p:cNvSpPr/>
          <p:nvPr/>
        </p:nvSpPr>
        <p:spPr>
          <a:xfrm>
            <a:off x="5093208" y="2286000"/>
            <a:ext cx="1993392" cy="777240"/>
          </a:xfrm>
          <a:prstGeom prst="roundRect">
            <a:avLst>
              <a:gd name="adj" fmla="val 17647"/>
            </a:avLst>
          </a:prstGeom>
          <a:solidFill>
            <a:srgbClr val="E7F6F1"/>
          </a:solidFill>
          <a:ln w="12700">
            <a:solidFill>
              <a:srgbClr val="E7F6F1"/>
            </a:solidFill>
            <a:prstDash val="solid"/>
          </a:ln>
        </p:spPr>
      </p:sp>
      <p:sp>
        <p:nvSpPr>
          <p:cNvPr id="16" name="Text 13"/>
          <p:cNvSpPr/>
          <p:nvPr/>
        </p:nvSpPr>
        <p:spPr>
          <a:xfrm>
            <a:off x="5184648" y="2514600"/>
            <a:ext cx="1810512" cy="283464"/>
          </a:xfrm>
          <a:prstGeom prst="rect">
            <a:avLst/>
          </a:prstGeom>
          <a:noFill/>
          <a:ln/>
        </p:spPr>
        <p:txBody>
          <a:bodyPr wrap="square" lIns="0" tIns="0" rIns="0" bIns="0" rtlCol="0" anchor="ctr"/>
          <a:lstStyle/>
          <a:p>
            <a:pPr marL="0" indent="0" algn="ctr">
              <a:buNone/>
            </a:pPr>
            <a:r>
              <a:rPr lang="en-US" sz="1800" b="1" dirty="0">
                <a:solidFill>
                  <a:srgbClr val="087F78"/>
                </a:solidFill>
                <a:latin typeface="Arial" pitchFamily="34" charset="0"/>
                <a:ea typeface="Arial" pitchFamily="34" charset="-122"/>
                <a:cs typeface="Arial" pitchFamily="34" charset="-120"/>
              </a:rPr>
              <a:t>Ngân sách</a:t>
            </a:r>
            <a:endParaRPr lang="en-US" sz="1800" dirty="0"/>
          </a:p>
        </p:txBody>
      </p:sp>
      <p:sp>
        <p:nvSpPr>
          <p:cNvPr id="17" name="Text 14"/>
          <p:cNvSpPr/>
          <p:nvPr/>
        </p:nvSpPr>
        <p:spPr>
          <a:xfrm>
            <a:off x="7104888" y="2523744"/>
            <a:ext cx="228600" cy="256032"/>
          </a:xfrm>
          <a:prstGeom prst="rect">
            <a:avLst/>
          </a:prstGeom>
          <a:noFill/>
          <a:ln/>
        </p:spPr>
        <p:txBody>
          <a:bodyPr wrap="square" lIns="0" tIns="0" rIns="0" bIns="0" rtlCol="0" anchor="ctr"/>
          <a:lstStyle/>
          <a:p>
            <a:pPr marL="0" indent="0">
              <a:buNone/>
            </a:pPr>
            <a:r>
              <a:rPr lang="en-US" sz="1500" dirty="0">
                <a:solidFill>
                  <a:srgbClr val="087F78"/>
                </a:solidFill>
                <a:latin typeface="Arial" pitchFamily="34" charset="0"/>
                <a:ea typeface="Arial" pitchFamily="34" charset="-122"/>
                <a:cs typeface="Arial" pitchFamily="34" charset="-120"/>
              </a:rPr>
              <a:t>→</a:t>
            </a:r>
            <a:endParaRPr lang="en-US" sz="1500" dirty="0"/>
          </a:p>
        </p:txBody>
      </p:sp>
      <p:sp>
        <p:nvSpPr>
          <p:cNvPr id="18" name="Shape 15"/>
          <p:cNvSpPr/>
          <p:nvPr/>
        </p:nvSpPr>
        <p:spPr>
          <a:xfrm>
            <a:off x="7342632" y="2286000"/>
            <a:ext cx="1993392" cy="777240"/>
          </a:xfrm>
          <a:prstGeom prst="roundRect">
            <a:avLst>
              <a:gd name="adj" fmla="val 17647"/>
            </a:avLst>
          </a:prstGeom>
          <a:solidFill>
            <a:srgbClr val="E7F6F1"/>
          </a:solidFill>
          <a:ln w="12700">
            <a:solidFill>
              <a:srgbClr val="E7F6F1"/>
            </a:solidFill>
            <a:prstDash val="solid"/>
          </a:ln>
        </p:spPr>
      </p:sp>
      <p:sp>
        <p:nvSpPr>
          <p:cNvPr id="19" name="Text 16"/>
          <p:cNvSpPr/>
          <p:nvPr/>
        </p:nvSpPr>
        <p:spPr>
          <a:xfrm>
            <a:off x="7434072" y="2514600"/>
            <a:ext cx="1810512" cy="283464"/>
          </a:xfrm>
          <a:prstGeom prst="rect">
            <a:avLst/>
          </a:prstGeom>
          <a:noFill/>
          <a:ln/>
        </p:spPr>
        <p:txBody>
          <a:bodyPr wrap="square" lIns="0" tIns="0" rIns="0" bIns="0" rtlCol="0" anchor="ctr"/>
          <a:lstStyle/>
          <a:p>
            <a:pPr marL="0" indent="0" algn="ctr">
              <a:buNone/>
            </a:pPr>
            <a:r>
              <a:rPr lang="en-US" sz="1800" b="1" dirty="0">
                <a:solidFill>
                  <a:srgbClr val="087F78"/>
                </a:solidFill>
                <a:latin typeface="Arial" pitchFamily="34" charset="0"/>
                <a:ea typeface="Arial" pitchFamily="34" charset="-122"/>
                <a:cs typeface="Arial" pitchFamily="34" charset="-120"/>
              </a:rPr>
              <a:t>Giới hạn</a:t>
            </a:r>
            <a:endParaRPr lang="en-US" sz="1800" dirty="0"/>
          </a:p>
        </p:txBody>
      </p:sp>
      <p:sp>
        <p:nvSpPr>
          <p:cNvPr id="20" name="Text 17"/>
          <p:cNvSpPr/>
          <p:nvPr/>
        </p:nvSpPr>
        <p:spPr>
          <a:xfrm>
            <a:off x="9354312" y="2523744"/>
            <a:ext cx="228600" cy="256032"/>
          </a:xfrm>
          <a:prstGeom prst="rect">
            <a:avLst/>
          </a:prstGeom>
          <a:noFill/>
          <a:ln/>
        </p:spPr>
        <p:txBody>
          <a:bodyPr wrap="square" lIns="0" tIns="0" rIns="0" bIns="0" rtlCol="0" anchor="ctr"/>
          <a:lstStyle/>
          <a:p>
            <a:pPr marL="0" indent="0">
              <a:buNone/>
            </a:pPr>
            <a:r>
              <a:rPr lang="en-US" sz="1500" dirty="0">
                <a:solidFill>
                  <a:srgbClr val="087F78"/>
                </a:solidFill>
                <a:latin typeface="Arial" pitchFamily="34" charset="0"/>
                <a:ea typeface="Arial" pitchFamily="34" charset="-122"/>
                <a:cs typeface="Arial" pitchFamily="34" charset="-120"/>
              </a:rPr>
              <a:t>→</a:t>
            </a:r>
            <a:endParaRPr lang="en-US" sz="1500" dirty="0"/>
          </a:p>
        </p:txBody>
      </p:sp>
      <p:sp>
        <p:nvSpPr>
          <p:cNvPr id="21" name="Shape 18"/>
          <p:cNvSpPr/>
          <p:nvPr/>
        </p:nvSpPr>
        <p:spPr>
          <a:xfrm>
            <a:off x="9592056" y="2286000"/>
            <a:ext cx="1993392" cy="777240"/>
          </a:xfrm>
          <a:prstGeom prst="roundRect">
            <a:avLst>
              <a:gd name="adj" fmla="val 17647"/>
            </a:avLst>
          </a:prstGeom>
          <a:solidFill>
            <a:srgbClr val="E7F6F1"/>
          </a:solidFill>
          <a:ln w="12700">
            <a:solidFill>
              <a:srgbClr val="E7F6F1"/>
            </a:solidFill>
            <a:prstDash val="solid"/>
          </a:ln>
        </p:spPr>
      </p:sp>
      <p:sp>
        <p:nvSpPr>
          <p:cNvPr id="22" name="Text 19"/>
          <p:cNvSpPr/>
          <p:nvPr/>
        </p:nvSpPr>
        <p:spPr>
          <a:xfrm>
            <a:off x="9683496" y="2514600"/>
            <a:ext cx="1810512" cy="283464"/>
          </a:xfrm>
          <a:prstGeom prst="rect">
            <a:avLst/>
          </a:prstGeom>
          <a:noFill/>
          <a:ln/>
        </p:spPr>
        <p:txBody>
          <a:bodyPr wrap="square" lIns="0" tIns="0" rIns="0" bIns="0" rtlCol="0" anchor="ctr"/>
          <a:lstStyle/>
          <a:p>
            <a:pPr marL="0" indent="0" algn="ctr">
              <a:buNone/>
            </a:pPr>
            <a:r>
              <a:rPr lang="en-US" sz="1800" b="1" dirty="0">
                <a:solidFill>
                  <a:srgbClr val="087F78"/>
                </a:solidFill>
                <a:latin typeface="Arial" pitchFamily="34" charset="0"/>
                <a:ea typeface="Arial" pitchFamily="34" charset="-122"/>
                <a:cs typeface="Arial" pitchFamily="34" charset="-120"/>
              </a:rPr>
              <a:t>Theo dõi</a:t>
            </a:r>
            <a:endParaRPr lang="en-US" sz="1800" dirty="0"/>
          </a:p>
        </p:txBody>
      </p:sp>
      <p:sp>
        <p:nvSpPr>
          <p:cNvPr id="23" name="Shape 20"/>
          <p:cNvSpPr/>
          <p:nvPr/>
        </p:nvSpPr>
        <p:spPr>
          <a:xfrm>
            <a:off x="594360" y="3529584"/>
            <a:ext cx="5385816" cy="1536192"/>
          </a:xfrm>
          <a:prstGeom prst="roundRect">
            <a:avLst>
              <a:gd name="adj" fmla="val 8929"/>
            </a:avLst>
          </a:prstGeom>
          <a:solidFill>
            <a:srgbClr val="FFFFFF"/>
          </a:solidFill>
          <a:ln w="12700">
            <a:solidFill>
              <a:srgbClr val="D8E2ED"/>
            </a:solidFill>
            <a:prstDash val="solid"/>
          </a:ln>
        </p:spPr>
      </p:sp>
      <p:sp>
        <p:nvSpPr>
          <p:cNvPr id="24" name="Shape 21"/>
          <p:cNvSpPr/>
          <p:nvPr/>
        </p:nvSpPr>
        <p:spPr>
          <a:xfrm>
            <a:off x="6208776" y="3529584"/>
            <a:ext cx="5385816" cy="1536192"/>
          </a:xfrm>
          <a:prstGeom prst="roundRect">
            <a:avLst>
              <a:gd name="adj" fmla="val 8929"/>
            </a:avLst>
          </a:prstGeom>
          <a:solidFill>
            <a:srgbClr val="FFFFFF"/>
          </a:solidFill>
          <a:ln w="12700">
            <a:solidFill>
              <a:srgbClr val="D8E2ED"/>
            </a:solidFill>
            <a:prstDash val="solid"/>
          </a:ln>
        </p:spPr>
      </p:sp>
      <p:sp>
        <p:nvSpPr>
          <p:cNvPr id="25" name="Text 22"/>
          <p:cNvSpPr/>
          <p:nvPr/>
        </p:nvSpPr>
        <p:spPr>
          <a:xfrm>
            <a:off x="868680" y="3712464"/>
            <a:ext cx="4837176" cy="347472"/>
          </a:xfrm>
          <a:prstGeom prst="rect">
            <a:avLst/>
          </a:prstGeom>
          <a:noFill/>
          <a:ln/>
        </p:spPr>
        <p:txBody>
          <a:bodyPr wrap="square" lIns="0" tIns="0" rIns="0" bIns="0" rtlCol="0" anchor="ctr"/>
          <a:lstStyle/>
          <a:p>
            <a:pPr marL="0" indent="0">
              <a:buNone/>
            </a:pPr>
            <a:r>
              <a:rPr lang="en-US" sz="2000" b="1" dirty="0">
                <a:solidFill>
                  <a:srgbClr val="142B45"/>
                </a:solidFill>
                <a:latin typeface="Arial" pitchFamily="34" charset="0"/>
                <a:ea typeface="Arial" pitchFamily="34" charset="-122"/>
                <a:cs typeface="Arial" pitchFamily="34" charset="-120"/>
              </a:rPr>
              <a:t>01  USDC → EURC DCA</a:t>
            </a:r>
            <a:endParaRPr lang="en-US" sz="2000" dirty="0"/>
          </a:p>
        </p:txBody>
      </p:sp>
      <p:sp>
        <p:nvSpPr>
          <p:cNvPr id="26" name="Text 23"/>
          <p:cNvSpPr/>
          <p:nvPr/>
        </p:nvSpPr>
        <p:spPr>
          <a:xfrm>
            <a:off x="868680" y="4160520"/>
            <a:ext cx="4837176" cy="82296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Đổi định kỳ theo ngân sách.</a:t>
            </a:r>
            <a:endParaRPr lang="en-US" sz="1700" dirty="0"/>
          </a:p>
          <a:p>
            <a:pPr marL="0" indent="0">
              <a:buNone/>
            </a:pPr>
            <a:r>
              <a:rPr lang="en-US" sz="1700" dirty="0">
                <a:solidFill>
                  <a:srgbClr val="52657A"/>
                </a:solidFill>
                <a:latin typeface="Arial" pitchFamily="34" charset="0"/>
                <a:ea typeface="Arial" pitchFamily="34" charset="-122"/>
                <a:cs typeface="Arial" pitchFamily="34" charset="-120"/>
              </a:rPr>
              <a:t>Luồng demo chính của bài nói.</a:t>
            </a:r>
            <a:endParaRPr lang="en-US" sz="1700" dirty="0"/>
          </a:p>
        </p:txBody>
      </p:sp>
      <p:sp>
        <p:nvSpPr>
          <p:cNvPr id="27" name="Text 24"/>
          <p:cNvSpPr/>
          <p:nvPr/>
        </p:nvSpPr>
        <p:spPr>
          <a:xfrm>
            <a:off x="6483096" y="3712464"/>
            <a:ext cx="4837176" cy="347472"/>
          </a:xfrm>
          <a:prstGeom prst="rect">
            <a:avLst/>
          </a:prstGeom>
          <a:noFill/>
          <a:ln/>
        </p:spPr>
        <p:txBody>
          <a:bodyPr wrap="square" lIns="0" tIns="0" rIns="0" bIns="0" rtlCol="0" anchor="ctr"/>
          <a:lstStyle/>
          <a:p>
            <a:pPr marL="0" indent="0">
              <a:buNone/>
            </a:pPr>
            <a:r>
              <a:rPr lang="en-US" sz="2000" b="1" dirty="0">
                <a:solidFill>
                  <a:srgbClr val="142B45"/>
                </a:solidFill>
                <a:latin typeface="Arial" pitchFamily="34" charset="0"/>
                <a:ea typeface="Arial" pitchFamily="34" charset="-122"/>
                <a:cs typeface="Arial" pitchFamily="34" charset="-120"/>
              </a:rPr>
              <a:t>02  USDC Yield Auto-Compounder</a:t>
            </a:r>
            <a:endParaRPr lang="en-US" sz="2000" dirty="0"/>
          </a:p>
        </p:txBody>
      </p:sp>
      <p:sp>
        <p:nvSpPr>
          <p:cNvPr id="28" name="Text 25"/>
          <p:cNvSpPr/>
          <p:nvPr/>
        </p:nvSpPr>
        <p:spPr>
          <a:xfrm>
            <a:off x="6483096" y="4160520"/>
            <a:ext cx="4837176" cy="82296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Hướng tự động hóa phần thưởng.</a:t>
            </a:r>
            <a:endParaRPr lang="en-US" sz="1700" dirty="0"/>
          </a:p>
          <a:p>
            <a:pPr marL="0" indent="0">
              <a:buNone/>
            </a:pPr>
            <a:r>
              <a:rPr lang="en-US" sz="1700" dirty="0">
                <a:solidFill>
                  <a:srgbClr val="52657A"/>
                </a:solidFill>
                <a:latin typeface="Arial" pitchFamily="34" charset="0"/>
                <a:ea typeface="Arial" pitchFamily="34" charset="-122"/>
                <a:cs typeface="Arial" pitchFamily="34" charset="-120"/>
              </a:rPr>
              <a:t>Cần xác minh chuỗi compound đầy đủ.</a:t>
            </a:r>
            <a:endParaRPr lang="en-US" sz="1700" dirty="0"/>
          </a:p>
        </p:txBody>
      </p:sp>
      <p:sp>
        <p:nvSpPr>
          <p:cNvPr id="29" name="Shape 26"/>
          <p:cNvSpPr/>
          <p:nvPr/>
        </p:nvSpPr>
        <p:spPr>
          <a:xfrm>
            <a:off x="594360" y="5550408"/>
            <a:ext cx="11000232" cy="566928"/>
          </a:xfrm>
          <a:prstGeom prst="roundRect">
            <a:avLst>
              <a:gd name="adj" fmla="val 24194"/>
            </a:avLst>
          </a:prstGeom>
          <a:solidFill>
            <a:srgbClr val="E7F6F1"/>
          </a:solidFill>
          <a:ln w="12700">
            <a:solidFill>
              <a:srgbClr val="E7F6F1"/>
            </a:solidFill>
            <a:prstDash val="solid"/>
          </a:ln>
        </p:spPr>
      </p:sp>
      <p:sp>
        <p:nvSpPr>
          <p:cNvPr id="30" name="Text 27"/>
          <p:cNvSpPr/>
          <p:nvPr/>
        </p:nvSpPr>
        <p:spPr>
          <a:xfrm>
            <a:off x="777240" y="5632704"/>
            <a:ext cx="10634472" cy="402336"/>
          </a:xfrm>
          <a:prstGeom prst="rect">
            <a:avLst/>
          </a:prstGeom>
          <a:noFill/>
          <a:ln/>
        </p:spPr>
        <p:txBody>
          <a:bodyPr wrap="square" lIns="0" tIns="0" rIns="0" bIns="0" rtlCol="0" anchor="ctr"/>
          <a:lstStyle/>
          <a:p>
            <a:pPr marL="0" indent="0">
              <a:buNone/>
            </a:pPr>
            <a:r>
              <a:rPr lang="en-US" sz="1400" b="1" dirty="0">
                <a:solidFill>
                  <a:srgbClr val="087F78"/>
                </a:solidFill>
                <a:latin typeface="Arial" pitchFamily="34" charset="0"/>
                <a:ea typeface="Arial" pitchFamily="34" charset="-122"/>
                <a:cs typeface="Arial" pitchFamily="34" charset="-120"/>
              </a:rPr>
              <a:t>MVP ưu tiên thực thi, quyền hạn và vận hành — chưa đặt marketplace mở làm trọng tâm.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384048"/>
            <a:ext cx="10789920" cy="237744"/>
          </a:xfrm>
          <a:prstGeom prst="rect">
            <a:avLst/>
          </a:prstGeom>
          <a:noFill/>
          <a:ln/>
        </p:spPr>
        <p:txBody>
          <a:bodyPr wrap="square" lIns="0" tIns="0" rIns="0" bIns="0" rtlCol="0" anchor="ctr"/>
          <a:lstStyle/>
          <a:p>
            <a:pPr marL="0" indent="0">
              <a:buNone/>
            </a:pPr>
            <a:r>
              <a:rPr lang="en-US" sz="1100" b="1" kern="0" spc="140" dirty="0">
                <a:solidFill>
                  <a:srgbClr val="087F78"/>
                </a:solidFill>
                <a:latin typeface="Arial" pitchFamily="34" charset="0"/>
                <a:ea typeface="Arial" pitchFamily="34" charset="-122"/>
                <a:cs typeface="Arial" pitchFamily="34" charset="-120"/>
              </a:rPr>
              <a:t>RECIPE 01</a:t>
            </a:r>
            <a:endParaRPr lang="en-US" sz="1100" dirty="0"/>
          </a:p>
        </p:txBody>
      </p:sp>
      <p:sp>
        <p:nvSpPr>
          <p:cNvPr id="4" name="Text 2"/>
          <p:cNvSpPr/>
          <p:nvPr/>
        </p:nvSpPr>
        <p:spPr>
          <a:xfrm>
            <a:off x="594360" y="841248"/>
            <a:ext cx="11000232" cy="566928"/>
          </a:xfrm>
          <a:prstGeom prst="rect">
            <a:avLst/>
          </a:prstGeom>
          <a:noFill/>
          <a:ln/>
        </p:spPr>
        <p:txBody>
          <a:bodyPr wrap="square" lIns="0" tIns="0" rIns="0" bIns="0" rtlCol="0" anchor="ctr"/>
          <a:lstStyle/>
          <a:p>
            <a:pPr marL="0" indent="0">
              <a:buNone/>
            </a:pPr>
            <a:r>
              <a:rPr lang="en-US" sz="2900" b="1" dirty="0">
                <a:solidFill>
                  <a:srgbClr val="142B45"/>
                </a:solidFill>
                <a:latin typeface="Arial" pitchFamily="34" charset="0"/>
                <a:ea typeface="Arial" pitchFamily="34" charset="-122"/>
                <a:cs typeface="Arial" pitchFamily="34" charset="-120"/>
              </a:rPr>
              <a:t>DCA USDC → EURC theo ngân sách</a:t>
            </a:r>
            <a:endParaRPr lang="en-US" sz="2900" dirty="0"/>
          </a:p>
        </p:txBody>
      </p:sp>
      <p:sp>
        <p:nvSpPr>
          <p:cNvPr id="5" name="Text 3"/>
          <p:cNvSpPr/>
          <p:nvPr/>
        </p:nvSpPr>
        <p:spPr>
          <a:xfrm>
            <a:off x="594360" y="1508760"/>
            <a:ext cx="11000232" cy="47548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Cấu hình minh họa; không phải khuyến nghị đầu tư hay bảo đảm lợi nhuận.</a:t>
            </a:r>
            <a:endParaRPr lang="en-US" sz="1600" dirty="0"/>
          </a:p>
        </p:txBody>
      </p:sp>
      <p:sp>
        <p:nvSpPr>
          <p:cNvPr id="6" name="Text 4"/>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52657A"/>
                </a:solidFill>
                <a:latin typeface="Arial" pitchFamily="34" charset="0"/>
                <a:ea typeface="Arial" pitchFamily="34" charset="-122"/>
                <a:cs typeface="Arial" pitchFamily="34" charset="-120"/>
              </a:rPr>
              <a:t>DEFI RECIPES ON ARC  /  ARC TESTNET</a:t>
            </a:r>
            <a:endParaRPr lang="en-US" sz="900" dirty="0"/>
          </a:p>
        </p:txBody>
      </p:sp>
      <p:sp>
        <p:nvSpPr>
          <p:cNvPr id="7" name="Text 5"/>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52657A"/>
                </a:solidFill>
                <a:latin typeface="Arial" pitchFamily="34" charset="0"/>
                <a:ea typeface="Arial" pitchFamily="34" charset="-122"/>
                <a:cs typeface="Arial" pitchFamily="34" charset="-120"/>
              </a:rPr>
              <a:t>05:00–06:30   |   05 / 12</a:t>
            </a:r>
            <a:endParaRPr lang="en-US" sz="1000" dirty="0"/>
          </a:p>
        </p:txBody>
      </p:sp>
      <p:sp>
        <p:nvSpPr>
          <p:cNvPr id="9" name="Shape 6"/>
          <p:cNvSpPr/>
          <p:nvPr/>
        </p:nvSpPr>
        <p:spPr>
          <a:xfrm>
            <a:off x="594360" y="2304288"/>
            <a:ext cx="2578608" cy="1353312"/>
          </a:xfrm>
          <a:prstGeom prst="roundRect">
            <a:avLst>
              <a:gd name="adj" fmla="val 10135"/>
            </a:avLst>
          </a:prstGeom>
          <a:solidFill>
            <a:srgbClr val="0B1930"/>
          </a:solidFill>
          <a:ln w="12700">
            <a:solidFill>
              <a:srgbClr val="0B1930"/>
            </a:solidFill>
            <a:prstDash val="solid"/>
          </a:ln>
        </p:spPr>
      </p:sp>
      <p:sp>
        <p:nvSpPr>
          <p:cNvPr id="10" name="Text 7"/>
          <p:cNvSpPr/>
          <p:nvPr/>
        </p:nvSpPr>
        <p:spPr>
          <a:xfrm>
            <a:off x="731520" y="2542032"/>
            <a:ext cx="2304288" cy="512064"/>
          </a:xfrm>
          <a:prstGeom prst="rect">
            <a:avLst/>
          </a:prstGeom>
          <a:noFill/>
          <a:ln/>
        </p:spPr>
        <p:txBody>
          <a:bodyPr wrap="square" lIns="0" tIns="0" rIns="0" bIns="0" rtlCol="0" anchor="ctr"/>
          <a:lstStyle/>
          <a:p>
            <a:pPr marL="0" indent="0" algn="ctr">
              <a:buNone/>
            </a:pPr>
            <a:r>
              <a:rPr lang="en-US" sz="3400" b="1" dirty="0">
                <a:solidFill>
                  <a:srgbClr val="76E7C7"/>
                </a:solidFill>
                <a:latin typeface="Arial" pitchFamily="34" charset="0"/>
                <a:ea typeface="Arial" pitchFamily="34" charset="-122"/>
                <a:cs typeface="Arial" pitchFamily="34" charset="-120"/>
              </a:rPr>
              <a:t>50</a:t>
            </a:r>
            <a:endParaRPr lang="en-US" sz="3400" dirty="0"/>
          </a:p>
        </p:txBody>
      </p:sp>
      <p:sp>
        <p:nvSpPr>
          <p:cNvPr id="11" name="Text 8"/>
          <p:cNvSpPr/>
          <p:nvPr/>
        </p:nvSpPr>
        <p:spPr>
          <a:xfrm>
            <a:off x="731520" y="3209544"/>
            <a:ext cx="2304288" cy="237744"/>
          </a:xfrm>
          <a:prstGeom prst="rect">
            <a:avLst/>
          </a:prstGeom>
          <a:noFill/>
          <a:ln/>
        </p:spPr>
        <p:txBody>
          <a:bodyPr wrap="square" lIns="0" tIns="0" rIns="0" bIns="0" rtlCol="0" anchor="ctr"/>
          <a:lstStyle/>
          <a:p>
            <a:pPr marL="0" indent="0" algn="ctr">
              <a:buNone/>
            </a:pPr>
            <a:r>
              <a:rPr lang="en-US" sz="1300" dirty="0">
                <a:solidFill>
                  <a:srgbClr val="C3D2E3"/>
                </a:solidFill>
                <a:latin typeface="Arial" pitchFamily="34" charset="0"/>
                <a:ea typeface="Arial" pitchFamily="34" charset="-122"/>
                <a:cs typeface="Arial" pitchFamily="34" charset="-120"/>
              </a:rPr>
              <a:t>USDC tổng ngân sách</a:t>
            </a:r>
            <a:endParaRPr lang="en-US" sz="1300" dirty="0"/>
          </a:p>
        </p:txBody>
      </p:sp>
      <p:sp>
        <p:nvSpPr>
          <p:cNvPr id="12" name="Shape 9"/>
          <p:cNvSpPr/>
          <p:nvPr/>
        </p:nvSpPr>
        <p:spPr>
          <a:xfrm>
            <a:off x="3401568" y="2304288"/>
            <a:ext cx="2578608" cy="1353312"/>
          </a:xfrm>
          <a:prstGeom prst="roundRect">
            <a:avLst>
              <a:gd name="adj" fmla="val 10135"/>
            </a:avLst>
          </a:prstGeom>
          <a:solidFill>
            <a:srgbClr val="FFFFFF"/>
          </a:solidFill>
          <a:ln w="12700">
            <a:solidFill>
              <a:srgbClr val="FFFFFF"/>
            </a:solidFill>
            <a:prstDash val="solid"/>
          </a:ln>
        </p:spPr>
      </p:sp>
      <p:sp>
        <p:nvSpPr>
          <p:cNvPr id="13" name="Text 10"/>
          <p:cNvSpPr/>
          <p:nvPr/>
        </p:nvSpPr>
        <p:spPr>
          <a:xfrm>
            <a:off x="3538728" y="2542032"/>
            <a:ext cx="2304288" cy="512064"/>
          </a:xfrm>
          <a:prstGeom prst="rect">
            <a:avLst/>
          </a:prstGeom>
          <a:noFill/>
          <a:ln/>
        </p:spPr>
        <p:txBody>
          <a:bodyPr wrap="square" lIns="0" tIns="0" rIns="0" bIns="0" rtlCol="0" anchor="ctr"/>
          <a:lstStyle/>
          <a:p>
            <a:pPr marL="0" indent="0" algn="ctr">
              <a:buNone/>
            </a:pPr>
            <a:r>
              <a:rPr lang="en-US" sz="3400" b="1" dirty="0">
                <a:solidFill>
                  <a:srgbClr val="087F78"/>
                </a:solidFill>
                <a:latin typeface="Arial" pitchFamily="34" charset="0"/>
                <a:ea typeface="Arial" pitchFamily="34" charset="-122"/>
                <a:cs typeface="Arial" pitchFamily="34" charset="-120"/>
              </a:rPr>
              <a:t>5</a:t>
            </a:r>
            <a:endParaRPr lang="en-US" sz="3400" dirty="0"/>
          </a:p>
        </p:txBody>
      </p:sp>
      <p:sp>
        <p:nvSpPr>
          <p:cNvPr id="14" name="Text 11"/>
          <p:cNvSpPr/>
          <p:nvPr/>
        </p:nvSpPr>
        <p:spPr>
          <a:xfrm>
            <a:off x="3538728" y="3209544"/>
            <a:ext cx="2304288" cy="237744"/>
          </a:xfrm>
          <a:prstGeom prst="rect">
            <a:avLst/>
          </a:prstGeom>
          <a:noFill/>
          <a:ln/>
        </p:spPr>
        <p:txBody>
          <a:bodyPr wrap="square" lIns="0" tIns="0" rIns="0" bIns="0" rtlCol="0" anchor="ctr"/>
          <a:lstStyle/>
          <a:p>
            <a:pPr marL="0" indent="0" algn="ctr">
              <a:buNone/>
            </a:pPr>
            <a:r>
              <a:rPr lang="en-US" sz="1300" dirty="0">
                <a:solidFill>
                  <a:srgbClr val="52657A"/>
                </a:solidFill>
                <a:latin typeface="Arial" pitchFamily="34" charset="0"/>
                <a:ea typeface="Arial" pitchFamily="34" charset="-122"/>
                <a:cs typeface="Arial" pitchFamily="34" charset="-120"/>
              </a:rPr>
              <a:t>USDC mỗi lượt</a:t>
            </a:r>
            <a:endParaRPr lang="en-US" sz="1300" dirty="0"/>
          </a:p>
        </p:txBody>
      </p:sp>
      <p:sp>
        <p:nvSpPr>
          <p:cNvPr id="15" name="Shape 12"/>
          <p:cNvSpPr/>
          <p:nvPr/>
        </p:nvSpPr>
        <p:spPr>
          <a:xfrm>
            <a:off x="6208776" y="2304288"/>
            <a:ext cx="2578608" cy="1353312"/>
          </a:xfrm>
          <a:prstGeom prst="roundRect">
            <a:avLst>
              <a:gd name="adj" fmla="val 10135"/>
            </a:avLst>
          </a:prstGeom>
          <a:solidFill>
            <a:srgbClr val="FFFFFF"/>
          </a:solidFill>
          <a:ln w="12700">
            <a:solidFill>
              <a:srgbClr val="FFFFFF"/>
            </a:solidFill>
            <a:prstDash val="solid"/>
          </a:ln>
        </p:spPr>
      </p:sp>
      <p:sp>
        <p:nvSpPr>
          <p:cNvPr id="16" name="Text 13"/>
          <p:cNvSpPr/>
          <p:nvPr/>
        </p:nvSpPr>
        <p:spPr>
          <a:xfrm>
            <a:off x="6345936" y="2542032"/>
            <a:ext cx="2304288" cy="512064"/>
          </a:xfrm>
          <a:prstGeom prst="rect">
            <a:avLst/>
          </a:prstGeom>
          <a:noFill/>
          <a:ln/>
        </p:spPr>
        <p:txBody>
          <a:bodyPr wrap="square" lIns="0" tIns="0" rIns="0" bIns="0" rtlCol="0" anchor="ctr"/>
          <a:lstStyle/>
          <a:p>
            <a:pPr marL="0" indent="0" algn="ctr">
              <a:buNone/>
            </a:pPr>
            <a:r>
              <a:rPr lang="en-US" sz="3400" b="1" dirty="0">
                <a:solidFill>
                  <a:srgbClr val="087F78"/>
                </a:solidFill>
                <a:latin typeface="Arial" pitchFamily="34" charset="0"/>
                <a:ea typeface="Arial" pitchFamily="34" charset="-122"/>
                <a:cs typeface="Arial" pitchFamily="34" charset="-120"/>
              </a:rPr>
              <a:t>24 giờ</a:t>
            </a:r>
            <a:endParaRPr lang="en-US" sz="3400" dirty="0"/>
          </a:p>
        </p:txBody>
      </p:sp>
      <p:sp>
        <p:nvSpPr>
          <p:cNvPr id="17" name="Text 14"/>
          <p:cNvSpPr/>
          <p:nvPr/>
        </p:nvSpPr>
        <p:spPr>
          <a:xfrm>
            <a:off x="6345936" y="3209544"/>
            <a:ext cx="2304288" cy="237744"/>
          </a:xfrm>
          <a:prstGeom prst="rect">
            <a:avLst/>
          </a:prstGeom>
          <a:noFill/>
          <a:ln/>
        </p:spPr>
        <p:txBody>
          <a:bodyPr wrap="square" lIns="0" tIns="0" rIns="0" bIns="0" rtlCol="0" anchor="ctr"/>
          <a:lstStyle/>
          <a:p>
            <a:pPr marL="0" indent="0" algn="ctr">
              <a:buNone/>
            </a:pPr>
            <a:r>
              <a:rPr lang="en-US" sz="1300" dirty="0">
                <a:solidFill>
                  <a:srgbClr val="52657A"/>
                </a:solidFill>
                <a:latin typeface="Arial" pitchFamily="34" charset="0"/>
                <a:ea typeface="Arial" pitchFamily="34" charset="-122"/>
                <a:cs typeface="Arial" pitchFamily="34" charset="-120"/>
              </a:rPr>
              <a:t>Chu kỳ</a:t>
            </a:r>
            <a:endParaRPr lang="en-US" sz="1300" dirty="0"/>
          </a:p>
        </p:txBody>
      </p:sp>
      <p:sp>
        <p:nvSpPr>
          <p:cNvPr id="18" name="Shape 15"/>
          <p:cNvSpPr/>
          <p:nvPr/>
        </p:nvSpPr>
        <p:spPr>
          <a:xfrm>
            <a:off x="9015984" y="2304288"/>
            <a:ext cx="2578608" cy="1353312"/>
          </a:xfrm>
          <a:prstGeom prst="roundRect">
            <a:avLst>
              <a:gd name="adj" fmla="val 10135"/>
            </a:avLst>
          </a:prstGeom>
          <a:solidFill>
            <a:srgbClr val="FFFFFF"/>
          </a:solidFill>
          <a:ln w="12700">
            <a:solidFill>
              <a:srgbClr val="FFFFFF"/>
            </a:solidFill>
            <a:prstDash val="solid"/>
          </a:ln>
        </p:spPr>
      </p:sp>
      <p:sp>
        <p:nvSpPr>
          <p:cNvPr id="19" name="Text 16"/>
          <p:cNvSpPr/>
          <p:nvPr/>
        </p:nvSpPr>
        <p:spPr>
          <a:xfrm>
            <a:off x="9153144" y="2542032"/>
            <a:ext cx="2304288" cy="512064"/>
          </a:xfrm>
          <a:prstGeom prst="rect">
            <a:avLst/>
          </a:prstGeom>
          <a:noFill/>
          <a:ln/>
        </p:spPr>
        <p:txBody>
          <a:bodyPr wrap="square" lIns="0" tIns="0" rIns="0" bIns="0" rtlCol="0" anchor="ctr"/>
          <a:lstStyle/>
          <a:p>
            <a:pPr marL="0" indent="0" algn="ctr">
              <a:buNone/>
            </a:pPr>
            <a:r>
              <a:rPr lang="en-US" sz="3400" b="1" dirty="0">
                <a:solidFill>
                  <a:srgbClr val="087F78"/>
                </a:solidFill>
                <a:latin typeface="Arial" pitchFamily="34" charset="0"/>
                <a:ea typeface="Arial" pitchFamily="34" charset="-122"/>
                <a:cs typeface="Arial" pitchFamily="34" charset="-120"/>
              </a:rPr>
              <a:t>≤ 10</a:t>
            </a:r>
            <a:endParaRPr lang="en-US" sz="3400" dirty="0"/>
          </a:p>
        </p:txBody>
      </p:sp>
      <p:sp>
        <p:nvSpPr>
          <p:cNvPr id="20" name="Text 17"/>
          <p:cNvSpPr/>
          <p:nvPr/>
        </p:nvSpPr>
        <p:spPr>
          <a:xfrm>
            <a:off x="9153144" y="3209544"/>
            <a:ext cx="2304288" cy="237744"/>
          </a:xfrm>
          <a:prstGeom prst="rect">
            <a:avLst/>
          </a:prstGeom>
          <a:noFill/>
          <a:ln/>
        </p:spPr>
        <p:txBody>
          <a:bodyPr wrap="square" lIns="0" tIns="0" rIns="0" bIns="0" rtlCol="0" anchor="ctr"/>
          <a:lstStyle/>
          <a:p>
            <a:pPr marL="0" indent="0" algn="ctr">
              <a:buNone/>
            </a:pPr>
            <a:r>
              <a:rPr lang="en-US" sz="1300" dirty="0">
                <a:solidFill>
                  <a:srgbClr val="52657A"/>
                </a:solidFill>
                <a:latin typeface="Arial" pitchFamily="34" charset="0"/>
                <a:ea typeface="Arial" pitchFamily="34" charset="-122"/>
                <a:cs typeface="Arial" pitchFamily="34" charset="-120"/>
              </a:rPr>
              <a:t>Lượt theo ngân sách</a:t>
            </a:r>
            <a:endParaRPr lang="en-US" sz="1300" dirty="0"/>
          </a:p>
        </p:txBody>
      </p:sp>
      <p:sp>
        <p:nvSpPr>
          <p:cNvPr id="21" name="Text 18"/>
          <p:cNvSpPr/>
          <p:nvPr/>
        </p:nvSpPr>
        <p:spPr>
          <a:xfrm>
            <a:off x="822960" y="3977640"/>
            <a:ext cx="10515600" cy="347472"/>
          </a:xfrm>
          <a:prstGeom prst="rect">
            <a:avLst/>
          </a:prstGeom>
          <a:noFill/>
          <a:ln/>
        </p:spPr>
        <p:txBody>
          <a:bodyPr wrap="square" lIns="0" tIns="0" rIns="0" bIns="0" rtlCol="0" anchor="ctr"/>
          <a:lstStyle/>
          <a:p>
            <a:pPr marL="0" indent="0">
              <a:buNone/>
            </a:pPr>
            <a:r>
              <a:rPr lang="en-US" sz="2000" b="1" dirty="0">
                <a:solidFill>
                  <a:srgbClr val="142B45"/>
                </a:solidFill>
                <a:latin typeface="Arial" pitchFamily="34" charset="0"/>
                <a:ea typeface="Arial" pitchFamily="34" charset="-122"/>
                <a:cs typeface="Arial" pitchFamily="34" charset="-120"/>
              </a:rPr>
              <a:t>Lấy tiền từ ví theo từng lượt</a:t>
            </a:r>
            <a:endParaRPr lang="en-US" sz="2000" dirty="0"/>
          </a:p>
        </p:txBody>
      </p:sp>
      <p:sp>
        <p:nvSpPr>
          <p:cNvPr id="22" name="Text 19"/>
          <p:cNvSpPr/>
          <p:nvPr/>
        </p:nvSpPr>
        <p:spPr>
          <a:xfrm>
            <a:off x="822960" y="4425696"/>
            <a:ext cx="10515600" cy="82296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Cấu hình ngân sách không đồng nghĩa đã nạp toàn bộ tiền vào hệ thống.</a:t>
            </a:r>
            <a:endParaRPr lang="en-US" sz="1700" dirty="0"/>
          </a:p>
        </p:txBody>
      </p:sp>
      <p:sp>
        <p:nvSpPr>
          <p:cNvPr id="23" name="Shape 20"/>
          <p:cNvSpPr/>
          <p:nvPr/>
        </p:nvSpPr>
        <p:spPr>
          <a:xfrm>
            <a:off x="594360" y="5550408"/>
            <a:ext cx="11000232" cy="566928"/>
          </a:xfrm>
          <a:prstGeom prst="roundRect">
            <a:avLst>
              <a:gd name="adj" fmla="val 24194"/>
            </a:avLst>
          </a:prstGeom>
          <a:solidFill>
            <a:srgbClr val="FFF3DF"/>
          </a:solidFill>
          <a:ln w="12700">
            <a:solidFill>
              <a:srgbClr val="FFF3DF"/>
            </a:solidFill>
            <a:prstDash val="solid"/>
          </a:ln>
        </p:spPr>
      </p:sp>
      <p:sp>
        <p:nvSpPr>
          <p:cNvPr id="24" name="Text 21"/>
          <p:cNvSpPr/>
          <p:nvPr/>
        </p:nvSpPr>
        <p:spPr>
          <a:xfrm>
            <a:off x="777240" y="5632704"/>
            <a:ext cx="10634472" cy="402336"/>
          </a:xfrm>
          <a:prstGeom prst="rect">
            <a:avLst/>
          </a:prstGeom>
          <a:noFill/>
          <a:ln/>
        </p:spPr>
        <p:txBody>
          <a:bodyPr wrap="square" lIns="0" tIns="0" rIns="0" bIns="0" rtlCol="0" anchor="ctr"/>
          <a:lstStyle/>
          <a:p>
            <a:pPr marL="0" indent="0">
              <a:buNone/>
            </a:pPr>
            <a:r>
              <a:rPr lang="en-US" sz="1400" b="1" dirty="0">
                <a:solidFill>
                  <a:srgbClr val="915513"/>
                </a:solidFill>
                <a:latin typeface="Arial" pitchFamily="34" charset="0"/>
                <a:ea typeface="Arial" pitchFamily="34" charset="-122"/>
                <a:cs typeface="Arial" pitchFamily="34" charset="-120"/>
              </a:rPr>
              <a:t>Cần đủ số dư, allowance và route hợp lệ. Đến lịch không bảo đảm swap thành công.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384048"/>
            <a:ext cx="10789920" cy="237744"/>
          </a:xfrm>
          <a:prstGeom prst="rect">
            <a:avLst/>
          </a:prstGeom>
          <a:noFill/>
          <a:ln/>
        </p:spPr>
        <p:txBody>
          <a:bodyPr wrap="square" lIns="0" tIns="0" rIns="0" bIns="0" rtlCol="0" anchor="ctr"/>
          <a:lstStyle/>
          <a:p>
            <a:pPr marL="0" indent="0">
              <a:buNone/>
            </a:pPr>
            <a:r>
              <a:rPr lang="en-US" sz="1100" b="1" kern="0" spc="140" dirty="0">
                <a:solidFill>
                  <a:srgbClr val="087F78"/>
                </a:solidFill>
                <a:latin typeface="Arial" pitchFamily="34" charset="0"/>
                <a:ea typeface="Arial" pitchFamily="34" charset="-122"/>
                <a:cs typeface="Arial" pitchFamily="34" charset="-120"/>
              </a:rPr>
              <a:t>RECIPE 02</a:t>
            </a:r>
            <a:endParaRPr lang="en-US" sz="1100" dirty="0"/>
          </a:p>
        </p:txBody>
      </p:sp>
      <p:sp>
        <p:nvSpPr>
          <p:cNvPr id="4" name="Text 2"/>
          <p:cNvSpPr/>
          <p:nvPr/>
        </p:nvSpPr>
        <p:spPr>
          <a:xfrm>
            <a:off x="594360" y="841248"/>
            <a:ext cx="11000232" cy="566928"/>
          </a:xfrm>
          <a:prstGeom prst="rect">
            <a:avLst/>
          </a:prstGeom>
          <a:noFill/>
          <a:ln/>
        </p:spPr>
        <p:txBody>
          <a:bodyPr wrap="square" lIns="0" tIns="0" rIns="0" bIns="0" rtlCol="0" anchor="ctr"/>
          <a:lstStyle/>
          <a:p>
            <a:pPr marL="0" indent="0">
              <a:buNone/>
            </a:pPr>
            <a:r>
              <a:rPr lang="en-US" sz="2900" b="1" dirty="0">
                <a:solidFill>
                  <a:srgbClr val="142B45"/>
                </a:solidFill>
                <a:latin typeface="Arial" pitchFamily="34" charset="0"/>
                <a:ea typeface="Arial" pitchFamily="34" charset="-122"/>
                <a:cs typeface="Arial" pitchFamily="34" charset="-120"/>
              </a:rPr>
              <a:t>Auto-Compounder: mục tiêu và hiện trạng</a:t>
            </a:r>
            <a:endParaRPr lang="en-US" sz="2900" dirty="0"/>
          </a:p>
        </p:txBody>
      </p:sp>
      <p:sp>
        <p:nvSpPr>
          <p:cNvPr id="5" name="Text 3"/>
          <p:cNvSpPr/>
          <p:nvPr/>
        </p:nvSpPr>
        <p:spPr>
          <a:xfrm>
            <a:off x="594360" y="1508760"/>
            <a:ext cx="11000232" cy="47548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Trình bày đúng mức độ hoàn thiện, không coi thiết kế là bằng chứng đã triển khai.</a:t>
            </a:r>
            <a:endParaRPr lang="en-US" sz="1600" dirty="0"/>
          </a:p>
        </p:txBody>
      </p:sp>
      <p:sp>
        <p:nvSpPr>
          <p:cNvPr id="6" name="Text 4"/>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52657A"/>
                </a:solidFill>
                <a:latin typeface="Arial" pitchFamily="34" charset="0"/>
                <a:ea typeface="Arial" pitchFamily="34" charset="-122"/>
                <a:cs typeface="Arial" pitchFamily="34" charset="-120"/>
              </a:rPr>
              <a:t>DEFI RECIPES ON ARC  /  ARC TESTNET</a:t>
            </a:r>
            <a:endParaRPr lang="en-US" sz="900" dirty="0"/>
          </a:p>
        </p:txBody>
      </p:sp>
      <p:sp>
        <p:nvSpPr>
          <p:cNvPr id="7" name="Text 5"/>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52657A"/>
                </a:solidFill>
                <a:latin typeface="Arial" pitchFamily="34" charset="0"/>
                <a:ea typeface="Arial" pitchFamily="34" charset="-122"/>
                <a:cs typeface="Arial" pitchFamily="34" charset="-120"/>
              </a:rPr>
              <a:t>06:30–08:00   |   06 / 12</a:t>
            </a:r>
            <a:endParaRPr lang="en-US" sz="1000" dirty="0"/>
          </a:p>
        </p:txBody>
      </p:sp>
      <p:sp>
        <p:nvSpPr>
          <p:cNvPr id="9" name="Shape 6"/>
          <p:cNvSpPr/>
          <p:nvPr/>
        </p:nvSpPr>
        <p:spPr>
          <a:xfrm>
            <a:off x="594360" y="2304288"/>
            <a:ext cx="5385816" cy="2852928"/>
          </a:xfrm>
          <a:prstGeom prst="roundRect">
            <a:avLst>
              <a:gd name="adj" fmla="val 4808"/>
            </a:avLst>
          </a:prstGeom>
          <a:solidFill>
            <a:srgbClr val="FFFFFF"/>
          </a:solidFill>
          <a:ln w="12700">
            <a:solidFill>
              <a:srgbClr val="D8E2ED"/>
            </a:solidFill>
            <a:prstDash val="solid"/>
          </a:ln>
        </p:spPr>
      </p:sp>
      <p:sp>
        <p:nvSpPr>
          <p:cNvPr id="10" name="Shape 7"/>
          <p:cNvSpPr/>
          <p:nvPr/>
        </p:nvSpPr>
        <p:spPr>
          <a:xfrm>
            <a:off x="6208776" y="2304288"/>
            <a:ext cx="5385816" cy="2852928"/>
          </a:xfrm>
          <a:prstGeom prst="roundRect">
            <a:avLst>
              <a:gd name="adj" fmla="val 4808"/>
            </a:avLst>
          </a:prstGeom>
          <a:solidFill>
            <a:srgbClr val="FFFFFF"/>
          </a:solidFill>
          <a:ln w="12700">
            <a:solidFill>
              <a:srgbClr val="D8E2ED"/>
            </a:solidFill>
            <a:prstDash val="solid"/>
          </a:ln>
        </p:spPr>
      </p:sp>
      <p:sp>
        <p:nvSpPr>
          <p:cNvPr id="11" name="Shape 8"/>
          <p:cNvSpPr/>
          <p:nvPr/>
        </p:nvSpPr>
        <p:spPr>
          <a:xfrm>
            <a:off x="868680" y="2587752"/>
            <a:ext cx="2359152" cy="320040"/>
          </a:xfrm>
          <a:prstGeom prst="roundRect">
            <a:avLst>
              <a:gd name="adj" fmla="val 42857"/>
            </a:avLst>
          </a:prstGeom>
          <a:solidFill>
            <a:srgbClr val="E7F6F1"/>
          </a:solidFill>
          <a:ln w="12700">
            <a:solidFill>
              <a:srgbClr val="E7F6F1"/>
            </a:solidFill>
            <a:prstDash val="solid"/>
          </a:ln>
        </p:spPr>
      </p:sp>
      <p:sp>
        <p:nvSpPr>
          <p:cNvPr id="12" name="Text 9"/>
          <p:cNvSpPr/>
          <p:nvPr/>
        </p:nvSpPr>
        <p:spPr>
          <a:xfrm>
            <a:off x="960120" y="2624328"/>
            <a:ext cx="2176272" cy="228600"/>
          </a:xfrm>
          <a:prstGeom prst="rect">
            <a:avLst/>
          </a:prstGeom>
          <a:noFill/>
          <a:ln/>
        </p:spPr>
        <p:txBody>
          <a:bodyPr wrap="square" lIns="0" tIns="0" rIns="0" bIns="0" rtlCol="0" anchor="ctr"/>
          <a:lstStyle/>
          <a:p>
            <a:pPr marL="0" indent="0" algn="ctr">
              <a:buNone/>
            </a:pPr>
            <a:r>
              <a:rPr lang="en-US" sz="1000" b="1" dirty="0">
                <a:solidFill>
                  <a:srgbClr val="087F78"/>
                </a:solidFill>
                <a:latin typeface="Arial" pitchFamily="34" charset="0"/>
                <a:ea typeface="Arial" pitchFamily="34" charset="-122"/>
                <a:cs typeface="Arial" pitchFamily="34" charset="-120"/>
              </a:rPr>
              <a:t>MỤC TIÊU SẢN PHẨM</a:t>
            </a:r>
            <a:endParaRPr lang="en-US" sz="1000" dirty="0"/>
          </a:p>
        </p:txBody>
      </p:sp>
      <p:sp>
        <p:nvSpPr>
          <p:cNvPr id="13" name="Shape 10"/>
          <p:cNvSpPr/>
          <p:nvPr/>
        </p:nvSpPr>
        <p:spPr>
          <a:xfrm>
            <a:off x="6483096" y="2587752"/>
            <a:ext cx="2606040" cy="320040"/>
          </a:xfrm>
          <a:prstGeom prst="roundRect">
            <a:avLst>
              <a:gd name="adj" fmla="val 42857"/>
            </a:avLst>
          </a:prstGeom>
          <a:solidFill>
            <a:srgbClr val="E7F6F1"/>
          </a:solidFill>
          <a:ln w="12700">
            <a:solidFill>
              <a:srgbClr val="E7F6F1"/>
            </a:solidFill>
            <a:prstDash val="solid"/>
          </a:ln>
        </p:spPr>
      </p:sp>
      <p:sp>
        <p:nvSpPr>
          <p:cNvPr id="14" name="Text 11"/>
          <p:cNvSpPr/>
          <p:nvPr/>
        </p:nvSpPr>
        <p:spPr>
          <a:xfrm>
            <a:off x="6574536" y="2624328"/>
            <a:ext cx="2423160" cy="228600"/>
          </a:xfrm>
          <a:prstGeom prst="rect">
            <a:avLst/>
          </a:prstGeom>
          <a:noFill/>
          <a:ln/>
        </p:spPr>
        <p:txBody>
          <a:bodyPr wrap="square" lIns="0" tIns="0" rIns="0" bIns="0" rtlCol="0" anchor="ctr"/>
          <a:lstStyle/>
          <a:p>
            <a:pPr marL="0" indent="0" algn="ctr">
              <a:buNone/>
            </a:pPr>
            <a:r>
              <a:rPr lang="en-US" sz="1000" b="1" dirty="0">
                <a:solidFill>
                  <a:srgbClr val="087F78"/>
                </a:solidFill>
                <a:latin typeface="Arial" pitchFamily="34" charset="0"/>
                <a:ea typeface="Arial" pitchFamily="34" charset="-122"/>
                <a:cs typeface="Arial" pitchFamily="34" charset="-120"/>
              </a:rPr>
              <a:t>NHÁNH KEEPER HIỆN CÓ</a:t>
            </a:r>
            <a:endParaRPr lang="en-US" sz="1000" dirty="0"/>
          </a:p>
        </p:txBody>
      </p:sp>
      <p:sp>
        <p:nvSpPr>
          <p:cNvPr id="15" name="Text 12"/>
          <p:cNvSpPr/>
          <p:nvPr/>
        </p:nvSpPr>
        <p:spPr>
          <a:xfrm>
            <a:off x="868680" y="3255264"/>
            <a:ext cx="4837176" cy="1298448"/>
          </a:xfrm>
          <a:prstGeom prst="rect">
            <a:avLst/>
          </a:prstGeom>
          <a:noFill/>
          <a:ln/>
        </p:spPr>
        <p:txBody>
          <a:bodyPr wrap="square" lIns="0" tIns="0" rIns="0" bIns="0" rtlCol="0" anchor="ctr"/>
          <a:lstStyle/>
          <a:p>
            <a:pPr marL="0" indent="0">
              <a:buNone/>
            </a:pPr>
            <a:r>
              <a:rPr lang="en-US" sz="2400" b="1" dirty="0">
                <a:solidFill>
                  <a:srgbClr val="142B45"/>
                </a:solidFill>
                <a:latin typeface="Arial" pitchFamily="34" charset="0"/>
                <a:ea typeface="Arial" pitchFamily="34" charset="-122"/>
                <a:cs typeface="Arial" pitchFamily="34" charset="-120"/>
              </a:rPr>
              <a:t>Nhận thưởng</a:t>
            </a:r>
            <a:endParaRPr lang="en-US" sz="2400" dirty="0"/>
          </a:p>
          <a:p>
            <a:pPr marL="0" indent="0">
              <a:buNone/>
            </a:pPr>
            <a:r>
              <a:rPr lang="en-US" sz="2400" b="1" dirty="0">
                <a:solidFill>
                  <a:srgbClr val="142B45"/>
                </a:solidFill>
                <a:latin typeface="Arial" pitchFamily="34" charset="0"/>
                <a:ea typeface="Arial" pitchFamily="34" charset="-122"/>
                <a:cs typeface="Arial" pitchFamily="34" charset="-120"/>
              </a:rPr>
              <a:t>→ Đổi về USDC nếu cần</a:t>
            </a:r>
            <a:endParaRPr lang="en-US" sz="2400" dirty="0"/>
          </a:p>
          <a:p>
            <a:pPr marL="0" indent="0">
              <a:buNone/>
            </a:pPr>
            <a:r>
              <a:rPr lang="en-US" sz="2400" b="1" dirty="0">
                <a:solidFill>
                  <a:srgbClr val="142B45"/>
                </a:solidFill>
                <a:latin typeface="Arial" pitchFamily="34" charset="0"/>
                <a:ea typeface="Arial" pitchFamily="34" charset="-122"/>
                <a:cs typeface="Arial" pitchFamily="34" charset="-120"/>
              </a:rPr>
              <a:t>→ Tái đầu tư</a:t>
            </a:r>
            <a:endParaRPr lang="en-US" sz="2400" dirty="0"/>
          </a:p>
        </p:txBody>
      </p:sp>
      <p:sp>
        <p:nvSpPr>
          <p:cNvPr id="16" name="Text 13"/>
          <p:cNvSpPr/>
          <p:nvPr/>
        </p:nvSpPr>
        <p:spPr>
          <a:xfrm>
            <a:off x="6483096" y="3255264"/>
            <a:ext cx="4837176" cy="1298448"/>
          </a:xfrm>
          <a:prstGeom prst="rect">
            <a:avLst/>
          </a:prstGeom>
          <a:noFill/>
          <a:ln/>
        </p:spPr>
        <p:txBody>
          <a:bodyPr wrap="square" lIns="0" tIns="0" rIns="0" bIns="0" rtlCol="0" anchor="ctr"/>
          <a:lstStyle/>
          <a:p>
            <a:pPr marL="0" indent="0">
              <a:buNone/>
            </a:pPr>
            <a:r>
              <a:rPr lang="en-US" sz="2300" b="1" dirty="0">
                <a:solidFill>
                  <a:srgbClr val="142B45"/>
                </a:solidFill>
                <a:latin typeface="Arial" pitchFamily="34" charset="0"/>
                <a:ea typeface="Arial" pitchFamily="34" charset="-122"/>
                <a:cs typeface="Arial" pitchFamily="34" charset="-120"/>
              </a:rPr>
              <a:t>Kiểm tra reward</a:t>
            </a:r>
            <a:endParaRPr lang="en-US" sz="2300" dirty="0"/>
          </a:p>
          <a:p>
            <a:pPr marL="0" indent="0">
              <a:buNone/>
            </a:pPr>
            <a:r>
              <a:rPr lang="en-US" sz="2300" b="1" dirty="0">
                <a:solidFill>
                  <a:srgbClr val="142B45"/>
                </a:solidFill>
                <a:latin typeface="Arial" pitchFamily="34" charset="0"/>
                <a:ea typeface="Arial" pitchFamily="34" charset="-122"/>
                <a:cs typeface="Arial" pitchFamily="34" charset="-120"/>
              </a:rPr>
              <a:t>→ claimRewardsForUser</a:t>
            </a:r>
            <a:endParaRPr lang="en-US" sz="2300" dirty="0"/>
          </a:p>
          <a:p>
            <a:pPr marL="0" indent="0">
              <a:buNone/>
            </a:pPr>
            <a:r>
              <a:rPr lang="en-US" sz="2300" b="1" dirty="0">
                <a:solidFill>
                  <a:srgbClr val="142B45"/>
                </a:solidFill>
                <a:latin typeface="Arial" pitchFamily="34" charset="0"/>
                <a:ea typeface="Arial" pitchFamily="34" charset="-122"/>
                <a:cs typeface="Arial" pitchFamily="34" charset="-120"/>
              </a:rPr>
              <a:t>→ Bỏ qua nếu không có reward</a:t>
            </a:r>
            <a:endParaRPr lang="en-US" sz="2300" dirty="0"/>
          </a:p>
        </p:txBody>
      </p:sp>
      <p:sp>
        <p:nvSpPr>
          <p:cNvPr id="17" name="Shape 14"/>
          <p:cNvSpPr/>
          <p:nvPr/>
        </p:nvSpPr>
        <p:spPr>
          <a:xfrm>
            <a:off x="594360" y="5550408"/>
            <a:ext cx="11000232" cy="566928"/>
          </a:xfrm>
          <a:prstGeom prst="roundRect">
            <a:avLst>
              <a:gd name="adj" fmla="val 24194"/>
            </a:avLst>
          </a:prstGeom>
          <a:solidFill>
            <a:srgbClr val="FFF3DF"/>
          </a:solidFill>
          <a:ln w="12700">
            <a:solidFill>
              <a:srgbClr val="FFF3DF"/>
            </a:solidFill>
            <a:prstDash val="solid"/>
          </a:ln>
        </p:spPr>
      </p:sp>
      <p:sp>
        <p:nvSpPr>
          <p:cNvPr id="18" name="Text 15"/>
          <p:cNvSpPr/>
          <p:nvPr/>
        </p:nvSpPr>
        <p:spPr>
          <a:xfrm>
            <a:off x="777240" y="5632704"/>
            <a:ext cx="10634472" cy="402336"/>
          </a:xfrm>
          <a:prstGeom prst="rect">
            <a:avLst/>
          </a:prstGeom>
          <a:noFill/>
          <a:ln/>
        </p:spPr>
        <p:txBody>
          <a:bodyPr wrap="square" lIns="0" tIns="0" rIns="0" bIns="0" rtlCol="0" anchor="ctr"/>
          <a:lstStyle/>
          <a:p>
            <a:pPr marL="0" indent="0">
              <a:buNone/>
            </a:pPr>
            <a:r>
              <a:rPr lang="en-US" sz="1400" b="1" dirty="0">
                <a:solidFill>
                  <a:srgbClr val="915513"/>
                </a:solidFill>
                <a:latin typeface="Arial" pitchFamily="34" charset="0"/>
                <a:ea typeface="Arial" pitchFamily="34" charset="-122"/>
                <a:cs typeface="Arial" pitchFamily="34" charset="-120"/>
              </a:rPr>
              <a:t>Chưa khẳng định hoàn tất claim → swap → tái gửi. APY hiển thị không phải cam kết.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384048"/>
            <a:ext cx="10789920" cy="237744"/>
          </a:xfrm>
          <a:prstGeom prst="rect">
            <a:avLst/>
          </a:prstGeom>
          <a:noFill/>
          <a:ln/>
        </p:spPr>
        <p:txBody>
          <a:bodyPr wrap="square" lIns="0" tIns="0" rIns="0" bIns="0" rtlCol="0" anchor="ctr"/>
          <a:lstStyle/>
          <a:p>
            <a:pPr marL="0" indent="0">
              <a:buNone/>
            </a:pPr>
            <a:r>
              <a:rPr lang="en-US" sz="1100" b="1" kern="0" spc="140" dirty="0">
                <a:solidFill>
                  <a:srgbClr val="087F78"/>
                </a:solidFill>
                <a:latin typeface="Arial" pitchFamily="34" charset="0"/>
                <a:ea typeface="Arial" pitchFamily="34" charset="-122"/>
                <a:cs typeface="Arial" pitchFamily="34" charset="-120"/>
              </a:rPr>
              <a:t>KIỂM SOÁT QUYỀN</a:t>
            </a:r>
            <a:endParaRPr lang="en-US" sz="1100" dirty="0"/>
          </a:p>
        </p:txBody>
      </p:sp>
      <p:sp>
        <p:nvSpPr>
          <p:cNvPr id="4" name="Text 2"/>
          <p:cNvSpPr/>
          <p:nvPr/>
        </p:nvSpPr>
        <p:spPr>
          <a:xfrm>
            <a:off x="594360" y="841248"/>
            <a:ext cx="11000232" cy="566928"/>
          </a:xfrm>
          <a:prstGeom prst="rect">
            <a:avLst/>
          </a:prstGeom>
          <a:noFill/>
          <a:ln/>
        </p:spPr>
        <p:txBody>
          <a:bodyPr wrap="square" lIns="0" tIns="0" rIns="0" bIns="0" rtlCol="0" anchor="ctr"/>
          <a:lstStyle/>
          <a:p>
            <a:pPr marL="0" indent="0">
              <a:buNone/>
            </a:pPr>
            <a:r>
              <a:rPr lang="en-US" sz="2900" b="1" dirty="0">
                <a:solidFill>
                  <a:srgbClr val="142B45"/>
                </a:solidFill>
                <a:latin typeface="Arial" pitchFamily="34" charset="0"/>
                <a:ea typeface="Arial" pitchFamily="34" charset="-122"/>
                <a:cs typeface="Arial" pitchFamily="34" charset="-120"/>
              </a:rPr>
              <a:t>Ba hợp đồng, nhiều lớp giới hạn</a:t>
            </a:r>
            <a:endParaRPr lang="en-US" sz="2900" dirty="0"/>
          </a:p>
        </p:txBody>
      </p:sp>
      <p:sp>
        <p:nvSpPr>
          <p:cNvPr id="5" name="Text 3"/>
          <p:cNvSpPr/>
          <p:nvPr/>
        </p:nvSpPr>
        <p:spPr>
          <a:xfrm>
            <a:off x="594360" y="1508760"/>
            <a:ext cx="11000232" cy="47548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Session key, allowance token và trạng thái recipe là các cơ chế khác nhau.</a:t>
            </a:r>
            <a:endParaRPr lang="en-US" sz="1600" dirty="0"/>
          </a:p>
        </p:txBody>
      </p:sp>
      <p:sp>
        <p:nvSpPr>
          <p:cNvPr id="6" name="Text 4"/>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52657A"/>
                </a:solidFill>
                <a:latin typeface="Arial" pitchFamily="34" charset="0"/>
                <a:ea typeface="Arial" pitchFamily="34" charset="-122"/>
                <a:cs typeface="Arial" pitchFamily="34" charset="-120"/>
              </a:rPr>
              <a:t>DEFI RECIPES ON ARC  /  ARC TESTNET</a:t>
            </a:r>
            <a:endParaRPr lang="en-US" sz="900" dirty="0"/>
          </a:p>
        </p:txBody>
      </p:sp>
      <p:sp>
        <p:nvSpPr>
          <p:cNvPr id="7" name="Text 5"/>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52657A"/>
                </a:solidFill>
                <a:latin typeface="Arial" pitchFamily="34" charset="0"/>
                <a:ea typeface="Arial" pitchFamily="34" charset="-122"/>
                <a:cs typeface="Arial" pitchFamily="34" charset="-120"/>
              </a:rPr>
              <a:t>08:00–10:00   |   07 / 12</a:t>
            </a:r>
            <a:endParaRPr lang="en-US" sz="1000" dirty="0"/>
          </a:p>
        </p:txBody>
      </p:sp>
      <p:sp>
        <p:nvSpPr>
          <p:cNvPr id="9" name="Shape 6"/>
          <p:cNvSpPr/>
          <p:nvPr/>
        </p:nvSpPr>
        <p:spPr>
          <a:xfrm>
            <a:off x="594360" y="2331720"/>
            <a:ext cx="1847088" cy="749808"/>
          </a:xfrm>
          <a:prstGeom prst="roundRect">
            <a:avLst>
              <a:gd name="adj" fmla="val 18293"/>
            </a:avLst>
          </a:prstGeom>
          <a:solidFill>
            <a:srgbClr val="0B1930"/>
          </a:solidFill>
          <a:ln w="12700">
            <a:solidFill>
              <a:srgbClr val="0B1930"/>
            </a:solidFill>
            <a:prstDash val="solid"/>
          </a:ln>
        </p:spPr>
      </p:sp>
      <p:sp>
        <p:nvSpPr>
          <p:cNvPr id="10" name="Text 7"/>
          <p:cNvSpPr/>
          <p:nvPr/>
        </p:nvSpPr>
        <p:spPr>
          <a:xfrm>
            <a:off x="685800" y="2551176"/>
            <a:ext cx="1664208" cy="29260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Ví người dùng</a:t>
            </a:r>
            <a:endParaRPr lang="en-US" sz="1800" dirty="0"/>
          </a:p>
        </p:txBody>
      </p:sp>
      <p:sp>
        <p:nvSpPr>
          <p:cNvPr id="11" name="Text 8"/>
          <p:cNvSpPr/>
          <p:nvPr/>
        </p:nvSpPr>
        <p:spPr>
          <a:xfrm>
            <a:off x="2496312" y="2560320"/>
            <a:ext cx="256032" cy="274320"/>
          </a:xfrm>
          <a:prstGeom prst="rect">
            <a:avLst/>
          </a:prstGeom>
          <a:noFill/>
          <a:ln/>
        </p:spPr>
        <p:txBody>
          <a:bodyPr wrap="square" lIns="0" tIns="0" rIns="0" bIns="0" rtlCol="0" anchor="ctr"/>
          <a:lstStyle/>
          <a:p>
            <a:pPr marL="0" indent="0">
              <a:buNone/>
            </a:pPr>
            <a:r>
              <a:rPr lang="en-US" sz="1800" dirty="0">
                <a:solidFill>
                  <a:srgbClr val="087F78"/>
                </a:solidFill>
                <a:latin typeface="Arial" pitchFamily="34" charset="0"/>
                <a:ea typeface="Arial" pitchFamily="34" charset="-122"/>
                <a:cs typeface="Arial" pitchFamily="34" charset="-120"/>
              </a:rPr>
              <a:t>→</a:t>
            </a:r>
            <a:endParaRPr lang="en-US" sz="1800" dirty="0"/>
          </a:p>
        </p:txBody>
      </p:sp>
      <p:sp>
        <p:nvSpPr>
          <p:cNvPr id="12" name="Shape 9"/>
          <p:cNvSpPr/>
          <p:nvPr/>
        </p:nvSpPr>
        <p:spPr>
          <a:xfrm>
            <a:off x="2779776" y="2331720"/>
            <a:ext cx="1508760" cy="749808"/>
          </a:xfrm>
          <a:prstGeom prst="roundRect">
            <a:avLst>
              <a:gd name="adj" fmla="val 18293"/>
            </a:avLst>
          </a:prstGeom>
          <a:solidFill>
            <a:srgbClr val="0B1930"/>
          </a:solidFill>
          <a:ln w="12700">
            <a:solidFill>
              <a:srgbClr val="0B1930"/>
            </a:solidFill>
            <a:prstDash val="solid"/>
          </a:ln>
        </p:spPr>
      </p:sp>
      <p:sp>
        <p:nvSpPr>
          <p:cNvPr id="13" name="Text 10"/>
          <p:cNvSpPr/>
          <p:nvPr/>
        </p:nvSpPr>
        <p:spPr>
          <a:xfrm>
            <a:off x="2871216" y="2551176"/>
            <a:ext cx="1325880" cy="29260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Keeper</a:t>
            </a:r>
            <a:endParaRPr lang="en-US" sz="1800" dirty="0"/>
          </a:p>
        </p:txBody>
      </p:sp>
      <p:sp>
        <p:nvSpPr>
          <p:cNvPr id="14" name="Text 11"/>
          <p:cNvSpPr/>
          <p:nvPr/>
        </p:nvSpPr>
        <p:spPr>
          <a:xfrm>
            <a:off x="4343400" y="2560320"/>
            <a:ext cx="256032" cy="274320"/>
          </a:xfrm>
          <a:prstGeom prst="rect">
            <a:avLst/>
          </a:prstGeom>
          <a:noFill/>
          <a:ln/>
        </p:spPr>
        <p:txBody>
          <a:bodyPr wrap="square" lIns="0" tIns="0" rIns="0" bIns="0" rtlCol="0" anchor="ctr"/>
          <a:lstStyle/>
          <a:p>
            <a:pPr marL="0" indent="0">
              <a:buNone/>
            </a:pPr>
            <a:r>
              <a:rPr lang="en-US" sz="1800" dirty="0">
                <a:solidFill>
                  <a:srgbClr val="087F78"/>
                </a:solidFill>
                <a:latin typeface="Arial" pitchFamily="34" charset="0"/>
                <a:ea typeface="Arial" pitchFamily="34" charset="-122"/>
                <a:cs typeface="Arial" pitchFamily="34" charset="-120"/>
              </a:rPr>
              <a:t>→</a:t>
            </a:r>
            <a:endParaRPr lang="en-US" sz="1800" dirty="0"/>
          </a:p>
        </p:txBody>
      </p:sp>
      <p:sp>
        <p:nvSpPr>
          <p:cNvPr id="15" name="Shape 12"/>
          <p:cNvSpPr/>
          <p:nvPr/>
        </p:nvSpPr>
        <p:spPr>
          <a:xfrm>
            <a:off x="4626864" y="2331720"/>
            <a:ext cx="3767328" cy="749808"/>
          </a:xfrm>
          <a:prstGeom prst="roundRect">
            <a:avLst>
              <a:gd name="adj" fmla="val 18293"/>
            </a:avLst>
          </a:prstGeom>
          <a:solidFill>
            <a:srgbClr val="087F78"/>
          </a:solidFill>
          <a:ln w="12700">
            <a:solidFill>
              <a:srgbClr val="087F78"/>
            </a:solidFill>
            <a:prstDash val="solid"/>
          </a:ln>
        </p:spPr>
      </p:sp>
      <p:sp>
        <p:nvSpPr>
          <p:cNvPr id="16" name="Text 13"/>
          <p:cNvSpPr/>
          <p:nvPr/>
        </p:nvSpPr>
        <p:spPr>
          <a:xfrm>
            <a:off x="4718304" y="2551176"/>
            <a:ext cx="3584448" cy="29260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SharedExecutorProxy</a:t>
            </a:r>
            <a:endParaRPr lang="en-US" sz="1800" dirty="0"/>
          </a:p>
        </p:txBody>
      </p:sp>
      <p:sp>
        <p:nvSpPr>
          <p:cNvPr id="17" name="Text 14"/>
          <p:cNvSpPr/>
          <p:nvPr/>
        </p:nvSpPr>
        <p:spPr>
          <a:xfrm>
            <a:off x="8449056" y="2560320"/>
            <a:ext cx="256032" cy="274320"/>
          </a:xfrm>
          <a:prstGeom prst="rect">
            <a:avLst/>
          </a:prstGeom>
          <a:noFill/>
          <a:ln/>
        </p:spPr>
        <p:txBody>
          <a:bodyPr wrap="square" lIns="0" tIns="0" rIns="0" bIns="0" rtlCol="0" anchor="ctr"/>
          <a:lstStyle/>
          <a:p>
            <a:pPr marL="0" indent="0">
              <a:buNone/>
            </a:pPr>
            <a:r>
              <a:rPr lang="en-US" sz="1800" dirty="0">
                <a:solidFill>
                  <a:srgbClr val="087F78"/>
                </a:solidFill>
                <a:latin typeface="Arial" pitchFamily="34" charset="0"/>
                <a:ea typeface="Arial" pitchFamily="34" charset="-122"/>
                <a:cs typeface="Arial" pitchFamily="34" charset="-120"/>
              </a:rPr>
              <a:t>→</a:t>
            </a:r>
            <a:endParaRPr lang="en-US" sz="1800" dirty="0"/>
          </a:p>
        </p:txBody>
      </p:sp>
      <p:sp>
        <p:nvSpPr>
          <p:cNvPr id="18" name="Shape 15"/>
          <p:cNvSpPr/>
          <p:nvPr/>
        </p:nvSpPr>
        <p:spPr>
          <a:xfrm>
            <a:off x="8732520" y="2331720"/>
            <a:ext cx="2862072" cy="749808"/>
          </a:xfrm>
          <a:prstGeom prst="roundRect">
            <a:avLst>
              <a:gd name="adj" fmla="val 18293"/>
            </a:avLst>
          </a:prstGeom>
          <a:solidFill>
            <a:srgbClr val="0B1930"/>
          </a:solidFill>
          <a:ln w="12700">
            <a:solidFill>
              <a:srgbClr val="0B1930"/>
            </a:solidFill>
            <a:prstDash val="solid"/>
          </a:ln>
        </p:spPr>
      </p:sp>
      <p:sp>
        <p:nvSpPr>
          <p:cNvPr id="19" name="Text 16"/>
          <p:cNvSpPr/>
          <p:nvPr/>
        </p:nvSpPr>
        <p:spPr>
          <a:xfrm>
            <a:off x="8823960" y="2551176"/>
            <a:ext cx="2679192" cy="29260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Protocol đích</a:t>
            </a:r>
            <a:endParaRPr lang="en-US" sz="1800" dirty="0"/>
          </a:p>
        </p:txBody>
      </p:sp>
      <p:sp>
        <p:nvSpPr>
          <p:cNvPr id="20" name="Shape 17"/>
          <p:cNvSpPr/>
          <p:nvPr/>
        </p:nvSpPr>
        <p:spPr>
          <a:xfrm>
            <a:off x="594360" y="3520440"/>
            <a:ext cx="3401568" cy="1581912"/>
          </a:xfrm>
          <a:prstGeom prst="roundRect">
            <a:avLst>
              <a:gd name="adj" fmla="val 8671"/>
            </a:avLst>
          </a:prstGeom>
          <a:solidFill>
            <a:srgbClr val="FFFFFF"/>
          </a:solidFill>
          <a:ln w="12700">
            <a:solidFill>
              <a:srgbClr val="D8E2ED"/>
            </a:solidFill>
            <a:prstDash val="solid"/>
          </a:ln>
        </p:spPr>
      </p:sp>
      <p:sp>
        <p:nvSpPr>
          <p:cNvPr id="21" name="Shape 18"/>
          <p:cNvSpPr/>
          <p:nvPr/>
        </p:nvSpPr>
        <p:spPr>
          <a:xfrm>
            <a:off x="4215384" y="3520440"/>
            <a:ext cx="3758184" cy="1581912"/>
          </a:xfrm>
          <a:prstGeom prst="roundRect">
            <a:avLst>
              <a:gd name="adj" fmla="val 8671"/>
            </a:avLst>
          </a:prstGeom>
          <a:solidFill>
            <a:srgbClr val="FFFFFF"/>
          </a:solidFill>
          <a:ln w="12700">
            <a:solidFill>
              <a:srgbClr val="D8E2ED"/>
            </a:solidFill>
            <a:prstDash val="solid"/>
          </a:ln>
        </p:spPr>
      </p:sp>
      <p:sp>
        <p:nvSpPr>
          <p:cNvPr id="22" name="Shape 19"/>
          <p:cNvSpPr/>
          <p:nvPr/>
        </p:nvSpPr>
        <p:spPr>
          <a:xfrm>
            <a:off x="8193024" y="3520440"/>
            <a:ext cx="3401568" cy="1581912"/>
          </a:xfrm>
          <a:prstGeom prst="roundRect">
            <a:avLst>
              <a:gd name="adj" fmla="val 8671"/>
            </a:avLst>
          </a:prstGeom>
          <a:solidFill>
            <a:srgbClr val="FFFFFF"/>
          </a:solidFill>
          <a:ln w="12700">
            <a:solidFill>
              <a:srgbClr val="D8E2ED"/>
            </a:solidFill>
            <a:prstDash val="solid"/>
          </a:ln>
        </p:spPr>
      </p:sp>
      <p:sp>
        <p:nvSpPr>
          <p:cNvPr id="23" name="Text 20"/>
          <p:cNvSpPr/>
          <p:nvPr/>
        </p:nvSpPr>
        <p:spPr>
          <a:xfrm>
            <a:off x="822960" y="3712464"/>
            <a:ext cx="2944368" cy="347472"/>
          </a:xfrm>
          <a:prstGeom prst="rect">
            <a:avLst/>
          </a:prstGeom>
          <a:noFill/>
          <a:ln/>
        </p:spPr>
        <p:txBody>
          <a:bodyPr wrap="square" lIns="0" tIns="0" rIns="0" bIns="0" rtlCol="0" anchor="ctr"/>
          <a:lstStyle/>
          <a:p>
            <a:pPr marL="0" indent="0">
              <a:buNone/>
            </a:pPr>
            <a:r>
              <a:rPr lang="en-US" sz="2000" b="1" dirty="0">
                <a:solidFill>
                  <a:srgbClr val="142B45"/>
                </a:solidFill>
                <a:latin typeface="Arial" pitchFamily="34" charset="0"/>
                <a:ea typeface="Arial" pitchFamily="34" charset="-122"/>
                <a:cs typeface="Arial" pitchFamily="34" charset="-120"/>
              </a:rPr>
              <a:t>Pause / Revoke</a:t>
            </a:r>
            <a:endParaRPr lang="en-US" sz="2000" dirty="0"/>
          </a:p>
        </p:txBody>
      </p:sp>
      <p:sp>
        <p:nvSpPr>
          <p:cNvPr id="24" name="Text 21"/>
          <p:cNvSpPr/>
          <p:nvPr/>
        </p:nvSpPr>
        <p:spPr>
          <a:xfrm>
            <a:off x="822960" y="4160520"/>
            <a:ext cx="2944368" cy="82296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Quyền dừng của người dùng;</a:t>
            </a:r>
            <a:endParaRPr lang="en-US" sz="1700" dirty="0"/>
          </a:p>
          <a:p>
            <a:pPr marL="0" indent="0">
              <a:buNone/>
            </a:pPr>
            <a:r>
              <a:rPr lang="en-US" sz="1700" dirty="0">
                <a:solidFill>
                  <a:srgbClr val="52657A"/>
                </a:solidFill>
                <a:latin typeface="Arial" pitchFamily="34" charset="0"/>
                <a:ea typeface="Arial" pitchFamily="34" charset="-122"/>
                <a:cs typeface="Arial" pitchFamily="34" charset="-120"/>
              </a:rPr>
              <a:t>có vai trò pause quản trị.</a:t>
            </a:r>
            <a:endParaRPr lang="en-US" sz="1700" dirty="0"/>
          </a:p>
        </p:txBody>
      </p:sp>
      <p:sp>
        <p:nvSpPr>
          <p:cNvPr id="25" name="Text 22"/>
          <p:cNvSpPr/>
          <p:nvPr/>
        </p:nvSpPr>
        <p:spPr>
          <a:xfrm>
            <a:off x="4443984" y="3712464"/>
            <a:ext cx="3300984" cy="347472"/>
          </a:xfrm>
          <a:prstGeom prst="rect">
            <a:avLst/>
          </a:prstGeom>
          <a:noFill/>
          <a:ln/>
        </p:spPr>
        <p:txBody>
          <a:bodyPr wrap="square" lIns="0" tIns="0" rIns="0" bIns="0" rtlCol="0" anchor="ctr"/>
          <a:lstStyle/>
          <a:p>
            <a:pPr marL="0" indent="0">
              <a:buNone/>
            </a:pPr>
            <a:r>
              <a:rPr lang="en-US" sz="2000" b="1" dirty="0">
                <a:solidFill>
                  <a:srgbClr val="142B45"/>
                </a:solidFill>
                <a:latin typeface="Arial" pitchFamily="34" charset="0"/>
                <a:ea typeface="Arial" pitchFamily="34" charset="-122"/>
                <a:cs typeface="Arial" pitchFamily="34" charset="-120"/>
              </a:rPr>
              <a:t>SessionKeyRegistry</a:t>
            </a:r>
            <a:endParaRPr lang="en-US" sz="2000" dirty="0"/>
          </a:p>
        </p:txBody>
      </p:sp>
      <p:sp>
        <p:nvSpPr>
          <p:cNvPr id="26" name="Text 23"/>
          <p:cNvSpPr/>
          <p:nvPr/>
        </p:nvSpPr>
        <p:spPr>
          <a:xfrm>
            <a:off x="4443984" y="4160520"/>
            <a:ext cx="3300984" cy="82296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Thời hạn, thu hồi, quota cộng dồn;</a:t>
            </a:r>
            <a:endParaRPr lang="en-US" sz="1700" dirty="0"/>
          </a:p>
          <a:p>
            <a:pPr marL="0" indent="0">
              <a:buNone/>
            </a:pPr>
            <a:r>
              <a:rPr lang="en-US" sz="1700" dirty="0">
                <a:solidFill>
                  <a:srgbClr val="52657A"/>
                </a:solidFill>
                <a:latin typeface="Arial" pitchFamily="34" charset="0"/>
                <a:ea typeface="Arial" pitchFamily="34" charset="-122"/>
                <a:cs typeface="Arial" pitchFamily="34" charset="-120"/>
              </a:rPr>
              <a:t>có thể dùng chung nhiều recipe.</a:t>
            </a:r>
            <a:endParaRPr lang="en-US" sz="1700" dirty="0"/>
          </a:p>
        </p:txBody>
      </p:sp>
      <p:sp>
        <p:nvSpPr>
          <p:cNvPr id="27" name="Text 24"/>
          <p:cNvSpPr/>
          <p:nvPr/>
        </p:nvSpPr>
        <p:spPr>
          <a:xfrm>
            <a:off x="8421624" y="3712464"/>
            <a:ext cx="2944368" cy="347472"/>
          </a:xfrm>
          <a:prstGeom prst="rect">
            <a:avLst/>
          </a:prstGeom>
          <a:noFill/>
          <a:ln/>
        </p:spPr>
        <p:txBody>
          <a:bodyPr wrap="square" lIns="0" tIns="0" rIns="0" bIns="0" rtlCol="0" anchor="ctr"/>
          <a:lstStyle/>
          <a:p>
            <a:pPr marL="0" indent="0">
              <a:buNone/>
            </a:pPr>
            <a:r>
              <a:rPr lang="en-US" sz="2000" b="1" dirty="0">
                <a:solidFill>
                  <a:srgbClr val="142B45"/>
                </a:solidFill>
                <a:latin typeface="Arial" pitchFamily="34" charset="0"/>
                <a:ea typeface="Arial" pitchFamily="34" charset="-122"/>
                <a:cs typeface="Arial" pitchFamily="34" charset="-120"/>
              </a:rPr>
              <a:t>RecipeGuardrail</a:t>
            </a:r>
            <a:endParaRPr lang="en-US" sz="2000" dirty="0"/>
          </a:p>
        </p:txBody>
      </p:sp>
      <p:sp>
        <p:nvSpPr>
          <p:cNvPr id="28" name="Text 25"/>
          <p:cNvSpPr/>
          <p:nvPr/>
        </p:nvSpPr>
        <p:spPr>
          <a:xfrm>
            <a:off x="8421624" y="4160520"/>
            <a:ext cx="2944368" cy="82296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Giới hạn địa chỉ protocol</a:t>
            </a:r>
            <a:endParaRPr lang="en-US" sz="1700" dirty="0"/>
          </a:p>
          <a:p>
            <a:pPr marL="0" indent="0">
              <a:buNone/>
            </a:pPr>
            <a:r>
              <a:rPr lang="en-US" sz="1700" dirty="0">
                <a:solidFill>
                  <a:srgbClr val="52657A"/>
                </a:solidFill>
                <a:latin typeface="Arial" pitchFamily="34" charset="0"/>
                <a:ea typeface="Arial" pitchFamily="34" charset="-122"/>
                <a:cs typeface="Arial" pitchFamily="34" charset="-120"/>
              </a:rPr>
              <a:t>và function selector.</a:t>
            </a:r>
            <a:endParaRPr lang="en-US" sz="1700" dirty="0"/>
          </a:p>
        </p:txBody>
      </p:sp>
      <p:sp>
        <p:nvSpPr>
          <p:cNvPr id="29" name="Shape 26"/>
          <p:cNvSpPr/>
          <p:nvPr/>
        </p:nvSpPr>
        <p:spPr>
          <a:xfrm>
            <a:off x="594360" y="5550408"/>
            <a:ext cx="11000232" cy="566928"/>
          </a:xfrm>
          <a:prstGeom prst="roundRect">
            <a:avLst>
              <a:gd name="adj" fmla="val 24194"/>
            </a:avLst>
          </a:prstGeom>
          <a:solidFill>
            <a:srgbClr val="FFF3DF"/>
          </a:solidFill>
          <a:ln w="12700">
            <a:solidFill>
              <a:srgbClr val="FFF3DF"/>
            </a:solidFill>
            <a:prstDash val="solid"/>
          </a:ln>
        </p:spPr>
      </p:sp>
      <p:sp>
        <p:nvSpPr>
          <p:cNvPr id="30" name="Text 27"/>
          <p:cNvSpPr/>
          <p:nvPr/>
        </p:nvSpPr>
        <p:spPr>
          <a:xfrm>
            <a:off x="777240" y="5632704"/>
            <a:ext cx="10634472" cy="402336"/>
          </a:xfrm>
          <a:prstGeom prst="rect">
            <a:avLst/>
          </a:prstGeom>
          <a:noFill/>
          <a:ln/>
        </p:spPr>
        <p:txBody>
          <a:bodyPr wrap="square" lIns="0" tIns="0" rIns="0" bIns="0" rtlCol="0" anchor="ctr"/>
          <a:lstStyle/>
          <a:p>
            <a:pPr marL="0" indent="0">
              <a:buNone/>
            </a:pPr>
            <a:r>
              <a:rPr lang="en-US" sz="1400" b="1" dirty="0">
                <a:solidFill>
                  <a:srgbClr val="915513"/>
                </a:solidFill>
                <a:latin typeface="Arial" pitchFamily="34" charset="0"/>
                <a:ea typeface="Arial" pitchFamily="34" charset="-122"/>
                <a:cs typeface="Arial" pitchFamily="34" charset="-120"/>
              </a:rPr>
              <a:t>Revoke session ≠ xóa allowance. Whitelist không tự chứng minh mọi tham số đều an toàn.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384048"/>
            <a:ext cx="10789920" cy="237744"/>
          </a:xfrm>
          <a:prstGeom prst="rect">
            <a:avLst/>
          </a:prstGeom>
          <a:noFill/>
          <a:ln/>
        </p:spPr>
        <p:txBody>
          <a:bodyPr wrap="square" lIns="0" tIns="0" rIns="0" bIns="0" rtlCol="0" anchor="ctr"/>
          <a:lstStyle/>
          <a:p>
            <a:pPr marL="0" indent="0">
              <a:buNone/>
            </a:pPr>
            <a:r>
              <a:rPr lang="en-US" sz="1100" b="1" kern="0" spc="140" dirty="0">
                <a:solidFill>
                  <a:srgbClr val="087F78"/>
                </a:solidFill>
                <a:latin typeface="Arial" pitchFamily="34" charset="0"/>
                <a:ea typeface="Arial" pitchFamily="34" charset="-122"/>
                <a:cs typeface="Arial" pitchFamily="34" charset="-120"/>
              </a:rPr>
              <a:t>THỰC THI</a:t>
            </a:r>
            <a:endParaRPr lang="en-US" sz="1100" dirty="0"/>
          </a:p>
        </p:txBody>
      </p:sp>
      <p:sp>
        <p:nvSpPr>
          <p:cNvPr id="4" name="Text 2"/>
          <p:cNvSpPr/>
          <p:nvPr/>
        </p:nvSpPr>
        <p:spPr>
          <a:xfrm>
            <a:off x="594360" y="841248"/>
            <a:ext cx="11000232" cy="566928"/>
          </a:xfrm>
          <a:prstGeom prst="rect">
            <a:avLst/>
          </a:prstGeom>
          <a:noFill/>
          <a:ln/>
        </p:spPr>
        <p:txBody>
          <a:bodyPr wrap="square" lIns="0" tIns="0" rIns="0" bIns="0" rtlCol="0" anchor="ctr"/>
          <a:lstStyle/>
          <a:p>
            <a:pPr marL="0" indent="0">
              <a:buNone/>
            </a:pPr>
            <a:r>
              <a:rPr lang="en-US" sz="2900" b="1" dirty="0">
                <a:solidFill>
                  <a:srgbClr val="142B45"/>
                </a:solidFill>
                <a:latin typeface="Arial" pitchFamily="34" charset="0"/>
                <a:ea typeface="Arial" pitchFamily="34" charset="-122"/>
                <a:cs typeface="Arial" pitchFamily="34" charset="-120"/>
              </a:rPr>
              <a:t>Keeper: từ lịch chạy đến xác nhận giao dịch</a:t>
            </a:r>
            <a:endParaRPr lang="en-US" sz="2900" dirty="0"/>
          </a:p>
        </p:txBody>
      </p:sp>
      <p:sp>
        <p:nvSpPr>
          <p:cNvPr id="5" name="Text 3"/>
          <p:cNvSpPr/>
          <p:nvPr/>
        </p:nvSpPr>
        <p:spPr>
          <a:xfrm>
            <a:off x="594360" y="1508760"/>
            <a:ext cx="11000232" cy="47548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Dịch vụ ngoài blockchain chuẩn bị, kiểm tra và theo dõi từng lượt chạy.</a:t>
            </a:r>
            <a:endParaRPr lang="en-US" sz="1600" dirty="0"/>
          </a:p>
        </p:txBody>
      </p:sp>
      <p:sp>
        <p:nvSpPr>
          <p:cNvPr id="6" name="Text 4"/>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52657A"/>
                </a:solidFill>
                <a:latin typeface="Arial" pitchFamily="34" charset="0"/>
                <a:ea typeface="Arial" pitchFamily="34" charset="-122"/>
                <a:cs typeface="Arial" pitchFamily="34" charset="-120"/>
              </a:rPr>
              <a:t>DEFI RECIPES ON ARC  /  ARC TESTNET</a:t>
            </a:r>
            <a:endParaRPr lang="en-US" sz="900" dirty="0"/>
          </a:p>
        </p:txBody>
      </p:sp>
      <p:sp>
        <p:nvSpPr>
          <p:cNvPr id="7" name="Text 5"/>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52657A"/>
                </a:solidFill>
                <a:latin typeface="Arial" pitchFamily="34" charset="0"/>
                <a:ea typeface="Arial" pitchFamily="34" charset="-122"/>
                <a:cs typeface="Arial" pitchFamily="34" charset="-120"/>
              </a:rPr>
              <a:t>10:00–11:00   |   08 / 12</a:t>
            </a:r>
            <a:endParaRPr lang="en-US" sz="1000" dirty="0"/>
          </a:p>
        </p:txBody>
      </p:sp>
      <p:sp>
        <p:nvSpPr>
          <p:cNvPr id="9" name="Shape 6"/>
          <p:cNvSpPr/>
          <p:nvPr/>
        </p:nvSpPr>
        <p:spPr>
          <a:xfrm>
            <a:off x="594360" y="2377440"/>
            <a:ext cx="2578608" cy="1024128"/>
          </a:xfrm>
          <a:prstGeom prst="roundRect">
            <a:avLst>
              <a:gd name="adj" fmla="val 13393"/>
            </a:avLst>
          </a:prstGeom>
          <a:solidFill>
            <a:srgbClr val="FFFFFF"/>
          </a:solidFill>
          <a:ln w="12700">
            <a:solidFill>
              <a:srgbClr val="D8E2ED"/>
            </a:solidFill>
            <a:prstDash val="solid"/>
          </a:ln>
        </p:spPr>
      </p:sp>
      <p:sp>
        <p:nvSpPr>
          <p:cNvPr id="10" name="Text 7"/>
          <p:cNvSpPr/>
          <p:nvPr/>
        </p:nvSpPr>
        <p:spPr>
          <a:xfrm>
            <a:off x="749808" y="2514600"/>
            <a:ext cx="457200" cy="228600"/>
          </a:xfrm>
          <a:prstGeom prst="rect">
            <a:avLst/>
          </a:prstGeom>
          <a:noFill/>
          <a:ln/>
        </p:spPr>
        <p:txBody>
          <a:bodyPr wrap="square" lIns="0" tIns="0" rIns="0" bIns="0" rtlCol="0" anchor="ctr"/>
          <a:lstStyle/>
          <a:p>
            <a:pPr marL="0" indent="0">
              <a:buNone/>
            </a:pPr>
            <a:r>
              <a:rPr lang="en-US" sz="1200" b="1" dirty="0">
                <a:solidFill>
                  <a:srgbClr val="087F78"/>
                </a:solidFill>
                <a:latin typeface="Arial" pitchFamily="34" charset="0"/>
                <a:ea typeface="Arial" pitchFamily="34" charset="-122"/>
                <a:cs typeface="Arial" pitchFamily="34" charset="-120"/>
              </a:rPr>
              <a:t>01</a:t>
            </a:r>
            <a:endParaRPr lang="en-US" sz="1200" dirty="0"/>
          </a:p>
        </p:txBody>
      </p:sp>
      <p:sp>
        <p:nvSpPr>
          <p:cNvPr id="11" name="Text 8"/>
          <p:cNvSpPr/>
          <p:nvPr/>
        </p:nvSpPr>
        <p:spPr>
          <a:xfrm>
            <a:off x="749808" y="2880360"/>
            <a:ext cx="2267712" cy="310896"/>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Đến hạn</a:t>
            </a:r>
            <a:endParaRPr lang="en-US" sz="2200" dirty="0"/>
          </a:p>
        </p:txBody>
      </p:sp>
      <p:sp>
        <p:nvSpPr>
          <p:cNvPr id="12" name="Shape 9"/>
          <p:cNvSpPr/>
          <p:nvPr/>
        </p:nvSpPr>
        <p:spPr>
          <a:xfrm>
            <a:off x="3401568" y="2377440"/>
            <a:ext cx="2578608" cy="1024128"/>
          </a:xfrm>
          <a:prstGeom prst="roundRect">
            <a:avLst>
              <a:gd name="adj" fmla="val 13393"/>
            </a:avLst>
          </a:prstGeom>
          <a:solidFill>
            <a:srgbClr val="FFFFFF"/>
          </a:solidFill>
          <a:ln w="12700">
            <a:solidFill>
              <a:srgbClr val="D8E2ED"/>
            </a:solidFill>
            <a:prstDash val="solid"/>
          </a:ln>
        </p:spPr>
      </p:sp>
      <p:sp>
        <p:nvSpPr>
          <p:cNvPr id="13" name="Text 10"/>
          <p:cNvSpPr/>
          <p:nvPr/>
        </p:nvSpPr>
        <p:spPr>
          <a:xfrm>
            <a:off x="3557016" y="2514600"/>
            <a:ext cx="457200" cy="228600"/>
          </a:xfrm>
          <a:prstGeom prst="rect">
            <a:avLst/>
          </a:prstGeom>
          <a:noFill/>
          <a:ln/>
        </p:spPr>
        <p:txBody>
          <a:bodyPr wrap="square" lIns="0" tIns="0" rIns="0" bIns="0" rtlCol="0" anchor="ctr"/>
          <a:lstStyle/>
          <a:p>
            <a:pPr marL="0" indent="0">
              <a:buNone/>
            </a:pPr>
            <a:r>
              <a:rPr lang="en-US" sz="1200" b="1" dirty="0">
                <a:solidFill>
                  <a:srgbClr val="087F78"/>
                </a:solidFill>
                <a:latin typeface="Arial" pitchFamily="34" charset="0"/>
                <a:ea typeface="Arial" pitchFamily="34" charset="-122"/>
                <a:cs typeface="Arial" pitchFamily="34" charset="-120"/>
              </a:rPr>
              <a:t>02</a:t>
            </a:r>
            <a:endParaRPr lang="en-US" sz="1200" dirty="0"/>
          </a:p>
        </p:txBody>
      </p:sp>
      <p:sp>
        <p:nvSpPr>
          <p:cNvPr id="14" name="Text 11"/>
          <p:cNvSpPr/>
          <p:nvPr/>
        </p:nvSpPr>
        <p:spPr>
          <a:xfrm>
            <a:off x="3557016" y="2880360"/>
            <a:ext cx="2267712" cy="310896"/>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Kiểm tra</a:t>
            </a:r>
            <a:endParaRPr lang="en-US" sz="2200" dirty="0"/>
          </a:p>
        </p:txBody>
      </p:sp>
      <p:sp>
        <p:nvSpPr>
          <p:cNvPr id="15" name="Shape 12"/>
          <p:cNvSpPr/>
          <p:nvPr/>
        </p:nvSpPr>
        <p:spPr>
          <a:xfrm>
            <a:off x="6208776" y="2377440"/>
            <a:ext cx="2578608" cy="1024128"/>
          </a:xfrm>
          <a:prstGeom prst="roundRect">
            <a:avLst>
              <a:gd name="adj" fmla="val 13393"/>
            </a:avLst>
          </a:prstGeom>
          <a:solidFill>
            <a:srgbClr val="FFFFFF"/>
          </a:solidFill>
          <a:ln w="12700">
            <a:solidFill>
              <a:srgbClr val="D8E2ED"/>
            </a:solidFill>
            <a:prstDash val="solid"/>
          </a:ln>
        </p:spPr>
      </p:sp>
      <p:sp>
        <p:nvSpPr>
          <p:cNvPr id="16" name="Text 13"/>
          <p:cNvSpPr/>
          <p:nvPr/>
        </p:nvSpPr>
        <p:spPr>
          <a:xfrm>
            <a:off x="6364224" y="2514600"/>
            <a:ext cx="457200" cy="228600"/>
          </a:xfrm>
          <a:prstGeom prst="rect">
            <a:avLst/>
          </a:prstGeom>
          <a:noFill/>
          <a:ln/>
        </p:spPr>
        <p:txBody>
          <a:bodyPr wrap="square" lIns="0" tIns="0" rIns="0" bIns="0" rtlCol="0" anchor="ctr"/>
          <a:lstStyle/>
          <a:p>
            <a:pPr marL="0" indent="0">
              <a:buNone/>
            </a:pPr>
            <a:r>
              <a:rPr lang="en-US" sz="1200" b="1" dirty="0">
                <a:solidFill>
                  <a:srgbClr val="087F78"/>
                </a:solidFill>
                <a:latin typeface="Arial" pitchFamily="34" charset="0"/>
                <a:ea typeface="Arial" pitchFamily="34" charset="-122"/>
                <a:cs typeface="Arial" pitchFamily="34" charset="-120"/>
              </a:rPr>
              <a:t>03</a:t>
            </a:r>
            <a:endParaRPr lang="en-US" sz="1200" dirty="0"/>
          </a:p>
        </p:txBody>
      </p:sp>
      <p:sp>
        <p:nvSpPr>
          <p:cNvPr id="17" name="Text 14"/>
          <p:cNvSpPr/>
          <p:nvPr/>
        </p:nvSpPr>
        <p:spPr>
          <a:xfrm>
            <a:off x="6364224" y="2880360"/>
            <a:ext cx="2267712" cy="310896"/>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Chọn route</a:t>
            </a:r>
            <a:endParaRPr lang="en-US" sz="2200" dirty="0"/>
          </a:p>
        </p:txBody>
      </p:sp>
      <p:sp>
        <p:nvSpPr>
          <p:cNvPr id="18" name="Shape 15"/>
          <p:cNvSpPr/>
          <p:nvPr/>
        </p:nvSpPr>
        <p:spPr>
          <a:xfrm>
            <a:off x="9015984" y="2377440"/>
            <a:ext cx="2578608" cy="1024128"/>
          </a:xfrm>
          <a:prstGeom prst="roundRect">
            <a:avLst>
              <a:gd name="adj" fmla="val 13393"/>
            </a:avLst>
          </a:prstGeom>
          <a:solidFill>
            <a:srgbClr val="0B1930"/>
          </a:solidFill>
          <a:ln w="12700">
            <a:solidFill>
              <a:srgbClr val="0B1930"/>
            </a:solidFill>
            <a:prstDash val="solid"/>
          </a:ln>
        </p:spPr>
      </p:sp>
      <p:sp>
        <p:nvSpPr>
          <p:cNvPr id="19" name="Text 16"/>
          <p:cNvSpPr/>
          <p:nvPr/>
        </p:nvSpPr>
        <p:spPr>
          <a:xfrm>
            <a:off x="9171432" y="2514600"/>
            <a:ext cx="457200" cy="228600"/>
          </a:xfrm>
          <a:prstGeom prst="rect">
            <a:avLst/>
          </a:prstGeom>
          <a:noFill/>
          <a:ln/>
        </p:spPr>
        <p:txBody>
          <a:bodyPr wrap="square" lIns="0" tIns="0" rIns="0" bIns="0" rtlCol="0" anchor="ctr"/>
          <a:lstStyle/>
          <a:p>
            <a:pPr marL="0" indent="0">
              <a:buNone/>
            </a:pPr>
            <a:r>
              <a:rPr lang="en-US" sz="1200" b="1" dirty="0">
                <a:solidFill>
                  <a:srgbClr val="76E7C7"/>
                </a:solidFill>
                <a:latin typeface="Arial" pitchFamily="34" charset="0"/>
                <a:ea typeface="Arial" pitchFamily="34" charset="-122"/>
                <a:cs typeface="Arial" pitchFamily="34" charset="-120"/>
              </a:rPr>
              <a:t>04</a:t>
            </a:r>
            <a:endParaRPr lang="en-US" sz="1200" dirty="0"/>
          </a:p>
        </p:txBody>
      </p:sp>
      <p:sp>
        <p:nvSpPr>
          <p:cNvPr id="20" name="Text 17"/>
          <p:cNvSpPr/>
          <p:nvPr/>
        </p:nvSpPr>
        <p:spPr>
          <a:xfrm>
            <a:off x="9171432" y="2880360"/>
            <a:ext cx="2267712" cy="310896"/>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eth_call</a:t>
            </a:r>
            <a:endParaRPr lang="en-US" sz="2200" dirty="0"/>
          </a:p>
        </p:txBody>
      </p:sp>
      <p:sp>
        <p:nvSpPr>
          <p:cNvPr id="21" name="Shape 18"/>
          <p:cNvSpPr/>
          <p:nvPr/>
        </p:nvSpPr>
        <p:spPr>
          <a:xfrm>
            <a:off x="594360" y="3767328"/>
            <a:ext cx="2578608" cy="1024128"/>
          </a:xfrm>
          <a:prstGeom prst="roundRect">
            <a:avLst>
              <a:gd name="adj" fmla="val 13393"/>
            </a:avLst>
          </a:prstGeom>
          <a:solidFill>
            <a:srgbClr val="FFFFFF"/>
          </a:solidFill>
          <a:ln w="12700">
            <a:solidFill>
              <a:srgbClr val="D8E2ED"/>
            </a:solidFill>
            <a:prstDash val="solid"/>
          </a:ln>
        </p:spPr>
      </p:sp>
      <p:sp>
        <p:nvSpPr>
          <p:cNvPr id="22" name="Text 19"/>
          <p:cNvSpPr/>
          <p:nvPr/>
        </p:nvSpPr>
        <p:spPr>
          <a:xfrm>
            <a:off x="749808" y="3904488"/>
            <a:ext cx="457200" cy="228600"/>
          </a:xfrm>
          <a:prstGeom prst="rect">
            <a:avLst/>
          </a:prstGeom>
          <a:noFill/>
          <a:ln/>
        </p:spPr>
        <p:txBody>
          <a:bodyPr wrap="square" lIns="0" tIns="0" rIns="0" bIns="0" rtlCol="0" anchor="ctr"/>
          <a:lstStyle/>
          <a:p>
            <a:pPr marL="0" indent="0">
              <a:buNone/>
            </a:pPr>
            <a:r>
              <a:rPr lang="en-US" sz="1200" b="1" dirty="0">
                <a:solidFill>
                  <a:srgbClr val="087F78"/>
                </a:solidFill>
                <a:latin typeface="Arial" pitchFamily="34" charset="0"/>
                <a:ea typeface="Arial" pitchFamily="34" charset="-122"/>
                <a:cs typeface="Arial" pitchFamily="34" charset="-120"/>
              </a:rPr>
              <a:t>05</a:t>
            </a:r>
            <a:endParaRPr lang="en-US" sz="1200" dirty="0"/>
          </a:p>
        </p:txBody>
      </p:sp>
      <p:sp>
        <p:nvSpPr>
          <p:cNvPr id="23" name="Text 20"/>
          <p:cNvSpPr/>
          <p:nvPr/>
        </p:nvSpPr>
        <p:spPr>
          <a:xfrm>
            <a:off x="749808" y="4270248"/>
            <a:ext cx="2267712" cy="310896"/>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Hàng đợi</a:t>
            </a:r>
            <a:endParaRPr lang="en-US" sz="2200" dirty="0"/>
          </a:p>
        </p:txBody>
      </p:sp>
      <p:sp>
        <p:nvSpPr>
          <p:cNvPr id="24" name="Shape 21"/>
          <p:cNvSpPr/>
          <p:nvPr/>
        </p:nvSpPr>
        <p:spPr>
          <a:xfrm>
            <a:off x="3401568" y="3767328"/>
            <a:ext cx="2578608" cy="1024128"/>
          </a:xfrm>
          <a:prstGeom prst="roundRect">
            <a:avLst>
              <a:gd name="adj" fmla="val 13393"/>
            </a:avLst>
          </a:prstGeom>
          <a:solidFill>
            <a:srgbClr val="FFFFFF"/>
          </a:solidFill>
          <a:ln w="12700">
            <a:solidFill>
              <a:srgbClr val="D8E2ED"/>
            </a:solidFill>
            <a:prstDash val="solid"/>
          </a:ln>
        </p:spPr>
      </p:sp>
      <p:sp>
        <p:nvSpPr>
          <p:cNvPr id="25" name="Text 22"/>
          <p:cNvSpPr/>
          <p:nvPr/>
        </p:nvSpPr>
        <p:spPr>
          <a:xfrm>
            <a:off x="3557016" y="3904488"/>
            <a:ext cx="457200" cy="228600"/>
          </a:xfrm>
          <a:prstGeom prst="rect">
            <a:avLst/>
          </a:prstGeom>
          <a:noFill/>
          <a:ln/>
        </p:spPr>
        <p:txBody>
          <a:bodyPr wrap="square" lIns="0" tIns="0" rIns="0" bIns="0" rtlCol="0" anchor="ctr"/>
          <a:lstStyle/>
          <a:p>
            <a:pPr marL="0" indent="0">
              <a:buNone/>
            </a:pPr>
            <a:r>
              <a:rPr lang="en-US" sz="1200" b="1" dirty="0">
                <a:solidFill>
                  <a:srgbClr val="087F78"/>
                </a:solidFill>
                <a:latin typeface="Arial" pitchFamily="34" charset="0"/>
                <a:ea typeface="Arial" pitchFamily="34" charset="-122"/>
                <a:cs typeface="Arial" pitchFamily="34" charset="-120"/>
              </a:rPr>
              <a:t>06</a:t>
            </a:r>
            <a:endParaRPr lang="en-US" sz="1200" dirty="0"/>
          </a:p>
        </p:txBody>
      </p:sp>
      <p:sp>
        <p:nvSpPr>
          <p:cNvPr id="26" name="Text 23"/>
          <p:cNvSpPr/>
          <p:nvPr/>
        </p:nvSpPr>
        <p:spPr>
          <a:xfrm>
            <a:off x="3557016" y="4270248"/>
            <a:ext cx="2267712" cy="310896"/>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Gửi</a:t>
            </a:r>
            <a:endParaRPr lang="en-US" sz="2200" dirty="0"/>
          </a:p>
        </p:txBody>
      </p:sp>
      <p:sp>
        <p:nvSpPr>
          <p:cNvPr id="27" name="Shape 24"/>
          <p:cNvSpPr/>
          <p:nvPr/>
        </p:nvSpPr>
        <p:spPr>
          <a:xfrm>
            <a:off x="6208776" y="3767328"/>
            <a:ext cx="2578608" cy="1024128"/>
          </a:xfrm>
          <a:prstGeom prst="roundRect">
            <a:avLst>
              <a:gd name="adj" fmla="val 13393"/>
            </a:avLst>
          </a:prstGeom>
          <a:solidFill>
            <a:srgbClr val="FFFFFF"/>
          </a:solidFill>
          <a:ln w="12700">
            <a:solidFill>
              <a:srgbClr val="D8E2ED"/>
            </a:solidFill>
            <a:prstDash val="solid"/>
          </a:ln>
        </p:spPr>
      </p:sp>
      <p:sp>
        <p:nvSpPr>
          <p:cNvPr id="28" name="Text 25"/>
          <p:cNvSpPr/>
          <p:nvPr/>
        </p:nvSpPr>
        <p:spPr>
          <a:xfrm>
            <a:off x="6364224" y="3904488"/>
            <a:ext cx="457200" cy="228600"/>
          </a:xfrm>
          <a:prstGeom prst="rect">
            <a:avLst/>
          </a:prstGeom>
          <a:noFill/>
          <a:ln/>
        </p:spPr>
        <p:txBody>
          <a:bodyPr wrap="square" lIns="0" tIns="0" rIns="0" bIns="0" rtlCol="0" anchor="ctr"/>
          <a:lstStyle/>
          <a:p>
            <a:pPr marL="0" indent="0">
              <a:buNone/>
            </a:pPr>
            <a:r>
              <a:rPr lang="en-US" sz="1200" b="1" dirty="0">
                <a:solidFill>
                  <a:srgbClr val="087F78"/>
                </a:solidFill>
                <a:latin typeface="Arial" pitchFamily="34" charset="0"/>
                <a:ea typeface="Arial" pitchFamily="34" charset="-122"/>
                <a:cs typeface="Arial" pitchFamily="34" charset="-120"/>
              </a:rPr>
              <a:t>07</a:t>
            </a:r>
            <a:endParaRPr lang="en-US" sz="1200" dirty="0"/>
          </a:p>
        </p:txBody>
      </p:sp>
      <p:sp>
        <p:nvSpPr>
          <p:cNvPr id="29" name="Text 26"/>
          <p:cNvSpPr/>
          <p:nvPr/>
        </p:nvSpPr>
        <p:spPr>
          <a:xfrm>
            <a:off x="6364224" y="4270248"/>
            <a:ext cx="2267712" cy="310896"/>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Xác nhận</a:t>
            </a:r>
            <a:endParaRPr lang="en-US" sz="2200" dirty="0"/>
          </a:p>
        </p:txBody>
      </p:sp>
      <p:sp>
        <p:nvSpPr>
          <p:cNvPr id="30" name="Shape 27"/>
          <p:cNvSpPr/>
          <p:nvPr/>
        </p:nvSpPr>
        <p:spPr>
          <a:xfrm>
            <a:off x="9015984" y="3767328"/>
            <a:ext cx="2578608" cy="1024128"/>
          </a:xfrm>
          <a:prstGeom prst="roundRect">
            <a:avLst>
              <a:gd name="adj" fmla="val 13393"/>
            </a:avLst>
          </a:prstGeom>
          <a:solidFill>
            <a:srgbClr val="FFFFFF"/>
          </a:solidFill>
          <a:ln w="12700">
            <a:solidFill>
              <a:srgbClr val="D8E2ED"/>
            </a:solidFill>
            <a:prstDash val="solid"/>
          </a:ln>
        </p:spPr>
      </p:sp>
      <p:sp>
        <p:nvSpPr>
          <p:cNvPr id="31" name="Text 28"/>
          <p:cNvSpPr/>
          <p:nvPr/>
        </p:nvSpPr>
        <p:spPr>
          <a:xfrm>
            <a:off x="9171432" y="3904488"/>
            <a:ext cx="457200" cy="228600"/>
          </a:xfrm>
          <a:prstGeom prst="rect">
            <a:avLst/>
          </a:prstGeom>
          <a:noFill/>
          <a:ln/>
        </p:spPr>
        <p:txBody>
          <a:bodyPr wrap="square" lIns="0" tIns="0" rIns="0" bIns="0" rtlCol="0" anchor="ctr"/>
          <a:lstStyle/>
          <a:p>
            <a:pPr marL="0" indent="0">
              <a:buNone/>
            </a:pPr>
            <a:r>
              <a:rPr lang="en-US" sz="1200" b="1" dirty="0">
                <a:solidFill>
                  <a:srgbClr val="087F78"/>
                </a:solidFill>
                <a:latin typeface="Arial" pitchFamily="34" charset="0"/>
                <a:ea typeface="Arial" pitchFamily="34" charset="-122"/>
                <a:cs typeface="Arial" pitchFamily="34" charset="-120"/>
              </a:rPr>
              <a:t>08</a:t>
            </a:r>
            <a:endParaRPr lang="en-US" sz="1200" dirty="0"/>
          </a:p>
        </p:txBody>
      </p:sp>
      <p:sp>
        <p:nvSpPr>
          <p:cNvPr id="32" name="Text 29"/>
          <p:cNvSpPr/>
          <p:nvPr/>
        </p:nvSpPr>
        <p:spPr>
          <a:xfrm>
            <a:off x="9171432" y="4270248"/>
            <a:ext cx="2267712" cy="310896"/>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Nhật ký</a:t>
            </a:r>
            <a:endParaRPr lang="en-US" sz="2200" dirty="0"/>
          </a:p>
        </p:txBody>
      </p:sp>
      <p:sp>
        <p:nvSpPr>
          <p:cNvPr id="33" name="Text 30"/>
          <p:cNvSpPr/>
          <p:nvPr/>
        </p:nvSpPr>
        <p:spPr>
          <a:xfrm>
            <a:off x="777240" y="5102352"/>
            <a:ext cx="10634472" cy="274320"/>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PostgreSQL  •  BullMQ / Redis theo cấu hình  •  Retry, backoff và RPC failover</a:t>
            </a:r>
            <a:endParaRPr lang="en-US" sz="1600" dirty="0"/>
          </a:p>
        </p:txBody>
      </p:sp>
      <p:sp>
        <p:nvSpPr>
          <p:cNvPr id="34" name="Shape 31"/>
          <p:cNvSpPr/>
          <p:nvPr/>
        </p:nvSpPr>
        <p:spPr>
          <a:xfrm>
            <a:off x="594360" y="5550408"/>
            <a:ext cx="11000232" cy="566928"/>
          </a:xfrm>
          <a:prstGeom prst="roundRect">
            <a:avLst>
              <a:gd name="adj" fmla="val 24194"/>
            </a:avLst>
          </a:prstGeom>
          <a:solidFill>
            <a:srgbClr val="E7F6F1"/>
          </a:solidFill>
          <a:ln w="12700">
            <a:solidFill>
              <a:srgbClr val="E7F6F1"/>
            </a:solidFill>
            <a:prstDash val="solid"/>
          </a:ln>
        </p:spPr>
      </p:sp>
      <p:sp>
        <p:nvSpPr>
          <p:cNvPr id="35" name="Text 32"/>
          <p:cNvSpPr/>
          <p:nvPr/>
        </p:nvSpPr>
        <p:spPr>
          <a:xfrm>
            <a:off x="777240" y="5632704"/>
            <a:ext cx="10634472" cy="402336"/>
          </a:xfrm>
          <a:prstGeom prst="rect">
            <a:avLst/>
          </a:prstGeom>
          <a:noFill/>
          <a:ln/>
        </p:spPr>
        <p:txBody>
          <a:bodyPr wrap="square" lIns="0" tIns="0" rIns="0" bIns="0" rtlCol="0" anchor="ctr"/>
          <a:lstStyle/>
          <a:p>
            <a:pPr marL="0" indent="0">
              <a:buNone/>
            </a:pPr>
            <a:r>
              <a:rPr lang="en-US" sz="1400" b="1" dirty="0">
                <a:solidFill>
                  <a:srgbClr val="087F78"/>
                </a:solidFill>
                <a:latin typeface="Arial" pitchFamily="34" charset="0"/>
                <a:ea typeface="Arial" pitchFamily="34" charset="-122"/>
                <a:cs typeface="Arial" pitchFamily="34" charset="-120"/>
              </a:rPr>
              <a:t>eth_call kiểm tra tại một thời điểm. Đã gửi giao dịch ≠ đã được xác nhận.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384048"/>
            <a:ext cx="10789920" cy="237744"/>
          </a:xfrm>
          <a:prstGeom prst="rect">
            <a:avLst/>
          </a:prstGeom>
          <a:noFill/>
          <a:ln/>
        </p:spPr>
        <p:txBody>
          <a:bodyPr wrap="square" lIns="0" tIns="0" rIns="0" bIns="0" rtlCol="0" anchor="ctr"/>
          <a:lstStyle/>
          <a:p>
            <a:pPr marL="0" indent="0">
              <a:buNone/>
            </a:pPr>
            <a:r>
              <a:rPr lang="en-US" sz="1100" b="1" kern="0" spc="140" dirty="0">
                <a:solidFill>
                  <a:srgbClr val="087F78"/>
                </a:solidFill>
                <a:latin typeface="Arial" pitchFamily="34" charset="0"/>
                <a:ea typeface="Arial" pitchFamily="34" charset="-122"/>
                <a:cs typeface="Arial" pitchFamily="34" charset="-120"/>
              </a:rPr>
              <a:t>DEMO TRỰC TIẾP • 4 PHÚT</a:t>
            </a:r>
            <a:endParaRPr lang="en-US" sz="1100" dirty="0"/>
          </a:p>
        </p:txBody>
      </p:sp>
      <p:sp>
        <p:nvSpPr>
          <p:cNvPr id="4" name="Text 2"/>
          <p:cNvSpPr/>
          <p:nvPr/>
        </p:nvSpPr>
        <p:spPr>
          <a:xfrm>
            <a:off x="594360" y="841248"/>
            <a:ext cx="11000232" cy="566928"/>
          </a:xfrm>
          <a:prstGeom prst="rect">
            <a:avLst/>
          </a:prstGeom>
          <a:noFill/>
          <a:ln/>
        </p:spPr>
        <p:txBody>
          <a:bodyPr wrap="square" lIns="0" tIns="0" rIns="0" bIns="0" rtlCol="0" anchor="ctr"/>
          <a:lstStyle/>
          <a:p>
            <a:pPr marL="0" indent="0">
              <a:buNone/>
            </a:pPr>
            <a:r>
              <a:rPr lang="en-US" sz="2900" b="1" dirty="0">
                <a:solidFill>
                  <a:srgbClr val="142B45"/>
                </a:solidFill>
                <a:latin typeface="Arial" pitchFamily="34" charset="0"/>
                <a:ea typeface="Arial" pitchFamily="34" charset="-122"/>
                <a:cs typeface="Arial" pitchFamily="34" charset="-120"/>
              </a:rPr>
              <a:t>DCA: cấu hình → cấp quyền → theo dõi</a:t>
            </a:r>
            <a:endParaRPr lang="en-US" sz="2900" dirty="0"/>
          </a:p>
        </p:txBody>
      </p:sp>
      <p:sp>
        <p:nvSpPr>
          <p:cNvPr id="5" name="Text 3"/>
          <p:cNvSpPr/>
          <p:nvPr/>
        </p:nvSpPr>
        <p:spPr>
          <a:xfrm>
            <a:off x="594360" y="1508760"/>
            <a:ext cx="11000232" cy="47548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Chuyển sang ứng dụng. Không chờ đủ 10 lượt; chuẩn bị giao dịch lịch sử đã xác minh.</a:t>
            </a:r>
            <a:endParaRPr lang="en-US" sz="1600" dirty="0"/>
          </a:p>
        </p:txBody>
      </p:sp>
      <p:sp>
        <p:nvSpPr>
          <p:cNvPr id="6" name="Text 4"/>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52657A"/>
                </a:solidFill>
                <a:latin typeface="Arial" pitchFamily="34" charset="0"/>
                <a:ea typeface="Arial" pitchFamily="34" charset="-122"/>
                <a:cs typeface="Arial" pitchFamily="34" charset="-120"/>
              </a:rPr>
              <a:t>DEFI RECIPES ON ARC  /  ARC TESTNET</a:t>
            </a:r>
            <a:endParaRPr lang="en-US" sz="900" dirty="0"/>
          </a:p>
        </p:txBody>
      </p:sp>
      <p:sp>
        <p:nvSpPr>
          <p:cNvPr id="7" name="Text 5"/>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52657A"/>
                </a:solidFill>
                <a:latin typeface="Arial" pitchFamily="34" charset="0"/>
                <a:ea typeface="Arial" pitchFamily="34" charset="-122"/>
                <a:cs typeface="Arial" pitchFamily="34" charset="-120"/>
              </a:rPr>
              <a:t>11:00–15:00   |   09 / 12</a:t>
            </a:r>
            <a:endParaRPr lang="en-US" sz="1000" dirty="0"/>
          </a:p>
        </p:txBody>
      </p:sp>
      <p:sp>
        <p:nvSpPr>
          <p:cNvPr id="9" name="Shape 6"/>
          <p:cNvSpPr/>
          <p:nvPr/>
        </p:nvSpPr>
        <p:spPr>
          <a:xfrm>
            <a:off x="594360" y="2267712"/>
            <a:ext cx="3703320" cy="2990088"/>
          </a:xfrm>
          <a:prstGeom prst="roundRect">
            <a:avLst>
              <a:gd name="adj" fmla="val 4587"/>
            </a:avLst>
          </a:prstGeom>
          <a:solidFill>
            <a:srgbClr val="0B1930"/>
          </a:solidFill>
          <a:ln w="12700">
            <a:solidFill>
              <a:srgbClr val="0B1930"/>
            </a:solidFill>
            <a:prstDash val="solid"/>
          </a:ln>
        </p:spPr>
      </p:sp>
      <p:sp>
        <p:nvSpPr>
          <p:cNvPr id="10" name="Text 7"/>
          <p:cNvSpPr/>
          <p:nvPr/>
        </p:nvSpPr>
        <p:spPr>
          <a:xfrm>
            <a:off x="868680" y="2551176"/>
            <a:ext cx="3154680" cy="274320"/>
          </a:xfrm>
          <a:prstGeom prst="rect">
            <a:avLst/>
          </a:prstGeom>
          <a:noFill/>
          <a:ln/>
        </p:spPr>
        <p:txBody>
          <a:bodyPr wrap="square" lIns="0" tIns="0" rIns="0" bIns="0" rtlCol="0" anchor="ctr"/>
          <a:lstStyle/>
          <a:p>
            <a:pPr marL="0" indent="0">
              <a:buNone/>
            </a:pPr>
            <a:r>
              <a:rPr lang="en-US" sz="1200" b="1" dirty="0">
                <a:solidFill>
                  <a:srgbClr val="76E7C7"/>
                </a:solidFill>
                <a:latin typeface="Arial" pitchFamily="34" charset="0"/>
                <a:ea typeface="Arial" pitchFamily="34" charset="-122"/>
                <a:cs typeface="Arial" pitchFamily="34" charset="-120"/>
              </a:rPr>
              <a:t>CẤU HÌNH MINH HỌA</a:t>
            </a:r>
            <a:endParaRPr lang="en-US" sz="1200" dirty="0"/>
          </a:p>
        </p:txBody>
      </p:sp>
      <p:sp>
        <p:nvSpPr>
          <p:cNvPr id="11" name="Text 8"/>
          <p:cNvSpPr/>
          <p:nvPr/>
        </p:nvSpPr>
        <p:spPr>
          <a:xfrm>
            <a:off x="868680" y="3127248"/>
            <a:ext cx="3154680" cy="1709928"/>
          </a:xfrm>
          <a:prstGeom prst="rect">
            <a:avLst/>
          </a:prstGeom>
          <a:noFill/>
          <a:ln/>
        </p:spPr>
        <p:txBody>
          <a:bodyPr wrap="square" lIns="0" tIns="0" rIns="0" bIns="0" rtlCol="0" anchor="ctr"/>
          <a:lstStyle/>
          <a:p>
            <a:pPr marL="0" indent="0">
              <a:buNone/>
            </a:pPr>
            <a:r>
              <a:rPr lang="en-US" sz="2100" dirty="0">
                <a:solidFill>
                  <a:srgbClr val="FFFFFF"/>
                </a:solidFill>
                <a:latin typeface="Arial" pitchFamily="34" charset="0"/>
                <a:ea typeface="Arial" pitchFamily="34" charset="-122"/>
                <a:cs typeface="Arial" pitchFamily="34" charset="-120"/>
              </a:rPr>
              <a:t>Ngân sách: 50 USDC</a:t>
            </a:r>
            <a:endParaRPr lang="en-US" sz="2100" dirty="0"/>
          </a:p>
          <a:p>
            <a:pPr marL="0" indent="0">
              <a:buNone/>
            </a:pPr>
            <a:r>
              <a:rPr lang="en-US" sz="2100" dirty="0">
                <a:solidFill>
                  <a:srgbClr val="FFFFFF"/>
                </a:solidFill>
                <a:latin typeface="Arial" pitchFamily="34" charset="0"/>
                <a:ea typeface="Arial" pitchFamily="34" charset="-122"/>
                <a:cs typeface="Arial" pitchFamily="34" charset="-120"/>
              </a:rPr>
              <a:t>Mỗi lượt: 5 USDC</a:t>
            </a:r>
            <a:endParaRPr lang="en-US" sz="2100" dirty="0"/>
          </a:p>
          <a:p>
            <a:pPr marL="0" indent="0">
              <a:buNone/>
            </a:pPr>
            <a:r>
              <a:rPr lang="en-US" sz="2100" dirty="0">
                <a:solidFill>
                  <a:srgbClr val="FFFFFF"/>
                </a:solidFill>
                <a:latin typeface="Arial" pitchFamily="34" charset="0"/>
                <a:ea typeface="Arial" pitchFamily="34" charset="-122"/>
                <a:cs typeface="Arial" pitchFamily="34" charset="-120"/>
              </a:rPr>
              <a:t>Chu kỳ: 24 giờ</a:t>
            </a:r>
            <a:endParaRPr lang="en-US" sz="2100" dirty="0"/>
          </a:p>
          <a:p>
            <a:pPr marL="0" indent="0">
              <a:buNone/>
            </a:pPr>
            <a:r>
              <a:rPr lang="en-US" sz="2100" dirty="0">
                <a:solidFill>
                  <a:srgbClr val="FFFFFF"/>
                </a:solidFill>
                <a:latin typeface="Arial" pitchFamily="34" charset="0"/>
                <a:ea typeface="Arial" pitchFamily="34" charset="-122"/>
                <a:cs typeface="Arial" pitchFamily="34" charset="-120"/>
              </a:rPr>
              <a:t>Session limit: 50 USDC</a:t>
            </a:r>
            <a:endParaRPr lang="en-US" sz="2100" dirty="0"/>
          </a:p>
        </p:txBody>
      </p:sp>
      <p:sp>
        <p:nvSpPr>
          <p:cNvPr id="12" name="Text 9"/>
          <p:cNvSpPr/>
          <p:nvPr/>
        </p:nvSpPr>
        <p:spPr>
          <a:xfrm>
            <a:off x="4617720" y="2331720"/>
            <a:ext cx="777240" cy="320040"/>
          </a:xfrm>
          <a:prstGeom prst="rect">
            <a:avLst/>
          </a:prstGeom>
          <a:noFill/>
          <a:ln/>
        </p:spPr>
        <p:txBody>
          <a:bodyPr wrap="square" lIns="0" tIns="0" rIns="0" bIns="0" rtlCol="0" anchor="ctr"/>
          <a:lstStyle/>
          <a:p>
            <a:pPr marL="0" indent="0">
              <a:buNone/>
            </a:pPr>
            <a:r>
              <a:rPr lang="en-US" sz="1600" b="1" dirty="0">
                <a:solidFill>
                  <a:srgbClr val="087F78"/>
                </a:solidFill>
                <a:latin typeface="Arial" pitchFamily="34" charset="0"/>
                <a:ea typeface="Arial" pitchFamily="34" charset="-122"/>
                <a:cs typeface="Arial" pitchFamily="34" charset="-120"/>
              </a:rPr>
              <a:t>11:00</a:t>
            </a:r>
            <a:endParaRPr lang="en-US" sz="1600" dirty="0"/>
          </a:p>
        </p:txBody>
      </p:sp>
      <p:sp>
        <p:nvSpPr>
          <p:cNvPr id="13" name="Text 10"/>
          <p:cNvSpPr/>
          <p:nvPr/>
        </p:nvSpPr>
        <p:spPr>
          <a:xfrm>
            <a:off x="5559552" y="2331720"/>
            <a:ext cx="5833872" cy="393192"/>
          </a:xfrm>
          <a:prstGeom prst="rect">
            <a:avLst/>
          </a:prstGeom>
          <a:noFill/>
          <a:ln/>
        </p:spPr>
        <p:txBody>
          <a:bodyPr wrap="square" lIns="0" tIns="0" rIns="0" bIns="0" rtlCol="0" anchor="ctr"/>
          <a:lstStyle/>
          <a:p>
            <a:pPr marL="0" indent="0">
              <a:buNone/>
            </a:pPr>
            <a:r>
              <a:rPr lang="en-US" sz="1700" dirty="0">
                <a:solidFill>
                  <a:srgbClr val="142B45"/>
                </a:solidFill>
                <a:latin typeface="Arial" pitchFamily="34" charset="0"/>
                <a:ea typeface="Arial" pitchFamily="34" charset="-122"/>
                <a:cs typeface="Arial" pitchFamily="34" charset="-120"/>
              </a:rPr>
              <a:t>Kết nối ví; xác minh Arc Testnet.</a:t>
            </a:r>
            <a:endParaRPr lang="en-US" sz="1700" dirty="0"/>
          </a:p>
        </p:txBody>
      </p:sp>
      <p:sp>
        <p:nvSpPr>
          <p:cNvPr id="14" name="Text 11"/>
          <p:cNvSpPr/>
          <p:nvPr/>
        </p:nvSpPr>
        <p:spPr>
          <a:xfrm>
            <a:off x="4617720" y="2907792"/>
            <a:ext cx="777240" cy="320040"/>
          </a:xfrm>
          <a:prstGeom prst="rect">
            <a:avLst/>
          </a:prstGeom>
          <a:noFill/>
          <a:ln/>
        </p:spPr>
        <p:txBody>
          <a:bodyPr wrap="square" lIns="0" tIns="0" rIns="0" bIns="0" rtlCol="0" anchor="ctr"/>
          <a:lstStyle/>
          <a:p>
            <a:pPr marL="0" indent="0">
              <a:buNone/>
            </a:pPr>
            <a:r>
              <a:rPr lang="en-US" sz="1600" b="1" dirty="0">
                <a:solidFill>
                  <a:srgbClr val="087F78"/>
                </a:solidFill>
                <a:latin typeface="Arial" pitchFamily="34" charset="0"/>
                <a:ea typeface="Arial" pitchFamily="34" charset="-122"/>
                <a:cs typeface="Arial" pitchFamily="34" charset="-120"/>
              </a:rPr>
              <a:t>11:35</a:t>
            </a:r>
            <a:endParaRPr lang="en-US" sz="1600" dirty="0"/>
          </a:p>
        </p:txBody>
      </p:sp>
      <p:sp>
        <p:nvSpPr>
          <p:cNvPr id="15" name="Text 12"/>
          <p:cNvSpPr/>
          <p:nvPr/>
        </p:nvSpPr>
        <p:spPr>
          <a:xfrm>
            <a:off x="5559552" y="2907792"/>
            <a:ext cx="5833872" cy="393192"/>
          </a:xfrm>
          <a:prstGeom prst="rect">
            <a:avLst/>
          </a:prstGeom>
          <a:noFill/>
          <a:ln/>
        </p:spPr>
        <p:txBody>
          <a:bodyPr wrap="square" lIns="0" tIns="0" rIns="0" bIns="0" rtlCol="0" anchor="ctr"/>
          <a:lstStyle/>
          <a:p>
            <a:pPr marL="0" indent="0">
              <a:buNone/>
            </a:pPr>
            <a:r>
              <a:rPr lang="en-US" sz="1700" dirty="0">
                <a:solidFill>
                  <a:srgbClr val="142B45"/>
                </a:solidFill>
                <a:latin typeface="Arial" pitchFamily="34" charset="0"/>
                <a:ea typeface="Arial" pitchFamily="34" charset="-122"/>
                <a:cs typeface="Arial" pitchFamily="34" charset="-120"/>
              </a:rPr>
              <a:t>Đặt ngân sách, lịch và slippage phù hợp.</a:t>
            </a:r>
            <a:endParaRPr lang="en-US" sz="1700" dirty="0"/>
          </a:p>
        </p:txBody>
      </p:sp>
      <p:sp>
        <p:nvSpPr>
          <p:cNvPr id="16" name="Text 13"/>
          <p:cNvSpPr/>
          <p:nvPr/>
        </p:nvSpPr>
        <p:spPr>
          <a:xfrm>
            <a:off x="4617720" y="3483864"/>
            <a:ext cx="777240" cy="320040"/>
          </a:xfrm>
          <a:prstGeom prst="rect">
            <a:avLst/>
          </a:prstGeom>
          <a:noFill/>
          <a:ln/>
        </p:spPr>
        <p:txBody>
          <a:bodyPr wrap="square" lIns="0" tIns="0" rIns="0" bIns="0" rtlCol="0" anchor="ctr"/>
          <a:lstStyle/>
          <a:p>
            <a:pPr marL="0" indent="0">
              <a:buNone/>
            </a:pPr>
            <a:r>
              <a:rPr lang="en-US" sz="1600" b="1" dirty="0">
                <a:solidFill>
                  <a:srgbClr val="087F78"/>
                </a:solidFill>
                <a:latin typeface="Arial" pitchFamily="34" charset="0"/>
                <a:ea typeface="Arial" pitchFamily="34" charset="-122"/>
                <a:cs typeface="Arial" pitchFamily="34" charset="-120"/>
              </a:rPr>
              <a:t>12:20</a:t>
            </a:r>
            <a:endParaRPr lang="en-US" sz="1600" dirty="0"/>
          </a:p>
        </p:txBody>
      </p:sp>
      <p:sp>
        <p:nvSpPr>
          <p:cNvPr id="17" name="Text 14"/>
          <p:cNvSpPr/>
          <p:nvPr/>
        </p:nvSpPr>
        <p:spPr>
          <a:xfrm>
            <a:off x="5559552" y="3483864"/>
            <a:ext cx="5833872" cy="393192"/>
          </a:xfrm>
          <a:prstGeom prst="rect">
            <a:avLst/>
          </a:prstGeom>
          <a:noFill/>
          <a:ln/>
        </p:spPr>
        <p:txBody>
          <a:bodyPr wrap="square" lIns="0" tIns="0" rIns="0" bIns="0" rtlCol="0" anchor="ctr"/>
          <a:lstStyle/>
          <a:p>
            <a:pPr marL="0" indent="0">
              <a:buNone/>
            </a:pPr>
            <a:r>
              <a:rPr lang="en-US" sz="1700" dirty="0">
                <a:solidFill>
                  <a:srgbClr val="142B45"/>
                </a:solidFill>
                <a:latin typeface="Arial" pitchFamily="34" charset="0"/>
                <a:ea typeface="Arial" pitchFamily="34" charset="-122"/>
                <a:cs typeface="Arial" pitchFamily="34" charset="-120"/>
              </a:rPr>
              <a:t>Kiểm tra spender, allowance và session.</a:t>
            </a:r>
            <a:endParaRPr lang="en-US" sz="1700" dirty="0"/>
          </a:p>
        </p:txBody>
      </p:sp>
      <p:sp>
        <p:nvSpPr>
          <p:cNvPr id="18" name="Text 15"/>
          <p:cNvSpPr/>
          <p:nvPr/>
        </p:nvSpPr>
        <p:spPr>
          <a:xfrm>
            <a:off x="4617720" y="4059936"/>
            <a:ext cx="777240" cy="320040"/>
          </a:xfrm>
          <a:prstGeom prst="rect">
            <a:avLst/>
          </a:prstGeom>
          <a:noFill/>
          <a:ln/>
        </p:spPr>
        <p:txBody>
          <a:bodyPr wrap="square" lIns="0" tIns="0" rIns="0" bIns="0" rtlCol="0" anchor="ctr"/>
          <a:lstStyle/>
          <a:p>
            <a:pPr marL="0" indent="0">
              <a:buNone/>
            </a:pPr>
            <a:r>
              <a:rPr lang="en-US" sz="1600" b="1" dirty="0">
                <a:solidFill>
                  <a:srgbClr val="087F78"/>
                </a:solidFill>
                <a:latin typeface="Arial" pitchFamily="34" charset="0"/>
                <a:ea typeface="Arial" pitchFamily="34" charset="-122"/>
                <a:cs typeface="Arial" pitchFamily="34" charset="-120"/>
              </a:rPr>
              <a:t>13:20</a:t>
            </a:r>
            <a:endParaRPr lang="en-US" sz="1600" dirty="0"/>
          </a:p>
        </p:txBody>
      </p:sp>
      <p:sp>
        <p:nvSpPr>
          <p:cNvPr id="19" name="Text 16"/>
          <p:cNvSpPr/>
          <p:nvPr/>
        </p:nvSpPr>
        <p:spPr>
          <a:xfrm>
            <a:off x="5559552" y="4059936"/>
            <a:ext cx="5833872" cy="393192"/>
          </a:xfrm>
          <a:prstGeom prst="rect">
            <a:avLst/>
          </a:prstGeom>
          <a:noFill/>
          <a:ln/>
        </p:spPr>
        <p:txBody>
          <a:bodyPr wrap="square" lIns="0" tIns="0" rIns="0" bIns="0" rtlCol="0" anchor="ctr"/>
          <a:lstStyle/>
          <a:p>
            <a:pPr marL="0" indent="0">
              <a:buNone/>
            </a:pPr>
            <a:r>
              <a:rPr lang="en-US" sz="1700" dirty="0">
                <a:solidFill>
                  <a:srgbClr val="142B45"/>
                </a:solidFill>
                <a:latin typeface="Arial" pitchFamily="34" charset="0"/>
                <a:ea typeface="Arial" pitchFamily="34" charset="-122"/>
                <a:cs typeface="Arial" pitchFamily="34" charset="-120"/>
              </a:rPr>
              <a:t>Kích hoạt; phân biệt pending với confirmed.</a:t>
            </a:r>
            <a:endParaRPr lang="en-US" sz="1700" dirty="0"/>
          </a:p>
        </p:txBody>
      </p:sp>
      <p:sp>
        <p:nvSpPr>
          <p:cNvPr id="20" name="Text 17"/>
          <p:cNvSpPr/>
          <p:nvPr/>
        </p:nvSpPr>
        <p:spPr>
          <a:xfrm>
            <a:off x="4617720" y="4636008"/>
            <a:ext cx="777240" cy="320040"/>
          </a:xfrm>
          <a:prstGeom prst="rect">
            <a:avLst/>
          </a:prstGeom>
          <a:noFill/>
          <a:ln/>
        </p:spPr>
        <p:txBody>
          <a:bodyPr wrap="square" lIns="0" tIns="0" rIns="0" bIns="0" rtlCol="0" anchor="ctr"/>
          <a:lstStyle/>
          <a:p>
            <a:pPr marL="0" indent="0">
              <a:buNone/>
            </a:pPr>
            <a:r>
              <a:rPr lang="en-US" sz="1600" b="1" dirty="0">
                <a:solidFill>
                  <a:srgbClr val="087F78"/>
                </a:solidFill>
                <a:latin typeface="Arial" pitchFamily="34" charset="0"/>
                <a:ea typeface="Arial" pitchFamily="34" charset="-122"/>
                <a:cs typeface="Arial" pitchFamily="34" charset="-120"/>
              </a:rPr>
              <a:t>14:15</a:t>
            </a:r>
            <a:endParaRPr lang="en-US" sz="1600" dirty="0"/>
          </a:p>
        </p:txBody>
      </p:sp>
      <p:sp>
        <p:nvSpPr>
          <p:cNvPr id="21" name="Text 18"/>
          <p:cNvSpPr/>
          <p:nvPr/>
        </p:nvSpPr>
        <p:spPr>
          <a:xfrm>
            <a:off x="5559552" y="4636008"/>
            <a:ext cx="5833872" cy="393192"/>
          </a:xfrm>
          <a:prstGeom prst="rect">
            <a:avLst/>
          </a:prstGeom>
          <a:noFill/>
          <a:ln/>
        </p:spPr>
        <p:txBody>
          <a:bodyPr wrap="square" lIns="0" tIns="0" rIns="0" bIns="0" rtlCol="0" anchor="ctr"/>
          <a:lstStyle/>
          <a:p>
            <a:pPr marL="0" indent="0">
              <a:buNone/>
            </a:pPr>
            <a:r>
              <a:rPr lang="en-US" sz="1700" dirty="0">
                <a:solidFill>
                  <a:srgbClr val="142B45"/>
                </a:solidFill>
                <a:latin typeface="Arial" pitchFamily="34" charset="0"/>
                <a:ea typeface="Arial" pitchFamily="34" charset="-122"/>
                <a:cs typeface="Arial" pitchFamily="34" charset="-120"/>
              </a:rPr>
              <a:t>Đối chiếu hash; chỉ rõ Pause / Revoke.</a:t>
            </a:r>
            <a:endParaRPr lang="en-US" sz="1700" dirty="0"/>
          </a:p>
        </p:txBody>
      </p:sp>
      <p:sp>
        <p:nvSpPr>
          <p:cNvPr id="22" name="Shape 19"/>
          <p:cNvSpPr/>
          <p:nvPr/>
        </p:nvSpPr>
        <p:spPr>
          <a:xfrm>
            <a:off x="594360" y="5550408"/>
            <a:ext cx="11000232" cy="566928"/>
          </a:xfrm>
          <a:prstGeom prst="roundRect">
            <a:avLst>
              <a:gd name="adj" fmla="val 24194"/>
            </a:avLst>
          </a:prstGeom>
          <a:solidFill>
            <a:srgbClr val="FFF3DF"/>
          </a:solidFill>
          <a:ln w="12700">
            <a:solidFill>
              <a:srgbClr val="FFF3DF"/>
            </a:solidFill>
            <a:prstDash val="solid"/>
          </a:ln>
        </p:spPr>
      </p:sp>
      <p:sp>
        <p:nvSpPr>
          <p:cNvPr id="23" name="Text 20"/>
          <p:cNvSpPr/>
          <p:nvPr/>
        </p:nvSpPr>
        <p:spPr>
          <a:xfrm>
            <a:off x="777240" y="5632704"/>
            <a:ext cx="10634472" cy="402336"/>
          </a:xfrm>
          <a:prstGeom prst="rect">
            <a:avLst/>
          </a:prstGeom>
          <a:noFill/>
          <a:ln/>
        </p:spPr>
        <p:txBody>
          <a:bodyPr wrap="square" lIns="0" tIns="0" rIns="0" bIns="0" rtlCol="0" anchor="ctr"/>
          <a:lstStyle/>
          <a:p>
            <a:pPr marL="0" indent="0">
              <a:buNone/>
            </a:pPr>
            <a:r>
              <a:rPr lang="en-US" sz="1400" b="1" dirty="0">
                <a:solidFill>
                  <a:srgbClr val="915513"/>
                </a:solidFill>
                <a:latin typeface="Arial" pitchFamily="34" charset="0"/>
                <a:ea typeface="Arial" pitchFamily="34" charset="-122"/>
                <a:cs typeface="Arial" pitchFamily="34" charset="-120"/>
              </a:rPr>
              <a:t>Nếu chậm quá 20–30 giây: dùng lịch sử đã xác minh; không nới giới hạn để ép demo.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384048"/>
            <a:ext cx="10789920" cy="237744"/>
          </a:xfrm>
          <a:prstGeom prst="rect">
            <a:avLst/>
          </a:prstGeom>
          <a:noFill/>
          <a:ln/>
        </p:spPr>
        <p:txBody>
          <a:bodyPr wrap="square" lIns="0" tIns="0" rIns="0" bIns="0" rtlCol="0" anchor="ctr"/>
          <a:lstStyle/>
          <a:p>
            <a:pPr marL="0" indent="0">
              <a:buNone/>
            </a:pPr>
            <a:r>
              <a:rPr lang="en-US" sz="1100" b="1" kern="0" spc="140" dirty="0">
                <a:solidFill>
                  <a:srgbClr val="087F78"/>
                </a:solidFill>
                <a:latin typeface="Arial" pitchFamily="34" charset="0"/>
                <a:ea typeface="Arial" pitchFamily="34" charset="-122"/>
                <a:cs typeface="Arial" pitchFamily="34" charset="-120"/>
              </a:rPr>
              <a:t>HỆ SINH THÁI CÔNG CỤ</a:t>
            </a:r>
            <a:endParaRPr lang="en-US" sz="1100" dirty="0"/>
          </a:p>
        </p:txBody>
      </p:sp>
      <p:sp>
        <p:nvSpPr>
          <p:cNvPr id="4" name="Text 2"/>
          <p:cNvSpPr/>
          <p:nvPr/>
        </p:nvSpPr>
        <p:spPr>
          <a:xfrm>
            <a:off x="594360" y="841248"/>
            <a:ext cx="11000232" cy="566928"/>
          </a:xfrm>
          <a:prstGeom prst="rect">
            <a:avLst/>
          </a:prstGeom>
          <a:noFill/>
          <a:ln/>
        </p:spPr>
        <p:txBody>
          <a:bodyPr wrap="square" lIns="0" tIns="0" rIns="0" bIns="0" rtlCol="0" anchor="ctr"/>
          <a:lstStyle/>
          <a:p>
            <a:pPr marL="0" indent="0">
              <a:buNone/>
            </a:pPr>
            <a:r>
              <a:rPr lang="en-US" sz="2900" b="1" dirty="0">
                <a:solidFill>
                  <a:srgbClr val="142B45"/>
                </a:solidFill>
                <a:latin typeface="Arial" pitchFamily="34" charset="0"/>
                <a:ea typeface="Arial" pitchFamily="34" charset="-122"/>
                <a:cs typeface="Arial" pitchFamily="34" charset="-120"/>
              </a:rPr>
              <a:t>Swap, Send, Bridge và Unified Balance</a:t>
            </a:r>
            <a:endParaRPr lang="en-US" sz="2900" dirty="0"/>
          </a:p>
        </p:txBody>
      </p:sp>
      <p:sp>
        <p:nvSpPr>
          <p:cNvPr id="5" name="Text 3"/>
          <p:cNvSpPr/>
          <p:nvPr/>
        </p:nvSpPr>
        <p:spPr>
          <a:xfrm>
            <a:off x="594360" y="1508760"/>
            <a:ext cx="11000232" cy="47548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Có mã tích hợp không đồng nghĩa mọi luồng đã được xác minh đầu cuối.</a:t>
            </a:r>
            <a:endParaRPr lang="en-US" sz="1600" dirty="0"/>
          </a:p>
        </p:txBody>
      </p:sp>
      <p:sp>
        <p:nvSpPr>
          <p:cNvPr id="6" name="Text 4"/>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52657A"/>
                </a:solidFill>
                <a:latin typeface="Arial" pitchFamily="34" charset="0"/>
                <a:ea typeface="Arial" pitchFamily="34" charset="-122"/>
                <a:cs typeface="Arial" pitchFamily="34" charset="-120"/>
              </a:rPr>
              <a:t>DEFI RECIPES ON ARC  /  ARC TESTNET</a:t>
            </a:r>
            <a:endParaRPr lang="en-US" sz="900" dirty="0"/>
          </a:p>
        </p:txBody>
      </p:sp>
      <p:sp>
        <p:nvSpPr>
          <p:cNvPr id="7" name="Text 5"/>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52657A"/>
                </a:solidFill>
                <a:latin typeface="Arial" pitchFamily="34" charset="0"/>
                <a:ea typeface="Arial" pitchFamily="34" charset="-122"/>
                <a:cs typeface="Arial" pitchFamily="34" charset="-120"/>
              </a:rPr>
              <a:t>15:00–16:00   |   10 / 12</a:t>
            </a:r>
            <a:endParaRPr lang="en-US" sz="1000" dirty="0"/>
          </a:p>
        </p:txBody>
      </p:sp>
      <p:sp>
        <p:nvSpPr>
          <p:cNvPr id="9" name="Shape 6"/>
          <p:cNvSpPr/>
          <p:nvPr/>
        </p:nvSpPr>
        <p:spPr>
          <a:xfrm>
            <a:off x="594360" y="2331720"/>
            <a:ext cx="2578608" cy="2807208"/>
          </a:xfrm>
          <a:prstGeom prst="roundRect">
            <a:avLst>
              <a:gd name="adj" fmla="val 5319"/>
            </a:avLst>
          </a:prstGeom>
          <a:solidFill>
            <a:srgbClr val="FFFFFF"/>
          </a:solidFill>
          <a:ln w="12700">
            <a:solidFill>
              <a:srgbClr val="D8E2ED"/>
            </a:solidFill>
            <a:prstDash val="solid"/>
          </a:ln>
        </p:spPr>
      </p:sp>
      <p:sp>
        <p:nvSpPr>
          <p:cNvPr id="10" name="Text 7"/>
          <p:cNvSpPr/>
          <p:nvPr/>
        </p:nvSpPr>
        <p:spPr>
          <a:xfrm>
            <a:off x="822960" y="2542032"/>
            <a:ext cx="2121408" cy="365760"/>
          </a:xfrm>
          <a:prstGeom prst="rect">
            <a:avLst/>
          </a:prstGeom>
          <a:noFill/>
          <a:ln/>
        </p:spPr>
        <p:txBody>
          <a:bodyPr wrap="square" lIns="0" tIns="0" rIns="0" bIns="0" rtlCol="0" anchor="ctr"/>
          <a:lstStyle/>
          <a:p>
            <a:pPr marL="0" indent="0">
              <a:buNone/>
            </a:pPr>
            <a:r>
              <a:rPr lang="en-US" sz="2300" b="1" dirty="0">
                <a:solidFill>
                  <a:srgbClr val="087F78"/>
                </a:solidFill>
                <a:latin typeface="Arial" pitchFamily="34" charset="0"/>
                <a:ea typeface="Arial" pitchFamily="34" charset="-122"/>
                <a:cs typeface="Arial" pitchFamily="34" charset="-120"/>
              </a:rPr>
              <a:t>01</a:t>
            </a:r>
            <a:endParaRPr lang="en-US" sz="2300" dirty="0"/>
          </a:p>
        </p:txBody>
      </p:sp>
      <p:sp>
        <p:nvSpPr>
          <p:cNvPr id="11" name="Text 8"/>
          <p:cNvSpPr/>
          <p:nvPr/>
        </p:nvSpPr>
        <p:spPr>
          <a:xfrm>
            <a:off x="822960" y="3118104"/>
            <a:ext cx="2121408" cy="640080"/>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Swap</a:t>
            </a:r>
            <a:endParaRPr lang="en-US" sz="2200" dirty="0"/>
          </a:p>
        </p:txBody>
      </p:sp>
      <p:sp>
        <p:nvSpPr>
          <p:cNvPr id="12" name="Text 9"/>
          <p:cNvSpPr/>
          <p:nvPr/>
        </p:nvSpPr>
        <p:spPr>
          <a:xfrm>
            <a:off x="822960" y="3931920"/>
            <a:ext cx="2121408" cy="100584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Báo giá và đổi</a:t>
            </a:r>
            <a:endParaRPr lang="en-US" sz="1700" dirty="0"/>
          </a:p>
          <a:p>
            <a:pPr marL="0" indent="0">
              <a:buNone/>
            </a:pPr>
            <a:r>
              <a:rPr lang="en-US" sz="1700" dirty="0">
                <a:solidFill>
                  <a:srgbClr val="52657A"/>
                </a:solidFill>
                <a:latin typeface="Arial" pitchFamily="34" charset="0"/>
                <a:ea typeface="Arial" pitchFamily="34" charset="-122"/>
                <a:cs typeface="Arial" pitchFamily="34" charset="-120"/>
              </a:rPr>
              <a:t>USDC / EURC.</a:t>
            </a:r>
            <a:endParaRPr lang="en-US" sz="1700" dirty="0"/>
          </a:p>
        </p:txBody>
      </p:sp>
      <p:sp>
        <p:nvSpPr>
          <p:cNvPr id="13" name="Shape 10"/>
          <p:cNvSpPr/>
          <p:nvPr/>
        </p:nvSpPr>
        <p:spPr>
          <a:xfrm>
            <a:off x="3401568" y="2331720"/>
            <a:ext cx="2578608" cy="2807208"/>
          </a:xfrm>
          <a:prstGeom prst="roundRect">
            <a:avLst>
              <a:gd name="adj" fmla="val 5319"/>
            </a:avLst>
          </a:prstGeom>
          <a:solidFill>
            <a:srgbClr val="FFFFFF"/>
          </a:solidFill>
          <a:ln w="12700">
            <a:solidFill>
              <a:srgbClr val="D8E2ED"/>
            </a:solidFill>
            <a:prstDash val="solid"/>
          </a:ln>
        </p:spPr>
      </p:sp>
      <p:sp>
        <p:nvSpPr>
          <p:cNvPr id="14" name="Text 11"/>
          <p:cNvSpPr/>
          <p:nvPr/>
        </p:nvSpPr>
        <p:spPr>
          <a:xfrm>
            <a:off x="3630168" y="2542032"/>
            <a:ext cx="2121408" cy="365760"/>
          </a:xfrm>
          <a:prstGeom prst="rect">
            <a:avLst/>
          </a:prstGeom>
          <a:noFill/>
          <a:ln/>
        </p:spPr>
        <p:txBody>
          <a:bodyPr wrap="square" lIns="0" tIns="0" rIns="0" bIns="0" rtlCol="0" anchor="ctr"/>
          <a:lstStyle/>
          <a:p>
            <a:pPr marL="0" indent="0">
              <a:buNone/>
            </a:pPr>
            <a:r>
              <a:rPr lang="en-US" sz="2300" b="1" dirty="0">
                <a:solidFill>
                  <a:srgbClr val="087F78"/>
                </a:solidFill>
                <a:latin typeface="Arial" pitchFamily="34" charset="0"/>
                <a:ea typeface="Arial" pitchFamily="34" charset="-122"/>
                <a:cs typeface="Arial" pitchFamily="34" charset="-120"/>
              </a:rPr>
              <a:t>02</a:t>
            </a:r>
            <a:endParaRPr lang="en-US" sz="2300" dirty="0"/>
          </a:p>
        </p:txBody>
      </p:sp>
      <p:sp>
        <p:nvSpPr>
          <p:cNvPr id="15" name="Text 12"/>
          <p:cNvSpPr/>
          <p:nvPr/>
        </p:nvSpPr>
        <p:spPr>
          <a:xfrm>
            <a:off x="3630168" y="3118104"/>
            <a:ext cx="2121408" cy="640080"/>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Send</a:t>
            </a:r>
            <a:endParaRPr lang="en-US" sz="2200" dirty="0"/>
          </a:p>
        </p:txBody>
      </p:sp>
      <p:sp>
        <p:nvSpPr>
          <p:cNvPr id="16" name="Text 13"/>
          <p:cNvSpPr/>
          <p:nvPr/>
        </p:nvSpPr>
        <p:spPr>
          <a:xfrm>
            <a:off x="3630168" y="3931920"/>
            <a:ext cx="2121408" cy="100584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Gửi USDC</a:t>
            </a:r>
            <a:endParaRPr lang="en-US" sz="1700" dirty="0"/>
          </a:p>
          <a:p>
            <a:pPr marL="0" indent="0">
              <a:buNone/>
            </a:pPr>
            <a:r>
              <a:rPr lang="en-US" sz="1700" dirty="0">
                <a:solidFill>
                  <a:srgbClr val="52657A"/>
                </a:solidFill>
                <a:latin typeface="Arial" pitchFamily="34" charset="0"/>
                <a:ea typeface="Arial" pitchFamily="34" charset="-122"/>
                <a:cs typeface="Arial" pitchFamily="34" charset="-120"/>
              </a:rPr>
              <a:t>trên Arc Testnet.</a:t>
            </a:r>
            <a:endParaRPr lang="en-US" sz="1700" dirty="0"/>
          </a:p>
        </p:txBody>
      </p:sp>
      <p:sp>
        <p:nvSpPr>
          <p:cNvPr id="17" name="Shape 14"/>
          <p:cNvSpPr/>
          <p:nvPr/>
        </p:nvSpPr>
        <p:spPr>
          <a:xfrm>
            <a:off x="6208776" y="2331720"/>
            <a:ext cx="2578608" cy="2807208"/>
          </a:xfrm>
          <a:prstGeom prst="roundRect">
            <a:avLst>
              <a:gd name="adj" fmla="val 5319"/>
            </a:avLst>
          </a:prstGeom>
          <a:solidFill>
            <a:srgbClr val="FFFFFF"/>
          </a:solidFill>
          <a:ln w="12700">
            <a:solidFill>
              <a:srgbClr val="D8E2ED"/>
            </a:solidFill>
            <a:prstDash val="solid"/>
          </a:ln>
        </p:spPr>
      </p:sp>
      <p:sp>
        <p:nvSpPr>
          <p:cNvPr id="18" name="Text 15"/>
          <p:cNvSpPr/>
          <p:nvPr/>
        </p:nvSpPr>
        <p:spPr>
          <a:xfrm>
            <a:off x="6437376" y="2542032"/>
            <a:ext cx="2121408" cy="365760"/>
          </a:xfrm>
          <a:prstGeom prst="rect">
            <a:avLst/>
          </a:prstGeom>
          <a:noFill/>
          <a:ln/>
        </p:spPr>
        <p:txBody>
          <a:bodyPr wrap="square" lIns="0" tIns="0" rIns="0" bIns="0" rtlCol="0" anchor="ctr"/>
          <a:lstStyle/>
          <a:p>
            <a:pPr marL="0" indent="0">
              <a:buNone/>
            </a:pPr>
            <a:r>
              <a:rPr lang="en-US" sz="2300" b="1" dirty="0">
                <a:solidFill>
                  <a:srgbClr val="087F78"/>
                </a:solidFill>
                <a:latin typeface="Arial" pitchFamily="34" charset="0"/>
                <a:ea typeface="Arial" pitchFamily="34" charset="-122"/>
                <a:cs typeface="Arial" pitchFamily="34" charset="-120"/>
              </a:rPr>
              <a:t>03</a:t>
            </a:r>
            <a:endParaRPr lang="en-US" sz="2300" dirty="0"/>
          </a:p>
        </p:txBody>
      </p:sp>
      <p:sp>
        <p:nvSpPr>
          <p:cNvPr id="19" name="Text 16"/>
          <p:cNvSpPr/>
          <p:nvPr/>
        </p:nvSpPr>
        <p:spPr>
          <a:xfrm>
            <a:off x="6437376" y="3118104"/>
            <a:ext cx="2121408" cy="640080"/>
          </a:xfrm>
          <a:prstGeom prst="rect">
            <a:avLst/>
          </a:prstGeom>
          <a:noFill/>
          <a:ln/>
        </p:spPr>
        <p:txBody>
          <a:bodyPr wrap="square" lIns="0" tIns="0" rIns="0" bIns="0" rtlCol="0" anchor="ctr"/>
          <a:lstStyle/>
          <a:p>
            <a:pPr marL="0" indent="0">
              <a:buNone/>
            </a:pPr>
            <a:r>
              <a:rPr lang="en-US" sz="2200" b="1" dirty="0">
                <a:solidFill>
                  <a:srgbClr val="142B45"/>
                </a:solidFill>
                <a:latin typeface="Arial" pitchFamily="34" charset="0"/>
                <a:ea typeface="Arial" pitchFamily="34" charset="-122"/>
                <a:cs typeface="Arial" pitchFamily="34" charset="-120"/>
              </a:rPr>
              <a:t>Bridge</a:t>
            </a:r>
            <a:endParaRPr lang="en-US" sz="2200" dirty="0"/>
          </a:p>
        </p:txBody>
      </p:sp>
      <p:sp>
        <p:nvSpPr>
          <p:cNvPr id="20" name="Text 17"/>
          <p:cNvSpPr/>
          <p:nvPr/>
        </p:nvSpPr>
        <p:spPr>
          <a:xfrm>
            <a:off x="6437376" y="3931920"/>
            <a:ext cx="2121408" cy="100584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Approve → burn</a:t>
            </a:r>
            <a:endParaRPr lang="en-US" sz="1700" dirty="0"/>
          </a:p>
          <a:p>
            <a:pPr marL="0" indent="0">
              <a:buNone/>
            </a:pPr>
            <a:r>
              <a:rPr lang="en-US" sz="1700" dirty="0">
                <a:solidFill>
                  <a:srgbClr val="52657A"/>
                </a:solidFill>
                <a:latin typeface="Arial" pitchFamily="34" charset="0"/>
                <a:ea typeface="Arial" pitchFamily="34" charset="-122"/>
                <a:cs typeface="Arial" pitchFamily="34" charset="-120"/>
              </a:rPr>
              <a:t>→ attestation → mint.</a:t>
            </a:r>
            <a:endParaRPr lang="en-US" sz="1700" dirty="0"/>
          </a:p>
        </p:txBody>
      </p:sp>
      <p:sp>
        <p:nvSpPr>
          <p:cNvPr id="21" name="Shape 18"/>
          <p:cNvSpPr/>
          <p:nvPr/>
        </p:nvSpPr>
        <p:spPr>
          <a:xfrm>
            <a:off x="9015984" y="2331720"/>
            <a:ext cx="2578608" cy="2807208"/>
          </a:xfrm>
          <a:prstGeom prst="roundRect">
            <a:avLst>
              <a:gd name="adj" fmla="val 5319"/>
            </a:avLst>
          </a:prstGeom>
          <a:solidFill>
            <a:srgbClr val="FFFFFF"/>
          </a:solidFill>
          <a:ln w="12700">
            <a:solidFill>
              <a:srgbClr val="D8E2ED"/>
            </a:solidFill>
            <a:prstDash val="solid"/>
          </a:ln>
        </p:spPr>
      </p:sp>
      <p:sp>
        <p:nvSpPr>
          <p:cNvPr id="22" name="Text 19"/>
          <p:cNvSpPr/>
          <p:nvPr/>
        </p:nvSpPr>
        <p:spPr>
          <a:xfrm>
            <a:off x="9244584" y="2542032"/>
            <a:ext cx="2121408" cy="365760"/>
          </a:xfrm>
          <a:prstGeom prst="rect">
            <a:avLst/>
          </a:prstGeom>
          <a:noFill/>
          <a:ln/>
        </p:spPr>
        <p:txBody>
          <a:bodyPr wrap="square" lIns="0" tIns="0" rIns="0" bIns="0" rtlCol="0" anchor="ctr"/>
          <a:lstStyle/>
          <a:p>
            <a:pPr marL="0" indent="0">
              <a:buNone/>
            </a:pPr>
            <a:r>
              <a:rPr lang="en-US" sz="2300" b="1" dirty="0">
                <a:solidFill>
                  <a:srgbClr val="087F78"/>
                </a:solidFill>
                <a:latin typeface="Arial" pitchFamily="34" charset="0"/>
                <a:ea typeface="Arial" pitchFamily="34" charset="-122"/>
                <a:cs typeface="Arial" pitchFamily="34" charset="-120"/>
              </a:rPr>
              <a:t>04</a:t>
            </a:r>
            <a:endParaRPr lang="en-US" sz="2300" dirty="0"/>
          </a:p>
        </p:txBody>
      </p:sp>
      <p:sp>
        <p:nvSpPr>
          <p:cNvPr id="23" name="Text 20"/>
          <p:cNvSpPr/>
          <p:nvPr/>
        </p:nvSpPr>
        <p:spPr>
          <a:xfrm>
            <a:off x="9244584" y="3118104"/>
            <a:ext cx="2121408" cy="640080"/>
          </a:xfrm>
          <a:prstGeom prst="rect">
            <a:avLst/>
          </a:prstGeom>
          <a:noFill/>
          <a:ln/>
        </p:spPr>
        <p:txBody>
          <a:bodyPr wrap="square" lIns="0" tIns="0" rIns="0" bIns="0" rtlCol="0" anchor="ctr"/>
          <a:lstStyle/>
          <a:p>
            <a:pPr marL="0" indent="0">
              <a:buNone/>
            </a:pPr>
            <a:r>
              <a:rPr lang="en-US" sz="2000" b="1" dirty="0">
                <a:solidFill>
                  <a:srgbClr val="142B45"/>
                </a:solidFill>
                <a:latin typeface="Arial" pitchFamily="34" charset="0"/>
                <a:ea typeface="Arial" pitchFamily="34" charset="-122"/>
                <a:cs typeface="Arial" pitchFamily="34" charset="-120"/>
              </a:rPr>
              <a:t>Unified Balance</a:t>
            </a:r>
            <a:endParaRPr lang="en-US" sz="2000" dirty="0"/>
          </a:p>
        </p:txBody>
      </p:sp>
      <p:sp>
        <p:nvSpPr>
          <p:cNvPr id="24" name="Text 21"/>
          <p:cNvSpPr/>
          <p:nvPr/>
        </p:nvSpPr>
        <p:spPr>
          <a:xfrm>
            <a:off x="9244584" y="3931920"/>
            <a:ext cx="2121408" cy="1005840"/>
          </a:xfrm>
          <a:prstGeom prst="rect">
            <a:avLst/>
          </a:prstGeom>
          <a:noFill/>
          <a:ln/>
        </p:spPr>
        <p:txBody>
          <a:bodyPr wrap="square" lIns="0" tIns="0" rIns="0" bIns="0" rtlCol="0" anchor="t"/>
          <a:lstStyle/>
          <a:p>
            <a:pPr marL="0" indent="0">
              <a:buNone/>
            </a:pPr>
            <a:r>
              <a:rPr lang="en-US" sz="1700" dirty="0">
                <a:solidFill>
                  <a:srgbClr val="52657A"/>
                </a:solidFill>
                <a:latin typeface="Arial" pitchFamily="34" charset="0"/>
                <a:ea typeface="Arial" pitchFamily="34" charset="-122"/>
                <a:cs typeface="Arial" pitchFamily="34" charset="-120"/>
              </a:rPr>
              <a:t>Xem, nạp và chi tiêu</a:t>
            </a:r>
            <a:endParaRPr lang="en-US" sz="1700" dirty="0"/>
          </a:p>
          <a:p>
            <a:pPr marL="0" indent="0">
              <a:buNone/>
            </a:pPr>
            <a:r>
              <a:rPr lang="en-US" sz="1700" dirty="0">
                <a:solidFill>
                  <a:srgbClr val="52657A"/>
                </a:solidFill>
                <a:latin typeface="Arial" pitchFamily="34" charset="0"/>
                <a:ea typeface="Arial" pitchFamily="34" charset="-122"/>
                <a:cs typeface="Arial" pitchFamily="34" charset="-120"/>
              </a:rPr>
              <a:t>qua App Kit.</a:t>
            </a:r>
            <a:endParaRPr lang="en-US" sz="1700" dirty="0"/>
          </a:p>
        </p:txBody>
      </p:sp>
      <p:sp>
        <p:nvSpPr>
          <p:cNvPr id="25" name="Shape 22"/>
          <p:cNvSpPr/>
          <p:nvPr/>
        </p:nvSpPr>
        <p:spPr>
          <a:xfrm>
            <a:off x="594360" y="5550408"/>
            <a:ext cx="11000232" cy="566928"/>
          </a:xfrm>
          <a:prstGeom prst="roundRect">
            <a:avLst>
              <a:gd name="adj" fmla="val 24194"/>
            </a:avLst>
          </a:prstGeom>
          <a:solidFill>
            <a:srgbClr val="FFF3DF"/>
          </a:solidFill>
          <a:ln w="12700">
            <a:solidFill>
              <a:srgbClr val="FFF3DF"/>
            </a:solidFill>
            <a:prstDash val="solid"/>
          </a:ln>
        </p:spPr>
      </p:sp>
      <p:sp>
        <p:nvSpPr>
          <p:cNvPr id="26" name="Text 23"/>
          <p:cNvSpPr/>
          <p:nvPr/>
        </p:nvSpPr>
        <p:spPr>
          <a:xfrm>
            <a:off x="777240" y="5632704"/>
            <a:ext cx="10634472" cy="402336"/>
          </a:xfrm>
          <a:prstGeom prst="rect">
            <a:avLst/>
          </a:prstGeom>
          <a:noFill/>
          <a:ln/>
        </p:spPr>
        <p:txBody>
          <a:bodyPr wrap="square" lIns="0" tIns="0" rIns="0" bIns="0" rtlCol="0" anchor="ctr"/>
          <a:lstStyle/>
          <a:p>
            <a:pPr marL="0" indent="0">
              <a:buNone/>
            </a:pPr>
            <a:r>
              <a:rPr lang="en-US" sz="1400" b="1" dirty="0">
                <a:solidFill>
                  <a:srgbClr val="915513"/>
                </a:solidFill>
                <a:latin typeface="Arial" pitchFamily="34" charset="0"/>
                <a:ea typeface="Arial" pitchFamily="34" charset="-122"/>
                <a:cs typeface="Arial" pitchFamily="34" charset="-120"/>
              </a:rPr>
              <a:t>Unified Balance / Gateway ở keeper mặc định tắt; chưa tuyên bố recipe tự dùng vốn xuyên chuỗi.</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384048"/>
            <a:ext cx="10789920" cy="237744"/>
          </a:xfrm>
          <a:prstGeom prst="rect">
            <a:avLst/>
          </a:prstGeom>
          <a:noFill/>
          <a:ln/>
        </p:spPr>
        <p:txBody>
          <a:bodyPr wrap="square" lIns="0" tIns="0" rIns="0" bIns="0" rtlCol="0" anchor="ctr"/>
          <a:lstStyle/>
          <a:p>
            <a:pPr marL="0" indent="0">
              <a:buNone/>
            </a:pPr>
            <a:r>
              <a:rPr lang="en-US" sz="1100" b="1" kern="0" spc="140" dirty="0">
                <a:solidFill>
                  <a:srgbClr val="087F78"/>
                </a:solidFill>
                <a:latin typeface="Arial" pitchFamily="34" charset="0"/>
                <a:ea typeface="Arial" pitchFamily="34" charset="-122"/>
                <a:cs typeface="Arial" pitchFamily="34" charset="-120"/>
              </a:rPr>
              <a:t>HIỆN TRẠNG &amp; ƯU TIÊN</a:t>
            </a:r>
            <a:endParaRPr lang="en-US" sz="1100" dirty="0"/>
          </a:p>
        </p:txBody>
      </p:sp>
      <p:sp>
        <p:nvSpPr>
          <p:cNvPr id="4" name="Text 2"/>
          <p:cNvSpPr/>
          <p:nvPr/>
        </p:nvSpPr>
        <p:spPr>
          <a:xfrm>
            <a:off x="594360" y="841248"/>
            <a:ext cx="11000232" cy="566928"/>
          </a:xfrm>
          <a:prstGeom prst="rect">
            <a:avLst/>
          </a:prstGeom>
          <a:noFill/>
          <a:ln/>
        </p:spPr>
        <p:txBody>
          <a:bodyPr wrap="square" lIns="0" tIns="0" rIns="0" bIns="0" rtlCol="0" anchor="ctr"/>
          <a:lstStyle/>
          <a:p>
            <a:pPr marL="0" indent="0">
              <a:buNone/>
            </a:pPr>
            <a:r>
              <a:rPr lang="en-US" sz="2900" b="1" dirty="0">
                <a:solidFill>
                  <a:srgbClr val="142B45"/>
                </a:solidFill>
                <a:latin typeface="Arial" pitchFamily="34" charset="0"/>
                <a:ea typeface="Arial" pitchFamily="34" charset="-122"/>
                <a:cs typeface="Arial" pitchFamily="34" charset="-120"/>
              </a:rPr>
              <a:t>Chứng minh lõi thực thi trước khi mở rộng</a:t>
            </a:r>
            <a:endParaRPr lang="en-US" sz="2900" dirty="0"/>
          </a:p>
        </p:txBody>
      </p:sp>
      <p:sp>
        <p:nvSpPr>
          <p:cNvPr id="5" name="Text 3"/>
          <p:cNvSpPr/>
          <p:nvPr/>
        </p:nvSpPr>
        <p:spPr>
          <a:xfrm>
            <a:off x="594360" y="1508760"/>
            <a:ext cx="11000232" cy="475488"/>
          </a:xfrm>
          <a:prstGeom prst="rect">
            <a:avLst/>
          </a:prstGeom>
          <a:noFill/>
          <a:ln/>
        </p:spPr>
        <p:txBody>
          <a:bodyPr wrap="square" lIns="0" tIns="0" rIns="0" bIns="0" rtlCol="0" anchor="ctr"/>
          <a:lstStyle/>
          <a:p>
            <a:pPr marL="0" indent="0">
              <a:buNone/>
            </a:pPr>
            <a:r>
              <a:rPr lang="en-US" sz="1600" dirty="0">
                <a:solidFill>
                  <a:srgbClr val="52657A"/>
                </a:solidFill>
                <a:latin typeface="Arial" pitchFamily="34" charset="0"/>
                <a:ea typeface="Arial" pitchFamily="34" charset="-122"/>
                <a:cs typeface="Arial" pitchFamily="34" charset="-120"/>
              </a:rPr>
              <a:t>Đối chiếu theo kịch bản ngày 22/10/2026; không phải kết quả kiểm thử hay demo mới.</a:t>
            </a:r>
            <a:endParaRPr lang="en-US" sz="1600" dirty="0"/>
          </a:p>
        </p:txBody>
      </p:sp>
      <p:sp>
        <p:nvSpPr>
          <p:cNvPr id="6" name="Text 4"/>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52657A"/>
                </a:solidFill>
                <a:latin typeface="Arial" pitchFamily="34" charset="0"/>
                <a:ea typeface="Arial" pitchFamily="34" charset="-122"/>
                <a:cs typeface="Arial" pitchFamily="34" charset="-120"/>
              </a:rPr>
              <a:t>DEFI RECIPES ON ARC  /  ARC TESTNET</a:t>
            </a:r>
            <a:endParaRPr lang="en-US" sz="900" dirty="0"/>
          </a:p>
        </p:txBody>
      </p:sp>
      <p:sp>
        <p:nvSpPr>
          <p:cNvPr id="7" name="Text 5"/>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52657A"/>
                </a:solidFill>
                <a:latin typeface="Arial" pitchFamily="34" charset="0"/>
                <a:ea typeface="Arial" pitchFamily="34" charset="-122"/>
                <a:cs typeface="Arial" pitchFamily="34" charset="-120"/>
              </a:rPr>
              <a:t>16:00–17:00   |   11 / 12</a:t>
            </a:r>
            <a:endParaRPr lang="en-US" sz="1000" dirty="0"/>
          </a:p>
        </p:txBody>
      </p:sp>
      <p:sp>
        <p:nvSpPr>
          <p:cNvPr id="9" name="Shape 6"/>
          <p:cNvSpPr/>
          <p:nvPr/>
        </p:nvSpPr>
        <p:spPr>
          <a:xfrm>
            <a:off x="594360" y="2304288"/>
            <a:ext cx="5385816" cy="2852928"/>
          </a:xfrm>
          <a:prstGeom prst="roundRect">
            <a:avLst>
              <a:gd name="adj" fmla="val 4808"/>
            </a:avLst>
          </a:prstGeom>
          <a:solidFill>
            <a:srgbClr val="FFFFFF"/>
          </a:solidFill>
          <a:ln w="12700">
            <a:solidFill>
              <a:srgbClr val="D8E2ED"/>
            </a:solidFill>
            <a:prstDash val="solid"/>
          </a:ln>
        </p:spPr>
      </p:sp>
      <p:sp>
        <p:nvSpPr>
          <p:cNvPr id="10" name="Shape 7"/>
          <p:cNvSpPr/>
          <p:nvPr/>
        </p:nvSpPr>
        <p:spPr>
          <a:xfrm>
            <a:off x="6208776" y="2304288"/>
            <a:ext cx="5385816" cy="2852928"/>
          </a:xfrm>
          <a:prstGeom prst="roundRect">
            <a:avLst>
              <a:gd name="adj" fmla="val 4808"/>
            </a:avLst>
          </a:prstGeom>
          <a:solidFill>
            <a:srgbClr val="FFFFFF"/>
          </a:solidFill>
          <a:ln w="12700">
            <a:solidFill>
              <a:srgbClr val="D8E2ED"/>
            </a:solidFill>
            <a:prstDash val="solid"/>
          </a:ln>
        </p:spPr>
      </p:sp>
      <p:sp>
        <p:nvSpPr>
          <p:cNvPr id="11" name="Shape 8"/>
          <p:cNvSpPr/>
          <p:nvPr/>
        </p:nvSpPr>
        <p:spPr>
          <a:xfrm>
            <a:off x="868680" y="2587752"/>
            <a:ext cx="2194560" cy="320040"/>
          </a:xfrm>
          <a:prstGeom prst="roundRect">
            <a:avLst>
              <a:gd name="adj" fmla="val 42857"/>
            </a:avLst>
          </a:prstGeom>
          <a:solidFill>
            <a:srgbClr val="E7F6F1"/>
          </a:solidFill>
          <a:ln w="12700">
            <a:solidFill>
              <a:srgbClr val="E7F6F1"/>
            </a:solidFill>
            <a:prstDash val="solid"/>
          </a:ln>
        </p:spPr>
      </p:sp>
      <p:sp>
        <p:nvSpPr>
          <p:cNvPr id="12" name="Text 9"/>
          <p:cNvSpPr/>
          <p:nvPr/>
        </p:nvSpPr>
        <p:spPr>
          <a:xfrm>
            <a:off x="960120" y="2624328"/>
            <a:ext cx="2011680" cy="228600"/>
          </a:xfrm>
          <a:prstGeom prst="rect">
            <a:avLst/>
          </a:prstGeom>
          <a:noFill/>
          <a:ln/>
        </p:spPr>
        <p:txBody>
          <a:bodyPr wrap="square" lIns="0" tIns="0" rIns="0" bIns="0" rtlCol="0" anchor="ctr"/>
          <a:lstStyle/>
          <a:p>
            <a:pPr marL="0" indent="0" algn="ctr">
              <a:buNone/>
            </a:pPr>
            <a:r>
              <a:rPr lang="en-US" sz="1000" b="1" dirty="0">
                <a:solidFill>
                  <a:srgbClr val="087F78"/>
                </a:solidFill>
                <a:latin typeface="Arial" pitchFamily="34" charset="0"/>
                <a:ea typeface="Arial" pitchFamily="34" charset="-122"/>
                <a:cs typeface="Arial" pitchFamily="34" charset="-120"/>
              </a:rPr>
              <a:t>ĐÃ CÓ TRONG MÃ</a:t>
            </a:r>
            <a:endParaRPr lang="en-US" sz="1000" dirty="0"/>
          </a:p>
        </p:txBody>
      </p:sp>
      <p:sp>
        <p:nvSpPr>
          <p:cNvPr id="13" name="Shape 10"/>
          <p:cNvSpPr/>
          <p:nvPr/>
        </p:nvSpPr>
        <p:spPr>
          <a:xfrm>
            <a:off x="6483096" y="2587752"/>
            <a:ext cx="3273552" cy="320040"/>
          </a:xfrm>
          <a:prstGeom prst="roundRect">
            <a:avLst>
              <a:gd name="adj" fmla="val 42857"/>
            </a:avLst>
          </a:prstGeom>
          <a:solidFill>
            <a:srgbClr val="E7F6F1"/>
          </a:solidFill>
          <a:ln w="12700">
            <a:solidFill>
              <a:srgbClr val="E7F6F1"/>
            </a:solidFill>
            <a:prstDash val="solid"/>
          </a:ln>
        </p:spPr>
      </p:sp>
      <p:sp>
        <p:nvSpPr>
          <p:cNvPr id="14" name="Text 11"/>
          <p:cNvSpPr/>
          <p:nvPr/>
        </p:nvSpPr>
        <p:spPr>
          <a:xfrm>
            <a:off x="6574536" y="2624328"/>
            <a:ext cx="3090672" cy="228600"/>
          </a:xfrm>
          <a:prstGeom prst="rect">
            <a:avLst/>
          </a:prstGeom>
          <a:noFill/>
          <a:ln/>
        </p:spPr>
        <p:txBody>
          <a:bodyPr wrap="square" lIns="0" tIns="0" rIns="0" bIns="0" rtlCol="0" anchor="ctr"/>
          <a:lstStyle/>
          <a:p>
            <a:pPr marL="0" indent="0" algn="ctr">
              <a:buNone/>
            </a:pPr>
            <a:r>
              <a:rPr lang="en-US" sz="1000" b="1" dirty="0">
                <a:solidFill>
                  <a:srgbClr val="087F78"/>
                </a:solidFill>
                <a:latin typeface="Arial" pitchFamily="34" charset="0"/>
                <a:ea typeface="Arial" pitchFamily="34" charset="-122"/>
                <a:cs typeface="Arial" pitchFamily="34" charset="-120"/>
              </a:rPr>
              <a:t>CẦN XÁC MINH / HOÀN THIỆN</a:t>
            </a:r>
            <a:endParaRPr lang="en-US" sz="1000" dirty="0"/>
          </a:p>
        </p:txBody>
      </p:sp>
      <p:sp>
        <p:nvSpPr>
          <p:cNvPr id="15" name="Text 12"/>
          <p:cNvSpPr/>
          <p:nvPr/>
        </p:nvSpPr>
        <p:spPr>
          <a:xfrm>
            <a:off x="868680" y="3273552"/>
            <a:ext cx="4837176" cy="1426464"/>
          </a:xfrm>
          <a:prstGeom prst="rect">
            <a:avLst/>
          </a:prstGeom>
          <a:noFill/>
          <a:ln/>
        </p:spPr>
        <p:txBody>
          <a:bodyPr wrap="square" lIns="0" tIns="0" rIns="0" bIns="0" rtlCol="0" anchor="ctr"/>
          <a:lstStyle/>
          <a:p>
            <a:pPr marL="0" indent="0">
              <a:buNone/>
            </a:pPr>
            <a:r>
              <a:rPr lang="en-US" sz="2200" dirty="0">
                <a:solidFill>
                  <a:srgbClr val="142B45"/>
                </a:solidFill>
                <a:latin typeface="Arial" pitchFamily="34" charset="0"/>
                <a:ea typeface="Arial" pitchFamily="34" charset="-122"/>
                <a:cs typeface="Arial" pitchFamily="34" charset="-120"/>
              </a:rPr>
              <a:t>Cấu hình recipe và API</a:t>
            </a:r>
            <a:endParaRPr lang="en-US" sz="2200" dirty="0"/>
          </a:p>
          <a:p>
            <a:pPr marL="0" indent="0">
              <a:buNone/>
            </a:pPr>
            <a:r>
              <a:rPr lang="en-US" sz="2200" dirty="0">
                <a:solidFill>
                  <a:srgbClr val="142B45"/>
                </a:solidFill>
                <a:latin typeface="Arial" pitchFamily="34" charset="0"/>
                <a:ea typeface="Arial" pitchFamily="34" charset="-122"/>
                <a:cs typeface="Arial" pitchFamily="34" charset="-120"/>
              </a:rPr>
              <a:t>Scheduler, eth_call, hàng đợi</a:t>
            </a:r>
            <a:endParaRPr lang="en-US" sz="2200" dirty="0"/>
          </a:p>
          <a:p>
            <a:pPr marL="0" indent="0">
              <a:buNone/>
            </a:pPr>
            <a:r>
              <a:rPr lang="en-US" sz="2200" dirty="0">
                <a:solidFill>
                  <a:srgbClr val="142B45"/>
                </a:solidFill>
                <a:latin typeface="Arial" pitchFamily="34" charset="0"/>
                <a:ea typeface="Arial" pitchFamily="34" charset="-122"/>
                <a:cs typeface="Arial" pitchFamily="34" charset="-120"/>
              </a:rPr>
              <a:t>Nhật ký và ba hợp đồng lõi</a:t>
            </a:r>
            <a:endParaRPr lang="en-US" sz="2200" dirty="0"/>
          </a:p>
        </p:txBody>
      </p:sp>
      <p:sp>
        <p:nvSpPr>
          <p:cNvPr id="16" name="Text 13"/>
          <p:cNvSpPr/>
          <p:nvPr/>
        </p:nvSpPr>
        <p:spPr>
          <a:xfrm>
            <a:off x="6483096" y="3273552"/>
            <a:ext cx="4837176" cy="1426464"/>
          </a:xfrm>
          <a:prstGeom prst="rect">
            <a:avLst/>
          </a:prstGeom>
          <a:noFill/>
          <a:ln/>
        </p:spPr>
        <p:txBody>
          <a:bodyPr wrap="square" lIns="0" tIns="0" rIns="0" bIns="0" rtlCol="0" anchor="ctr"/>
          <a:lstStyle/>
          <a:p>
            <a:pPr marL="0" indent="0">
              <a:buNone/>
            </a:pPr>
            <a:r>
              <a:rPr lang="en-US" sz="2100" dirty="0">
                <a:solidFill>
                  <a:srgbClr val="142B45"/>
                </a:solidFill>
                <a:latin typeface="Arial" pitchFamily="34" charset="0"/>
                <a:ea typeface="Arial" pitchFamily="34" charset="-122"/>
                <a:cs typeface="Arial" pitchFamily="34" charset="-120"/>
              </a:rPr>
              <a:t>Từng route chạy đầu cuối</a:t>
            </a:r>
            <a:endParaRPr lang="en-US" sz="2100" dirty="0"/>
          </a:p>
          <a:p>
            <a:pPr marL="0" indent="0">
              <a:buNone/>
            </a:pPr>
            <a:r>
              <a:rPr lang="en-US" sz="2100" dirty="0">
                <a:solidFill>
                  <a:srgbClr val="142B45"/>
                </a:solidFill>
                <a:latin typeface="Arial" pitchFamily="34" charset="0"/>
                <a:ea typeface="Arial" pitchFamily="34" charset="-122"/>
                <a:cs typeface="Arial" pitchFamily="34" charset="-120"/>
              </a:rPr>
              <a:t>Chuỗi Auto-Compounder đầy đủ</a:t>
            </a:r>
            <a:endParaRPr lang="en-US" sz="2100" dirty="0"/>
          </a:p>
          <a:p>
            <a:pPr marL="0" indent="0">
              <a:buNone/>
            </a:pPr>
            <a:r>
              <a:rPr lang="en-US" sz="2100" dirty="0">
                <a:solidFill>
                  <a:srgbClr val="142B45"/>
                </a:solidFill>
                <a:latin typeface="Arial" pitchFamily="34" charset="0"/>
                <a:ea typeface="Arial" pitchFamily="34" charset="-122"/>
                <a:cs typeface="Arial" pitchFamily="34" charset="-120"/>
              </a:rPr>
              <a:t>Độ bền vận hành; bảo mật độc lập</a:t>
            </a:r>
            <a:endParaRPr lang="en-US" sz="2100" dirty="0"/>
          </a:p>
        </p:txBody>
      </p:sp>
      <p:sp>
        <p:nvSpPr>
          <p:cNvPr id="17" name="Shape 14"/>
          <p:cNvSpPr/>
          <p:nvPr/>
        </p:nvSpPr>
        <p:spPr>
          <a:xfrm>
            <a:off x="594360" y="5550408"/>
            <a:ext cx="11000232" cy="566928"/>
          </a:xfrm>
          <a:prstGeom prst="roundRect">
            <a:avLst>
              <a:gd name="adj" fmla="val 24194"/>
            </a:avLst>
          </a:prstGeom>
          <a:solidFill>
            <a:srgbClr val="FFF3DF"/>
          </a:solidFill>
          <a:ln w="12700">
            <a:solidFill>
              <a:srgbClr val="FFF3DF"/>
            </a:solidFill>
            <a:prstDash val="solid"/>
          </a:ln>
        </p:spPr>
      </p:sp>
      <p:sp>
        <p:nvSpPr>
          <p:cNvPr id="18" name="Text 15"/>
          <p:cNvSpPr/>
          <p:nvPr/>
        </p:nvSpPr>
        <p:spPr>
          <a:xfrm>
            <a:off x="777240" y="5632704"/>
            <a:ext cx="10634472" cy="402336"/>
          </a:xfrm>
          <a:prstGeom prst="rect">
            <a:avLst/>
          </a:prstGeom>
          <a:noFill/>
          <a:ln/>
        </p:spPr>
        <p:txBody>
          <a:bodyPr wrap="square" lIns="0" tIns="0" rIns="0" bIns="0" rtlCol="0" anchor="ctr"/>
          <a:lstStyle/>
          <a:p>
            <a:pPr marL="0" indent="0">
              <a:buNone/>
            </a:pPr>
            <a:r>
              <a:rPr lang="en-US" sz="1400" b="1" dirty="0">
                <a:solidFill>
                  <a:srgbClr val="915513"/>
                </a:solidFill>
                <a:latin typeface="Arial" pitchFamily="34" charset="0"/>
                <a:ea typeface="Arial" pitchFamily="34" charset="-122"/>
                <a:cs typeface="Arial" pitchFamily="34" charset="-120"/>
              </a:rPr>
              <a:t>Báo cáo nội bộ 06/10: keeper 94/94 test đạt khi đó. Không thay thế kiểm toán độc lập.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93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4008"/>
          </a:xfrm>
          <a:prstGeom prst="rect">
            <a:avLst/>
          </a:prstGeom>
          <a:solidFill>
            <a:srgbClr val="76E7C7"/>
          </a:solidFill>
          <a:ln w="12700">
            <a:solidFill>
              <a:srgbClr val="76E7C7"/>
            </a:solidFill>
            <a:prstDash val="solid"/>
          </a:ln>
        </p:spPr>
      </p:sp>
      <p:sp>
        <p:nvSpPr>
          <p:cNvPr id="3" name="Text 1"/>
          <p:cNvSpPr/>
          <p:nvPr/>
        </p:nvSpPr>
        <p:spPr>
          <a:xfrm>
            <a:off x="594360" y="6473952"/>
            <a:ext cx="5577840" cy="182880"/>
          </a:xfrm>
          <a:prstGeom prst="rect">
            <a:avLst/>
          </a:prstGeom>
          <a:noFill/>
          <a:ln/>
        </p:spPr>
        <p:txBody>
          <a:bodyPr wrap="square" lIns="0" tIns="0" rIns="0" bIns="0" rtlCol="0" anchor="ctr"/>
          <a:lstStyle/>
          <a:p>
            <a:pPr marL="0" indent="0">
              <a:buNone/>
            </a:pPr>
            <a:r>
              <a:rPr lang="en-US" sz="900" dirty="0">
                <a:solidFill>
                  <a:srgbClr val="C3D2E3"/>
                </a:solidFill>
                <a:latin typeface="Arial" pitchFamily="34" charset="0"/>
                <a:ea typeface="Arial" pitchFamily="34" charset="-122"/>
                <a:cs typeface="Arial" pitchFamily="34" charset="-120"/>
              </a:rPr>
              <a:t>DEFI RECIPES ON ARC  /  ARC TESTNET</a:t>
            </a:r>
            <a:endParaRPr lang="en-US" sz="900" dirty="0"/>
          </a:p>
        </p:txBody>
      </p:sp>
      <p:sp>
        <p:nvSpPr>
          <p:cNvPr id="4" name="Text 2"/>
          <p:cNvSpPr/>
          <p:nvPr/>
        </p:nvSpPr>
        <p:spPr>
          <a:xfrm>
            <a:off x="8229600" y="6455664"/>
            <a:ext cx="3364992" cy="219456"/>
          </a:xfrm>
          <a:prstGeom prst="rect">
            <a:avLst/>
          </a:prstGeom>
          <a:noFill/>
          <a:ln/>
        </p:spPr>
        <p:txBody>
          <a:bodyPr wrap="square" lIns="0" tIns="0" rIns="0" bIns="0" rtlCol="0" anchor="ctr"/>
          <a:lstStyle/>
          <a:p>
            <a:pPr marL="0" indent="0" algn="r">
              <a:buNone/>
            </a:pPr>
            <a:r>
              <a:rPr lang="en-US" sz="1000" dirty="0">
                <a:solidFill>
                  <a:srgbClr val="C3D2E3"/>
                </a:solidFill>
                <a:latin typeface="Arial" pitchFamily="34" charset="0"/>
                <a:ea typeface="Arial" pitchFamily="34" charset="-122"/>
                <a:cs typeface="Arial" pitchFamily="34" charset="-120"/>
              </a:rPr>
              <a:t>17:00–18:00   |   12 / 12</a:t>
            </a:r>
            <a:endParaRPr lang="en-US" sz="1000" dirty="0"/>
          </a:p>
        </p:txBody>
      </p:sp>
      <p:sp>
        <p:nvSpPr>
          <p:cNvPr id="6" name="Shape 3"/>
          <p:cNvSpPr/>
          <p:nvPr/>
        </p:nvSpPr>
        <p:spPr>
          <a:xfrm>
            <a:off x="685800" y="612648"/>
            <a:ext cx="2468880" cy="320040"/>
          </a:xfrm>
          <a:prstGeom prst="roundRect">
            <a:avLst>
              <a:gd name="adj" fmla="val 42857"/>
            </a:avLst>
          </a:prstGeom>
          <a:solidFill>
            <a:srgbClr val="193951"/>
          </a:solidFill>
          <a:ln w="12700">
            <a:solidFill>
              <a:srgbClr val="193951"/>
            </a:solidFill>
            <a:prstDash val="solid"/>
          </a:ln>
        </p:spPr>
      </p:sp>
      <p:sp>
        <p:nvSpPr>
          <p:cNvPr id="7" name="Text 4"/>
          <p:cNvSpPr/>
          <p:nvPr/>
        </p:nvSpPr>
        <p:spPr>
          <a:xfrm>
            <a:off x="777240" y="649224"/>
            <a:ext cx="2286000" cy="228600"/>
          </a:xfrm>
          <a:prstGeom prst="rect">
            <a:avLst/>
          </a:prstGeom>
          <a:noFill/>
          <a:ln/>
        </p:spPr>
        <p:txBody>
          <a:bodyPr wrap="square" lIns="0" tIns="0" rIns="0" bIns="0" rtlCol="0" anchor="ctr"/>
          <a:lstStyle/>
          <a:p>
            <a:pPr marL="0" indent="0" algn="ctr">
              <a:buNone/>
            </a:pPr>
            <a:r>
              <a:rPr lang="en-US" sz="1000" b="1" dirty="0">
                <a:solidFill>
                  <a:srgbClr val="76E7C7"/>
                </a:solidFill>
                <a:latin typeface="Arial" pitchFamily="34" charset="0"/>
                <a:ea typeface="Arial" pitchFamily="34" charset="-122"/>
                <a:cs typeface="Arial" pitchFamily="34" charset="-120"/>
              </a:rPr>
              <a:t>TỔNG KẾT &amp; HỎI ĐÁP</a:t>
            </a:r>
            <a:endParaRPr lang="en-US" sz="1000" dirty="0"/>
          </a:p>
        </p:txBody>
      </p:sp>
      <p:sp>
        <p:nvSpPr>
          <p:cNvPr id="8" name="Text 5"/>
          <p:cNvSpPr/>
          <p:nvPr/>
        </p:nvSpPr>
        <p:spPr>
          <a:xfrm>
            <a:off x="685800" y="1417320"/>
            <a:ext cx="6400800" cy="2514600"/>
          </a:xfrm>
          <a:prstGeom prst="rect">
            <a:avLst/>
          </a:prstGeom>
          <a:noFill/>
          <a:ln/>
        </p:spPr>
        <p:txBody>
          <a:bodyPr wrap="square" lIns="0" tIns="0" rIns="0" bIns="0" rtlCol="0" anchor="ctr"/>
          <a:lstStyle/>
          <a:p>
            <a:pPr marL="0" indent="0">
              <a:buNone/>
            </a:pPr>
            <a:r>
              <a:rPr lang="en-US" sz="4300" b="1" dirty="0">
                <a:solidFill>
                  <a:srgbClr val="FFFFFF"/>
                </a:solidFill>
                <a:latin typeface="Arial" pitchFamily="34" charset="0"/>
                <a:ea typeface="Arial" pitchFamily="34" charset="-122"/>
                <a:cs typeface="Arial" pitchFamily="34" charset="-120"/>
              </a:rPr>
              <a:t>Tự động hóa.</a:t>
            </a:r>
            <a:endParaRPr lang="en-US" sz="4300" dirty="0"/>
          </a:p>
          <a:p>
            <a:pPr marL="0" indent="0">
              <a:buNone/>
            </a:pPr>
            <a:r>
              <a:rPr lang="en-US" sz="4300" b="1" dirty="0">
                <a:solidFill>
                  <a:srgbClr val="FFFFFF"/>
                </a:solidFill>
                <a:latin typeface="Arial" pitchFamily="34" charset="0"/>
                <a:ea typeface="Arial" pitchFamily="34" charset="-122"/>
                <a:cs typeface="Arial" pitchFamily="34" charset="-120"/>
              </a:rPr>
              <a:t>Có giới hạn.</a:t>
            </a:r>
            <a:endParaRPr lang="en-US" sz="4300" dirty="0"/>
          </a:p>
          <a:p>
            <a:pPr marL="0" indent="0">
              <a:buNone/>
            </a:pPr>
            <a:r>
              <a:rPr lang="en-US" sz="4300" b="1" dirty="0">
                <a:solidFill>
                  <a:srgbClr val="FFFFFF"/>
                </a:solidFill>
                <a:latin typeface="Arial" pitchFamily="34" charset="0"/>
                <a:ea typeface="Arial" pitchFamily="34" charset="-122"/>
                <a:cs typeface="Arial" pitchFamily="34" charset="-120"/>
              </a:rPr>
              <a:t>Có bằng chứng.</a:t>
            </a:r>
            <a:endParaRPr lang="en-US" sz="4300" dirty="0"/>
          </a:p>
        </p:txBody>
      </p:sp>
      <p:sp>
        <p:nvSpPr>
          <p:cNvPr id="9" name="Text 6"/>
          <p:cNvSpPr/>
          <p:nvPr/>
        </p:nvSpPr>
        <p:spPr>
          <a:xfrm>
            <a:off x="731520" y="4416552"/>
            <a:ext cx="6126480" cy="822960"/>
          </a:xfrm>
          <a:prstGeom prst="rect">
            <a:avLst/>
          </a:prstGeom>
          <a:noFill/>
          <a:ln/>
        </p:spPr>
        <p:txBody>
          <a:bodyPr wrap="square" lIns="0" tIns="0" rIns="0" bIns="0" rtlCol="0" anchor="ctr"/>
          <a:lstStyle/>
          <a:p>
            <a:pPr marL="0" indent="0">
              <a:buNone/>
            </a:pPr>
            <a:r>
              <a:rPr lang="en-US" sz="2200" dirty="0">
                <a:solidFill>
                  <a:srgbClr val="76E7C7"/>
                </a:solidFill>
                <a:latin typeface="Arial" pitchFamily="34" charset="0"/>
                <a:ea typeface="Arial" pitchFamily="34" charset="-122"/>
                <a:cs typeface="Arial" pitchFamily="34" charset="-120"/>
              </a:rPr>
              <a:t>Mời trải nghiệm trên Arc Testnet</a:t>
            </a:r>
            <a:endParaRPr lang="en-US" sz="2200" dirty="0"/>
          </a:p>
          <a:p>
            <a:pPr marL="0" indent="0">
              <a:buNone/>
            </a:pPr>
            <a:r>
              <a:rPr lang="en-US" sz="2200" dirty="0">
                <a:solidFill>
                  <a:srgbClr val="76E7C7"/>
                </a:solidFill>
                <a:latin typeface="Arial" pitchFamily="34" charset="0"/>
                <a:ea typeface="Arial" pitchFamily="34" charset="-122"/>
                <a:cs typeface="Arial" pitchFamily="34" charset="-120"/>
              </a:rPr>
              <a:t>và góp ý cho quy trình, quyền hạn, lịch sử.</a:t>
            </a:r>
            <a:endParaRPr lang="en-US" sz="2200" dirty="0"/>
          </a:p>
        </p:txBody>
      </p:sp>
      <p:sp>
        <p:nvSpPr>
          <p:cNvPr id="10" name="Text 7"/>
          <p:cNvSpPr/>
          <p:nvPr/>
        </p:nvSpPr>
        <p:spPr>
          <a:xfrm>
            <a:off x="731520" y="5623560"/>
            <a:ext cx="6035040" cy="365760"/>
          </a:xfrm>
          <a:prstGeom prst="rect">
            <a:avLst/>
          </a:prstGeom>
          <a:noFill/>
          <a:ln/>
        </p:spPr>
        <p:txBody>
          <a:bodyPr wrap="square" lIns="0" tIns="0" rIns="0" bIns="0" rtlCol="0" anchor="ctr"/>
          <a:lstStyle/>
          <a:p>
            <a:pPr marL="0" indent="0">
              <a:buNone/>
            </a:pPr>
            <a:r>
              <a:rPr lang="en-US" sz="2000" dirty="0">
                <a:solidFill>
                  <a:srgbClr val="C3D2E3"/>
                </a:solidFill>
                <a:latin typeface="Arial" pitchFamily="34" charset="0"/>
                <a:ea typeface="Arial" pitchFamily="34" charset="-122"/>
                <a:cs typeface="Arial" pitchFamily="34" charset="-120"/>
              </a:rPr>
              <a:t>Cảm ơn bạn đã theo dõi!</a:t>
            </a:r>
            <a:endParaRPr lang="en-US" sz="2000" dirty="0"/>
          </a:p>
        </p:txBody>
      </p:sp>
      <p:sp>
        <p:nvSpPr>
          <p:cNvPr id="11" name="Shape 8"/>
          <p:cNvSpPr/>
          <p:nvPr/>
        </p:nvSpPr>
        <p:spPr>
          <a:xfrm>
            <a:off x="7406640" y="1417320"/>
            <a:ext cx="4114800" cy="4343400"/>
          </a:xfrm>
          <a:prstGeom prst="roundRect">
            <a:avLst>
              <a:gd name="adj" fmla="val 3333"/>
            </a:avLst>
          </a:prstGeom>
          <a:solidFill>
            <a:srgbClr val="142C45"/>
          </a:solidFill>
          <a:ln w="12700">
            <a:solidFill>
              <a:srgbClr val="142C45"/>
            </a:solidFill>
            <a:prstDash val="solid"/>
          </a:ln>
        </p:spPr>
      </p:sp>
      <p:sp>
        <p:nvSpPr>
          <p:cNvPr id="12" name="Text 9"/>
          <p:cNvSpPr/>
          <p:nvPr/>
        </p:nvSpPr>
        <p:spPr>
          <a:xfrm>
            <a:off x="7772400" y="1856232"/>
            <a:ext cx="3383280" cy="274320"/>
          </a:xfrm>
          <a:prstGeom prst="rect">
            <a:avLst/>
          </a:prstGeom>
          <a:noFill/>
          <a:ln/>
        </p:spPr>
        <p:txBody>
          <a:bodyPr wrap="square" lIns="0" tIns="0" rIns="0" bIns="0" rtlCol="0" anchor="ctr"/>
          <a:lstStyle/>
          <a:p>
            <a:pPr marL="0" indent="0">
              <a:buNone/>
            </a:pPr>
            <a:r>
              <a:rPr lang="en-US" sz="1200" b="1" dirty="0">
                <a:solidFill>
                  <a:srgbClr val="76E7C7"/>
                </a:solidFill>
                <a:latin typeface="Arial" pitchFamily="34" charset="0"/>
                <a:ea typeface="Arial" pitchFamily="34" charset="-122"/>
                <a:cs typeface="Arial" pitchFamily="34" charset="-120"/>
              </a:rPr>
              <a:t>KẾT NỐI VỚI TÔI</a:t>
            </a:r>
            <a:endParaRPr lang="en-US" sz="1200" dirty="0"/>
          </a:p>
        </p:txBody>
      </p:sp>
      <p:sp>
        <p:nvSpPr>
          <p:cNvPr id="13" name="Text 10"/>
          <p:cNvSpPr/>
          <p:nvPr/>
        </p:nvSpPr>
        <p:spPr>
          <a:xfrm>
            <a:off x="7772400" y="2633472"/>
            <a:ext cx="3383280" cy="457200"/>
          </a:xfrm>
          <a:prstGeom prst="rect">
            <a:avLst/>
          </a:prstGeom>
          <a:noFill/>
          <a:ln/>
        </p:spPr>
        <p:txBody>
          <a:bodyPr wrap="square" lIns="0" tIns="0" rIns="0" bIns="0" rtlCol="0" anchor="ctr"/>
          <a:lstStyle/>
          <a:p>
            <a:pPr marL="0" indent="0">
              <a:buNone/>
            </a:pPr>
            <a:r>
              <a:rPr lang="en-US" sz="2700" b="1" dirty="0">
                <a:solidFill>
                  <a:srgbClr val="FFFFFF"/>
                </a:solidFill>
                <a:latin typeface="Arial" pitchFamily="34" charset="0"/>
                <a:ea typeface="Arial" pitchFamily="34" charset="-122"/>
                <a:cs typeface="Arial" pitchFamily="34" charset="-120"/>
              </a:rPr>
              <a:t>Lê Văn Tùy</a:t>
            </a:r>
            <a:endParaRPr lang="en-US" sz="2700" dirty="0"/>
          </a:p>
        </p:txBody>
      </p:sp>
      <p:sp>
        <p:nvSpPr>
          <p:cNvPr id="14" name="Text 11"/>
          <p:cNvSpPr/>
          <p:nvPr/>
        </p:nvSpPr>
        <p:spPr>
          <a:xfrm>
            <a:off x="7772400" y="3273552"/>
            <a:ext cx="3383280" cy="292608"/>
          </a:xfrm>
          <a:prstGeom prst="rect">
            <a:avLst/>
          </a:prstGeom>
          <a:noFill/>
          <a:ln/>
        </p:spPr>
        <p:txBody>
          <a:bodyPr wrap="square" lIns="0" tIns="0" rIns="0" bIns="0" rtlCol="0" anchor="ctr"/>
          <a:lstStyle/>
          <a:p>
            <a:pPr marL="0" indent="0">
              <a:buNone/>
            </a:pPr>
            <a:r>
              <a:rPr lang="en-US" sz="1700" dirty="0">
                <a:solidFill>
                  <a:srgbClr val="C3D2E3"/>
                </a:solidFill>
                <a:latin typeface="Arial" pitchFamily="34" charset="0"/>
                <a:ea typeface="Arial" pitchFamily="34" charset="-122"/>
                <a:cs typeface="Arial" pitchFamily="34" charset="-120"/>
              </a:rPr>
              <a:t>Điện thoại: 0919249247</a:t>
            </a:r>
            <a:endParaRPr lang="en-US" sz="1700" dirty="0"/>
          </a:p>
        </p:txBody>
      </p:sp>
      <p:sp>
        <p:nvSpPr>
          <p:cNvPr id="15" name="Text 12"/>
          <p:cNvSpPr/>
          <p:nvPr/>
        </p:nvSpPr>
        <p:spPr>
          <a:xfrm>
            <a:off x="7772400" y="3712464"/>
            <a:ext cx="3383280" cy="310896"/>
          </a:xfrm>
          <a:prstGeom prst="rect">
            <a:avLst/>
          </a:prstGeom>
          <a:noFill/>
          <a:ln/>
        </p:spPr>
        <p:txBody>
          <a:bodyPr wrap="square" lIns="0" tIns="0" rIns="0" bIns="0" rtlCol="0" anchor="ctr"/>
          <a:lstStyle/>
          <a:p>
            <a:pPr marL="0" indent="0">
              <a:buNone/>
            </a:pPr>
            <a:r>
              <a:rPr lang="en-US" sz="1700" dirty="0">
                <a:solidFill>
                  <a:srgbClr val="76E7C7"/>
                </a:solidFill>
                <a:latin typeface="Arial" pitchFamily="34" charset="0"/>
                <a:ea typeface="Arial" pitchFamily="34" charset="-122"/>
                <a:cs typeface="Arial" pitchFamily="34" charset="-120"/>
              </a:rPr>
              <a:t>Email: levantuyit@gmail.com</a:t>
            </a:r>
            <a:endParaRPr lang="en-US" sz="1700" dirty="0"/>
          </a:p>
        </p:txBody>
      </p:sp>
      <p:sp>
        <p:nvSpPr>
          <p:cNvPr id="16" name="Text 13"/>
          <p:cNvSpPr/>
          <p:nvPr/>
        </p:nvSpPr>
        <p:spPr>
          <a:xfrm>
            <a:off x="7772400" y="4709160"/>
            <a:ext cx="3383280" cy="612648"/>
          </a:xfrm>
          <a:prstGeom prst="rect">
            <a:avLst/>
          </a:prstGeom>
          <a:noFill/>
          <a:ln/>
        </p:spPr>
        <p:txBody>
          <a:bodyPr wrap="square" lIns="0" tIns="0" rIns="0" bIns="0" rtlCol="0" anchor="ctr"/>
          <a:lstStyle/>
          <a:p>
            <a:pPr marL="0" indent="0">
              <a:buNone/>
            </a:pPr>
            <a:r>
              <a:rPr lang="en-US" sz="1500" dirty="0">
                <a:solidFill>
                  <a:srgbClr val="C3D2E3"/>
                </a:solidFill>
                <a:latin typeface="Arial" pitchFamily="34" charset="0"/>
                <a:ea typeface="Arial" pitchFamily="34" charset="-122"/>
                <a:cs typeface="Arial" pitchFamily="34" charset="-120"/>
              </a:rPr>
              <a:t>18 phút trình bày</a:t>
            </a:r>
            <a:endParaRPr lang="en-US" sz="1500" dirty="0"/>
          </a:p>
          <a:p>
            <a:pPr marL="0" indent="0">
              <a:buNone/>
            </a:pPr>
            <a:r>
              <a:rPr lang="en-US" sz="1500" dirty="0">
                <a:solidFill>
                  <a:srgbClr val="C3D2E3"/>
                </a:solidFill>
                <a:latin typeface="Arial" pitchFamily="34" charset="0"/>
                <a:ea typeface="Arial" pitchFamily="34" charset="-122"/>
                <a:cs typeface="Arial" pitchFamily="34" charset="-120"/>
              </a:rPr>
              <a:t>+ 2 phút trao đổi tùy chương trình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7464</Words>
  <Application>Microsoft Office PowerPoint</Application>
  <PresentationFormat>Widescreen</PresentationFormat>
  <Paragraphs>235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DeFi Recipes on Arc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 Recipes on Arc — Tự động hóa DeFi, giữ quyền kiểm soát</dc:title>
  <dc:subject>Bài thuyết trình 18 phút và demo DCA trên Arc Testnet</dc:subject>
  <dc:creator>Lê Văn Tùy</dc:creator>
  <cp:lastModifiedBy>Tuy LV</cp:lastModifiedBy>
  <cp:revision>2</cp:revision>
  <dcterms:created xsi:type="dcterms:W3CDTF">2026-10-22T03:40:33Z</dcterms:created>
  <dcterms:modified xsi:type="dcterms:W3CDTF">2026-10-22T03:46:34Z</dcterms:modified>
</cp:coreProperties>
</file>