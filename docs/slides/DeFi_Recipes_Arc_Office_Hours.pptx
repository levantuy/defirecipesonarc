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68192" autoAdjust="0"/>
  </p:normalViewPr>
  <p:slideViewPr>
    <p:cSldViewPr snapToGrid="0" snapToObjects="1">
      <p:cViewPr varScale="1">
        <p:scale>
          <a:sx n="78" d="100"/>
          <a:sy n="78" d="100"/>
        </p:scale>
        <p:origin x="1836" y="7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79AB8E5-FA30-478A-AE82-26B417DAC072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6DEBA86-896F-413A-BA21-B39663F142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586200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Hi everyone, I'm Tùy, founder of DeFi Recipes.</a:t>
            </a:r>
          </a:p>
          <a:p>
            <a:r>
              <a:rPr lang="en-US" dirty="0" smtClean="0"/>
              <a:t>Thank you for giving me the opportunity to share our project today.</a:t>
            </a:r>
          </a:p>
          <a:p>
            <a:r>
              <a:rPr lang="en-US" dirty="0" smtClean="0"/>
              <a:t>DeFi Recipes is a platform for </a:t>
            </a:r>
            <a:r>
              <a:rPr lang="en-US" b="1" dirty="0" smtClean="0"/>
              <a:t>safer DeFi automation on Arc</a:t>
            </a:r>
            <a:r>
              <a:rPr lang="en-US" dirty="0" smtClean="0"/>
              <a:t>.</a:t>
            </a:r>
          </a:p>
          <a:p>
            <a:r>
              <a:rPr lang="en-US" dirty="0" smtClean="0"/>
              <a:t>Our goal is simple: </a:t>
            </a:r>
            <a:r>
              <a:rPr lang="en-US" b="1" dirty="0" smtClean="0"/>
              <a:t>automate DeFi, but keep security and user control first.</a:t>
            </a:r>
            <a:endParaRPr lang="en-US" dirty="0" smtClean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6DEBA86-896F-413A-BA21-B39663F142DD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617071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DeFi gives users many opportunities, but using DeFi can still be difficult.</a:t>
            </a:r>
          </a:p>
          <a:p>
            <a:r>
              <a:rPr lang="en-US" dirty="0" smtClean="0"/>
              <a:t>Users often need to do many transactions manually.</a:t>
            </a:r>
          </a:p>
          <a:p>
            <a:r>
              <a:rPr lang="en-US" dirty="0" smtClean="0"/>
              <a:t>When we add automation, the risk becomes even higher.</a:t>
            </a:r>
          </a:p>
          <a:p>
            <a:r>
              <a:rPr lang="en-US" dirty="0" smtClean="0"/>
              <a:t>An automated system can interact with the wrong protocol, use the wrong function, or execute a transaction with bad parameters.</a:t>
            </a:r>
          </a:p>
          <a:p>
            <a:r>
              <a:rPr lang="en-US" dirty="0" smtClean="0"/>
              <a:t>So we asked:</a:t>
            </a:r>
          </a:p>
          <a:p>
            <a:r>
              <a:rPr lang="en-US" b="1" dirty="0" smtClean="0"/>
              <a:t>How can we make DeFi automation easier, while keeping strong security controls?</a:t>
            </a:r>
            <a:endParaRPr lang="en-US" dirty="0" smtClean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6DEBA86-896F-413A-BA21-B39663F142DD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757773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This is where DeFi Recipes comes in.</a:t>
            </a:r>
          </a:p>
          <a:p>
            <a:r>
              <a:rPr lang="en-US" dirty="0" smtClean="0"/>
              <a:t>We use the idea of </a:t>
            </a:r>
            <a:r>
              <a:rPr lang="en-US" b="1" dirty="0" smtClean="0"/>
              <a:t>Recipes</a:t>
            </a:r>
            <a:r>
              <a:rPr lang="en-US" dirty="0" smtClean="0"/>
              <a:t>.</a:t>
            </a:r>
          </a:p>
          <a:p>
            <a:r>
              <a:rPr lang="en-US" dirty="0" smtClean="0"/>
              <a:t>A Recipe defines what the automation can do.</a:t>
            </a:r>
          </a:p>
          <a:p>
            <a:r>
              <a:rPr lang="en-US" dirty="0" smtClean="0"/>
              <a:t>Users can configure the strategy, choose the protocols and actions, and define safety limits.</a:t>
            </a:r>
          </a:p>
          <a:p>
            <a:r>
              <a:rPr lang="en-US" dirty="0" smtClean="0"/>
              <a:t>The automation can then execute these actions automatically.</a:t>
            </a:r>
          </a:p>
          <a:p>
            <a:r>
              <a:rPr lang="en-US" dirty="0" smtClean="0"/>
              <a:t>But the important part is:</a:t>
            </a:r>
          </a:p>
          <a:p>
            <a:r>
              <a:rPr lang="en-US" b="1" dirty="0" smtClean="0"/>
              <a:t>Automation should not have unlimited permissions.</a:t>
            </a:r>
            <a:endParaRPr lang="en-US" dirty="0" smtClean="0"/>
          </a:p>
          <a:p>
            <a:r>
              <a:rPr lang="en-US" dirty="0" smtClean="0"/>
              <a:t>We want every strategy to have clear and controlled boundaries.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6DEBA86-896F-413A-BA21-B39663F142DD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501844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Security is one of the most important parts of DeFi Recipes.</a:t>
            </a:r>
          </a:p>
          <a:p>
            <a:r>
              <a:rPr lang="en-US" dirty="0" smtClean="0"/>
              <a:t>For example, when we evaluate protocols, we don't only look at APY.</a:t>
            </a:r>
          </a:p>
          <a:p>
            <a:r>
              <a:rPr lang="en-US" dirty="0" smtClean="0"/>
              <a:t>We put </a:t>
            </a:r>
            <a:r>
              <a:rPr lang="en-US" b="1" dirty="0" smtClean="0"/>
              <a:t>security maturity first</a:t>
            </a:r>
            <a:r>
              <a:rPr lang="en-US" dirty="0" smtClean="0"/>
              <a:t>.</a:t>
            </a:r>
          </a:p>
          <a:p>
            <a:r>
              <a:rPr lang="en-US" dirty="0" smtClean="0"/>
              <a:t>We look at things like audit coverage, incident history, and how a protocol responds to security problems.</a:t>
            </a:r>
          </a:p>
          <a:p>
            <a:r>
              <a:rPr lang="en-US" dirty="0" smtClean="0"/>
              <a:t>We also want to control which protocols and contract functions a Recipe can use.</a:t>
            </a:r>
          </a:p>
          <a:p>
            <a:r>
              <a:rPr lang="en-US" dirty="0" smtClean="0"/>
              <a:t>So our philosophy is:</a:t>
            </a:r>
          </a:p>
          <a:p>
            <a:r>
              <a:rPr lang="en-US" b="1" dirty="0" smtClean="0"/>
              <a:t>Don't just automate the strategy. Automate it with guardrails.</a:t>
            </a:r>
            <a:endParaRPr lang="en-US" dirty="0" smtClean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6DEBA86-896F-413A-BA21-B39663F142DD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802176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 smtClean="0"/>
              <a:t>Say:</a:t>
            </a:r>
          </a:p>
          <a:p>
            <a:r>
              <a:rPr lang="en-US" dirty="0" smtClean="0"/>
              <a:t>Now let me show you how it works.</a:t>
            </a:r>
          </a:p>
          <a:p>
            <a:r>
              <a:rPr lang="en-US" dirty="0" smtClean="0"/>
              <a:t>Then demonstrate your actual UI.</a:t>
            </a:r>
          </a:p>
          <a:p>
            <a:r>
              <a:rPr lang="en-US" b="1" dirty="0" smtClean="0"/>
              <a:t>Step 1 — Choose a Recipe</a:t>
            </a:r>
          </a:p>
          <a:p>
            <a:r>
              <a:rPr lang="en-US" dirty="0" smtClean="0"/>
              <a:t>Here we have a Recipe.</a:t>
            </a:r>
          </a:p>
          <a:p>
            <a:r>
              <a:rPr lang="en-US" dirty="0" smtClean="0"/>
              <a:t>A Recipe describes the strategy and the actions that the automation can perform.</a:t>
            </a:r>
          </a:p>
          <a:p>
            <a:r>
              <a:rPr lang="en-US" b="1" dirty="0" smtClean="0"/>
              <a:t>Step 2 — Configure</a:t>
            </a:r>
          </a:p>
          <a:p>
            <a:r>
              <a:rPr lang="en-US" dirty="0" smtClean="0"/>
              <a:t>Here, the user can configure the strategy.</a:t>
            </a:r>
          </a:p>
          <a:p>
            <a:r>
              <a:rPr lang="en-US" dirty="0" smtClean="0"/>
              <a:t>For example, we can define the amount, frequency, slippage, and other parameters.</a:t>
            </a:r>
          </a:p>
          <a:p>
            <a:r>
              <a:rPr lang="en-US" b="1" dirty="0" smtClean="0"/>
              <a:t>Step 3 — Security</a:t>
            </a:r>
          </a:p>
          <a:p>
            <a:r>
              <a:rPr lang="en-US" dirty="0" smtClean="0"/>
              <a:t>Before execution, we check the allowed protocol and the allowed contract functions.</a:t>
            </a:r>
          </a:p>
          <a:p>
            <a:r>
              <a:rPr lang="en-US" dirty="0" smtClean="0"/>
              <a:t>This is important because we don't want the automation to have unlimited access.</a:t>
            </a:r>
          </a:p>
          <a:p>
            <a:r>
              <a:rPr lang="en-US" b="1" dirty="0" smtClean="0"/>
              <a:t>Step 4 — Execute</a:t>
            </a:r>
          </a:p>
          <a:p>
            <a:r>
              <a:rPr lang="en-US" dirty="0" smtClean="0"/>
              <a:t>Once everything passes the safety checks, the automation can execute the strategy.</a:t>
            </a:r>
          </a:p>
          <a:p>
            <a:r>
              <a:rPr lang="en-US" b="1" dirty="0" smtClean="0"/>
              <a:t>Step 5 — Monitor</a:t>
            </a:r>
          </a:p>
          <a:p>
            <a:r>
              <a:rPr lang="en-US" dirty="0" smtClean="0"/>
              <a:t>And the user can monitor the execution and see what happened.</a:t>
            </a:r>
          </a:p>
          <a:p>
            <a:r>
              <a:rPr lang="en-US" dirty="0" smtClean="0"/>
              <a:t>Then stop clicking.</a:t>
            </a:r>
          </a:p>
          <a:p>
            <a:r>
              <a:rPr lang="en-US" b="1" dirty="0" smtClean="0"/>
              <a:t>Don't spend too much time explaining every UI element.</a:t>
            </a:r>
            <a:endParaRPr lang="en-US" dirty="0" smtClean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6DEBA86-896F-413A-BA21-B39663F142DD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166645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So why are we building this on Arc?</a:t>
            </a:r>
          </a:p>
          <a:p>
            <a:r>
              <a:rPr lang="en-US" dirty="0" smtClean="0"/>
              <a:t>We believe Arc is a very good environment for automated DeFi.</a:t>
            </a:r>
          </a:p>
          <a:p>
            <a:r>
              <a:rPr lang="en-US" dirty="0" smtClean="0"/>
              <a:t>Arc is designed around stablecoin-native financial applications.</a:t>
            </a:r>
          </a:p>
          <a:p>
            <a:r>
              <a:rPr lang="en-US" dirty="0" smtClean="0"/>
              <a:t>Automation needs transactions to be fast and efficient.</a:t>
            </a:r>
          </a:p>
          <a:p>
            <a:r>
              <a:rPr lang="en-US" dirty="0" smtClean="0"/>
              <a:t>This makes Arc a good foundation for things like automated payments, yield strategies, rebalancing, and other financial workflows.</a:t>
            </a:r>
          </a:p>
          <a:p>
            <a:r>
              <a:rPr lang="en-US" dirty="0" smtClean="0"/>
              <a:t>Our vision is to build more of these automated strategies on Arc.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6DEBA86-896F-413A-BA21-B39663F142DD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870282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We are still early.</a:t>
            </a:r>
          </a:p>
          <a:p>
            <a:r>
              <a:rPr lang="en-US" dirty="0" smtClean="0"/>
              <a:t>Our next steps are to build more Recipes and support more DeFi strategies.</a:t>
            </a:r>
          </a:p>
          <a:p>
            <a:r>
              <a:rPr lang="en-US" dirty="0" smtClean="0"/>
              <a:t>We also want to improve our protocol security scoring and expand our security guardrails.</a:t>
            </a:r>
          </a:p>
          <a:p>
            <a:r>
              <a:rPr lang="en-US" dirty="0" smtClean="0"/>
              <a:t>And we want to explore more use cases on Arc, including automated yield strategies, payments, and other stablecoin-based workflows.</a:t>
            </a:r>
          </a:p>
          <a:p>
            <a:r>
              <a:rPr lang="en-US" dirty="0" smtClean="0"/>
              <a:t>Ultimately, we want DeFi Recipes to become a place where users can discover and safely automate DeFi strategies.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6DEBA86-896F-413A-BA21-B39663F142DD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99678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So, that's DeFi Recipes.</a:t>
            </a:r>
          </a:p>
          <a:p>
            <a:r>
              <a:rPr lang="en-US" dirty="0" smtClean="0"/>
              <a:t>Our vision is simple:</a:t>
            </a:r>
          </a:p>
          <a:p>
            <a:r>
              <a:rPr lang="en-US" b="1" dirty="0" smtClean="0"/>
              <a:t>Make DeFi automation easier, without sacrificing security.</a:t>
            </a:r>
            <a:endParaRPr lang="en-US" dirty="0" smtClean="0"/>
          </a:p>
          <a:p>
            <a:r>
              <a:rPr lang="en-US" dirty="0" smtClean="0"/>
              <a:t>We believe automation should be simple, but it should also have strong guardrails.</a:t>
            </a:r>
          </a:p>
          <a:p>
            <a:r>
              <a:rPr lang="en-US" dirty="0" smtClean="0"/>
              <a:t>Thank you for listening.</a:t>
            </a:r>
          </a:p>
          <a:p>
            <a:r>
              <a:rPr lang="en-US" dirty="0" smtClean="0"/>
              <a:t>I'd love to hear your feedback and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6DEBA86-896F-413A-BA21-B39663F142DD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395430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B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7D6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1384280" y="6419088"/>
            <a:ext cx="457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A4AEBE"/>
                </a:solidFill>
              </a:defRPr>
            </a:pPr>
            <a: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60120"/>
            <a:ext cx="7132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DDDAB"/>
                </a:solidFill>
                <a:latin typeface="Aptos"/>
              </a:defRPr>
            </a:pPr>
            <a:r>
              <a:t>ARC OFFICE HOURS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508760"/>
            <a:ext cx="7955279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600" b="1">
                <a:solidFill>
                  <a:srgbClr val="F5F7FA"/>
                </a:solidFill>
                <a:latin typeface="Aptos"/>
              </a:defRPr>
            </a:pPr>
            <a:r>
              <a:t>DeFi Recipes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2514600"/>
            <a:ext cx="6949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A4AEBE"/>
                </a:solidFill>
                <a:latin typeface="Aptos"/>
              </a:defRPr>
            </a:pPr>
            <a:r>
              <a:t>Safer DeFi Automation on Arc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794760"/>
            <a:ext cx="2057400" cy="914400"/>
          </a:xfrm>
          <a:prstGeom prst="roundRect">
            <a:avLst/>
          </a:prstGeom>
          <a:solidFill>
            <a:srgbClr val="111620"/>
          </a:solidFill>
          <a:ln>
            <a:solidFill>
              <a:srgbClr val="242B3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22960" y="3794760"/>
            <a:ext cx="54864" cy="914400"/>
          </a:xfrm>
          <a:prstGeom prst="rect">
            <a:avLst/>
          </a:prstGeom>
          <a:solidFill>
            <a:srgbClr val="7D6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51560" y="3995928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5F7FA"/>
                </a:solidFill>
                <a:latin typeface="Aptos"/>
              </a:defRPr>
            </a:pPr>
            <a:r>
              <a:t>🛡 Security-first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063240" y="3794760"/>
            <a:ext cx="2286000" cy="914400"/>
          </a:xfrm>
          <a:prstGeom prst="roundRect">
            <a:avLst/>
          </a:prstGeom>
          <a:solidFill>
            <a:srgbClr val="111620"/>
          </a:solidFill>
          <a:ln>
            <a:solidFill>
              <a:srgbClr val="242B3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063240" y="3794760"/>
            <a:ext cx="54864" cy="914400"/>
          </a:xfrm>
          <a:prstGeom prst="rect">
            <a:avLst/>
          </a:prstGeom>
          <a:solidFill>
            <a:srgbClr val="7D6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291840" y="3995928"/>
            <a:ext cx="187451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5F7FA"/>
                </a:solidFill>
                <a:latin typeface="Aptos"/>
              </a:defRPr>
            </a:pPr>
            <a:r>
              <a:t>⚙ Automated strategies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23560" y="3794760"/>
            <a:ext cx="2057400" cy="914400"/>
          </a:xfrm>
          <a:prstGeom prst="roundRect">
            <a:avLst/>
          </a:prstGeom>
          <a:solidFill>
            <a:srgbClr val="111620"/>
          </a:solidFill>
          <a:ln>
            <a:solidFill>
              <a:srgbClr val="242B3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623560" y="3794760"/>
            <a:ext cx="54864" cy="914400"/>
          </a:xfrm>
          <a:prstGeom prst="rect">
            <a:avLst/>
          </a:prstGeom>
          <a:solidFill>
            <a:srgbClr val="3DDD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852160" y="3995928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5F7FA"/>
                </a:solidFill>
                <a:latin typeface="Aptos"/>
              </a:defRPr>
            </a:pPr>
            <a:r>
              <a:t>🌐 Built on Arc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69680" y="1280160"/>
            <a:ext cx="22860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700" b="1">
                <a:solidFill>
                  <a:srgbClr val="F5F7FA"/>
                </a:solidFill>
                <a:latin typeface="Aptos"/>
              </a:defRPr>
            </a:pPr>
            <a:r>
              <a:t>Automate DeFi.</a:t>
            </a:r>
            <a:br/>
            <a:r>
              <a:t>Keep control.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B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7D6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1384280" y="6419088"/>
            <a:ext cx="457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A4AEBE"/>
                </a:solidFill>
              </a:defRPr>
            </a:pPr>
            <a: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0292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DDDAB"/>
                </a:solidFill>
                <a:latin typeface="Aptos"/>
              </a:defRPr>
            </a:pPr>
            <a:r>
              <a:t>01 / 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868680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5F7FA"/>
                </a:solidFill>
                <a:latin typeface="Aptos"/>
              </a:defRPr>
            </a:pPr>
            <a:r>
              <a:t>DeFi is powerful, but automation is risky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600200"/>
            <a:ext cx="9875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4AEBE"/>
                </a:solidFill>
                <a:latin typeface="Aptos"/>
              </a:defRPr>
            </a:pPr>
            <a:r>
              <a:t>The more we automate, the more important guardrails become.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423160"/>
            <a:ext cx="5074920" cy="1234440"/>
          </a:xfrm>
          <a:prstGeom prst="roundRect">
            <a:avLst/>
          </a:prstGeom>
          <a:solidFill>
            <a:srgbClr val="111620"/>
          </a:solidFill>
          <a:ln>
            <a:solidFill>
              <a:srgbClr val="242B3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31520" y="2423160"/>
            <a:ext cx="54864" cy="1234440"/>
          </a:xfrm>
          <a:prstGeom prst="rect">
            <a:avLst/>
          </a:prstGeom>
          <a:solidFill>
            <a:srgbClr val="7D6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60120" y="2624328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5F7FA"/>
                </a:solidFill>
                <a:latin typeface="Aptos"/>
              </a:defRPr>
            </a:pPr>
            <a:r>
              <a:t>01  Too many manual steps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3108960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50" b="0">
                <a:solidFill>
                  <a:srgbClr val="A4AEBE"/>
                </a:solidFill>
                <a:latin typeface="Aptos"/>
              </a:defRPr>
            </a:pPr>
            <a:r>
              <a:t>Users often move through multiple transactions and protocols.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59" y="2423160"/>
            <a:ext cx="5074920" cy="1234440"/>
          </a:xfrm>
          <a:prstGeom prst="roundRect">
            <a:avLst/>
          </a:prstGeom>
          <a:solidFill>
            <a:srgbClr val="111620"/>
          </a:solidFill>
          <a:ln>
            <a:solidFill>
              <a:srgbClr val="242B3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309359" y="2423160"/>
            <a:ext cx="54864" cy="1234440"/>
          </a:xfrm>
          <a:prstGeom prst="rect">
            <a:avLst/>
          </a:prstGeom>
          <a:solidFill>
            <a:srgbClr val="7D6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37959" y="2624328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5F7FA"/>
                </a:solidFill>
                <a:latin typeface="Aptos"/>
              </a:defRPr>
            </a:pPr>
            <a:r>
              <a:t>02  Smart contract risk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59" y="3108960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50" b="0">
                <a:solidFill>
                  <a:srgbClr val="A4AEBE"/>
                </a:solidFill>
                <a:latin typeface="Aptos"/>
              </a:defRPr>
            </a:pPr>
            <a:r>
              <a:t>Automation can amplify mistakes or unexpected contract behavior.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977639"/>
            <a:ext cx="5074920" cy="1234440"/>
          </a:xfrm>
          <a:prstGeom prst="roundRect">
            <a:avLst/>
          </a:prstGeom>
          <a:solidFill>
            <a:srgbClr val="111620"/>
          </a:solidFill>
          <a:ln>
            <a:solidFill>
              <a:srgbClr val="242B3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731520" y="3977639"/>
            <a:ext cx="54864" cy="1234440"/>
          </a:xfrm>
          <a:prstGeom prst="rect">
            <a:avLst/>
          </a:prstGeom>
          <a:solidFill>
            <a:srgbClr val="3DDD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60120" y="4178807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5F7FA"/>
                </a:solidFill>
                <a:latin typeface="Aptos"/>
              </a:defRPr>
            </a:pPr>
            <a:r>
              <a:t>03  Wrong parameters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663440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50" b="0">
                <a:solidFill>
                  <a:srgbClr val="A4AEBE"/>
                </a:solidFill>
                <a:latin typeface="Aptos"/>
              </a:defRPr>
            </a:pPr>
            <a:r>
              <a:t>Protocol, token, function, slippage or amount can be misconfigured.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09359" y="3977639"/>
            <a:ext cx="5074920" cy="1234440"/>
          </a:xfrm>
          <a:prstGeom prst="roundRect">
            <a:avLst/>
          </a:prstGeom>
          <a:solidFill>
            <a:srgbClr val="111620"/>
          </a:solidFill>
          <a:ln>
            <a:solidFill>
              <a:srgbClr val="242B3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309359" y="3977639"/>
            <a:ext cx="54864" cy="1234440"/>
          </a:xfrm>
          <a:prstGeom prst="rect">
            <a:avLst/>
          </a:prstGeom>
          <a:solidFill>
            <a:srgbClr val="3DDD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537959" y="4178807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5F7FA"/>
                </a:solidFill>
                <a:latin typeface="Aptos"/>
              </a:defRPr>
            </a:pPr>
            <a:r>
              <a:t>04  Hard for normal users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37959" y="4663440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50" b="0">
                <a:solidFill>
                  <a:srgbClr val="A4AEBE"/>
                </a:solidFill>
                <a:latin typeface="Aptos"/>
              </a:defRPr>
            </a:pPr>
            <a:r>
              <a:t>Powerful DeFi workflows are still difficult to operate safely.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B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7D6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1384280" y="6419088"/>
            <a:ext cx="457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A4AEBE"/>
                </a:solidFill>
              </a:defRPr>
            </a:pPr>
            <a: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0292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DDDAB"/>
                </a:solidFill>
                <a:latin typeface="Aptos"/>
              </a:defRPr>
            </a:pPr>
            <a:r>
              <a:t>02 / THE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868680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5F7FA"/>
                </a:solidFill>
                <a:latin typeface="Aptos"/>
              </a:defRPr>
            </a:pPr>
            <a:r>
              <a:t>DeFi Recipes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600200"/>
            <a:ext cx="9875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4AEBE"/>
                </a:solidFill>
                <a:latin typeface="Aptos"/>
              </a:defRPr>
            </a:pPr>
            <a:r>
              <a:t>Create a strategy once. Configure its boundaries. Automate with control.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743200"/>
            <a:ext cx="2487168" cy="1508760"/>
          </a:xfrm>
          <a:prstGeom prst="roundRect">
            <a:avLst/>
          </a:prstGeom>
          <a:solidFill>
            <a:srgbClr val="111620"/>
          </a:solidFill>
          <a:ln>
            <a:solidFill>
              <a:srgbClr val="242B3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85800" y="2743200"/>
            <a:ext cx="54864" cy="1508760"/>
          </a:xfrm>
          <a:prstGeom prst="rect">
            <a:avLst/>
          </a:prstGeom>
          <a:solidFill>
            <a:srgbClr val="7D6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14400" y="2944368"/>
            <a:ext cx="207568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5F7FA"/>
                </a:solidFill>
                <a:latin typeface="Aptos"/>
              </a:defRPr>
            </a:pPr>
            <a:r>
              <a:t>CREATE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429000"/>
            <a:ext cx="2075688" cy="685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50" b="0">
                <a:solidFill>
                  <a:srgbClr val="A4AEBE"/>
                </a:solidFill>
                <a:latin typeface="Aptos"/>
              </a:defRPr>
            </a:pPr>
            <a:r>
              <a:t>Choose the strategy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82112" y="3182112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A4AEBE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02152" y="2743200"/>
            <a:ext cx="2487168" cy="1508760"/>
          </a:xfrm>
          <a:prstGeom prst="roundRect">
            <a:avLst/>
          </a:prstGeom>
          <a:solidFill>
            <a:srgbClr val="111620"/>
          </a:solidFill>
          <a:ln>
            <a:solidFill>
              <a:srgbClr val="242B3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502152" y="2743200"/>
            <a:ext cx="54864" cy="1508760"/>
          </a:xfrm>
          <a:prstGeom prst="rect">
            <a:avLst/>
          </a:prstGeom>
          <a:solidFill>
            <a:srgbClr val="7D6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730752" y="2944368"/>
            <a:ext cx="207568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5F7FA"/>
                </a:solidFill>
                <a:latin typeface="Aptos"/>
              </a:defRPr>
            </a:pPr>
            <a:r>
              <a:t>CONFIGURE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3429000"/>
            <a:ext cx="2075688" cy="685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50" b="0">
                <a:solidFill>
                  <a:srgbClr val="A4AEBE"/>
                </a:solidFill>
                <a:latin typeface="Aptos"/>
              </a:defRPr>
            </a:pPr>
            <a:r>
              <a:t>Set parameters &amp; limits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98464" y="3182112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A4AEBE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18504" y="2743200"/>
            <a:ext cx="2487168" cy="1508760"/>
          </a:xfrm>
          <a:prstGeom prst="roundRect">
            <a:avLst/>
          </a:prstGeom>
          <a:solidFill>
            <a:srgbClr val="111620"/>
          </a:solidFill>
          <a:ln>
            <a:solidFill>
              <a:srgbClr val="242B3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318504" y="2743200"/>
            <a:ext cx="54864" cy="1508760"/>
          </a:xfrm>
          <a:prstGeom prst="rect">
            <a:avLst/>
          </a:prstGeom>
          <a:solidFill>
            <a:srgbClr val="7D6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547104" y="2944368"/>
            <a:ext cx="207568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5F7FA"/>
                </a:solidFill>
                <a:latin typeface="Aptos"/>
              </a:defRPr>
            </a:pPr>
            <a:r>
              <a:t>AUTOMATE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7104" y="3429000"/>
            <a:ext cx="2075688" cy="685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50" b="0">
                <a:solidFill>
                  <a:srgbClr val="A4AEBE"/>
                </a:solidFill>
                <a:latin typeface="Aptos"/>
              </a:defRPr>
            </a:pPr>
            <a:r>
              <a:t>Execute automatically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14816" y="3182112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A4AEBE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34856" y="2743200"/>
            <a:ext cx="2487168" cy="1508760"/>
          </a:xfrm>
          <a:prstGeom prst="roundRect">
            <a:avLst/>
          </a:prstGeom>
          <a:solidFill>
            <a:srgbClr val="111620"/>
          </a:solidFill>
          <a:ln>
            <a:solidFill>
              <a:srgbClr val="242B3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9134856" y="2743200"/>
            <a:ext cx="54864" cy="1508760"/>
          </a:xfrm>
          <a:prstGeom prst="rect">
            <a:avLst/>
          </a:prstGeom>
          <a:solidFill>
            <a:srgbClr val="3DDD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363456" y="2944368"/>
            <a:ext cx="207568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5F7FA"/>
                </a:solidFill>
                <a:latin typeface="Aptos"/>
              </a:defRPr>
            </a:pPr>
            <a:r>
              <a:t>MONITOR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63456" y="3429000"/>
            <a:ext cx="2075688" cy="685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50" b="0">
                <a:solidFill>
                  <a:srgbClr val="A4AEBE"/>
                </a:solidFill>
                <a:latin typeface="Aptos"/>
              </a:defRPr>
            </a:pPr>
            <a:r>
              <a:t>Track what happened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4983480"/>
            <a:ext cx="10149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5F7FA"/>
                </a:solidFill>
                <a:latin typeface="Aptos"/>
              </a:defRPr>
            </a:pPr>
            <a:r>
              <a:t>Automation should not have unlimited permissions.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5532120"/>
            <a:ext cx="10149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3DDDAB"/>
                </a:solidFill>
                <a:latin typeface="Aptos"/>
              </a:defRPr>
            </a:pPr>
            <a:r>
              <a:t>Every Recipe has clear, controlled boundaries.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B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7D6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1384280" y="6419088"/>
            <a:ext cx="457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A4AEBE"/>
                </a:solidFill>
              </a:defRPr>
            </a:pPr>
            <a: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0292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DDDAB"/>
                </a:solidFill>
                <a:latin typeface="Aptos"/>
              </a:defRPr>
            </a:pPr>
            <a:r>
              <a:t>03 /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868680"/>
            <a:ext cx="10424160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5F7FA"/>
                </a:solidFill>
                <a:latin typeface="Aptos"/>
              </a:defRPr>
            </a:pPr>
            <a:r>
              <a:rPr dirty="0"/>
              <a:t>Security </a:t>
            </a:r>
            <a:r>
              <a:rPr dirty="0" smtClean="0"/>
              <a:t>first</a:t>
            </a:r>
            <a:endParaRPr dirty="0"/>
          </a:p>
        </p:txBody>
      </p:sp>
      <p:sp>
        <p:nvSpPr>
          <p:cNvPr id="6" name="TextBox 5"/>
          <p:cNvSpPr txBox="1"/>
          <p:nvPr/>
        </p:nvSpPr>
        <p:spPr>
          <a:xfrm>
            <a:off x="713232" y="1600200"/>
            <a:ext cx="9875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4AEBE"/>
                </a:solidFill>
                <a:latin typeface="Aptos"/>
              </a:defRPr>
            </a:pPr>
            <a:r>
              <a:t>We don't optimize for APY alone — we evaluate whether a protocol is safe enough to automate.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331720"/>
            <a:ext cx="4297680" cy="530352"/>
          </a:xfrm>
          <a:prstGeom prst="roundRect">
            <a:avLst/>
          </a:prstGeom>
          <a:solidFill>
            <a:srgbClr val="111620"/>
          </a:solidFill>
          <a:ln>
            <a:solidFill>
              <a:srgbClr val="242B3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22960" y="2331720"/>
            <a:ext cx="54864" cy="530352"/>
          </a:xfrm>
          <a:prstGeom prst="rect">
            <a:avLst/>
          </a:prstGeom>
          <a:solidFill>
            <a:srgbClr val="7D6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51560" y="2532888"/>
            <a:ext cx="3886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5F7FA"/>
                </a:solidFill>
                <a:latin typeface="Aptos"/>
              </a:defRPr>
            </a:pPr>
            <a:r>
              <a:t>1.  Security maturity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57800" y="2404872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A4AEBE"/>
                </a:solidFill>
                <a:latin typeface="Aptos"/>
              </a:defRPr>
            </a:pPr>
            <a:r>
              <a:t>↓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044952"/>
            <a:ext cx="4297680" cy="530352"/>
          </a:xfrm>
          <a:prstGeom prst="roundRect">
            <a:avLst/>
          </a:prstGeom>
          <a:solidFill>
            <a:srgbClr val="111620"/>
          </a:solidFill>
          <a:ln>
            <a:solidFill>
              <a:srgbClr val="242B3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822960" y="3044952"/>
            <a:ext cx="54864" cy="530352"/>
          </a:xfrm>
          <a:prstGeom prst="rect">
            <a:avLst/>
          </a:prstGeom>
          <a:solidFill>
            <a:srgbClr val="7D6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51560" y="3246120"/>
            <a:ext cx="3886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5F7FA"/>
                </a:solidFill>
                <a:latin typeface="Aptos"/>
              </a:defRPr>
            </a:pPr>
            <a:r>
              <a:t>2.  Audit coverage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57800" y="3118104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A4AEBE"/>
                </a:solidFill>
                <a:latin typeface="Aptos"/>
              </a:defRPr>
            </a:pPr>
            <a:r>
              <a:t>↓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3758183"/>
            <a:ext cx="4297680" cy="530352"/>
          </a:xfrm>
          <a:prstGeom prst="roundRect">
            <a:avLst/>
          </a:prstGeom>
          <a:solidFill>
            <a:srgbClr val="111620"/>
          </a:solidFill>
          <a:ln>
            <a:solidFill>
              <a:srgbClr val="242B3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22960" y="3758183"/>
            <a:ext cx="54864" cy="530352"/>
          </a:xfrm>
          <a:prstGeom prst="rect">
            <a:avLst/>
          </a:prstGeom>
          <a:solidFill>
            <a:srgbClr val="3DDD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51560" y="3959351"/>
            <a:ext cx="3886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5F7FA"/>
                </a:solidFill>
                <a:latin typeface="Aptos"/>
              </a:defRPr>
            </a:pPr>
            <a:r>
              <a:t>3.  Incident history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57800" y="3831335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A4AEBE"/>
                </a:solidFill>
                <a:latin typeface="Aptos"/>
              </a:defRPr>
            </a:pPr>
            <a:r>
              <a:t>↓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" y="4471416"/>
            <a:ext cx="4297680" cy="530352"/>
          </a:xfrm>
          <a:prstGeom prst="roundRect">
            <a:avLst/>
          </a:prstGeom>
          <a:solidFill>
            <a:srgbClr val="111620"/>
          </a:solidFill>
          <a:ln>
            <a:solidFill>
              <a:srgbClr val="242B3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822960" y="4471416"/>
            <a:ext cx="54864" cy="530352"/>
          </a:xfrm>
          <a:prstGeom prst="rect">
            <a:avLst/>
          </a:prstGeom>
          <a:solidFill>
            <a:srgbClr val="3DDD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051560" y="4672583"/>
            <a:ext cx="3886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5F7FA"/>
                </a:solidFill>
                <a:latin typeface="Aptos"/>
              </a:defRPr>
            </a:pPr>
            <a:r>
              <a:t>4.  Response quality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0" y="2788920"/>
            <a:ext cx="4297680" cy="1645920"/>
          </a:xfrm>
          <a:prstGeom prst="roundRect">
            <a:avLst/>
          </a:prstGeom>
          <a:solidFill>
            <a:srgbClr val="111620"/>
          </a:solidFill>
          <a:ln>
            <a:solidFill>
              <a:srgbClr val="242B3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6400800" y="2788920"/>
            <a:ext cx="54864" cy="1645920"/>
          </a:xfrm>
          <a:prstGeom prst="rect">
            <a:avLst/>
          </a:prstGeom>
          <a:solidFill>
            <a:srgbClr val="3DDD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629400" y="2990088"/>
            <a:ext cx="3886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5F7FA"/>
                </a:solidFill>
                <a:latin typeface="Aptos"/>
              </a:defRPr>
            </a:pPr>
            <a:r>
              <a:t>Protocol score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9400" y="3474720"/>
            <a:ext cx="3886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50" b="0">
                <a:solidFill>
                  <a:srgbClr val="A4AEBE"/>
                </a:solidFill>
                <a:latin typeface="Aptos"/>
              </a:defRPr>
            </a:pPr>
            <a:r>
              <a:t>A structured signal for whether a protocol should be eligible for automation.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4983480"/>
            <a:ext cx="3931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5F7FA"/>
                </a:solidFill>
                <a:latin typeface="Aptos"/>
              </a:defRPr>
            </a:pPr>
            <a:r>
              <a:t>Guardrails</a:t>
            </a:r>
            <a:br/>
            <a:r>
              <a:t>&gt; Unlimited access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B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7D6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1384280" y="6419088"/>
            <a:ext cx="457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A4AEBE"/>
                </a:solidFill>
              </a:defRPr>
            </a:pPr>
            <a: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0292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DDDAB"/>
                </a:solidFill>
                <a:latin typeface="Aptos"/>
              </a:defRPr>
            </a:pPr>
            <a:r>
              <a:t>04 / LIVE 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868680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5F7FA"/>
                </a:solidFill>
                <a:latin typeface="Aptos"/>
              </a:defRPr>
            </a:pPr>
            <a:r>
              <a:t>From Recipe to execution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600200"/>
            <a:ext cx="9875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4AEBE"/>
                </a:solidFill>
                <a:latin typeface="Aptos"/>
              </a:defRPr>
            </a:pPr>
            <a:r>
              <a:t>Keep the demo focused on the user journey — not every UI detail.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2423160"/>
            <a:ext cx="1965960" cy="1828800"/>
          </a:xfrm>
          <a:prstGeom prst="roundRect">
            <a:avLst/>
          </a:prstGeom>
          <a:solidFill>
            <a:srgbClr val="111620"/>
          </a:solidFill>
          <a:ln>
            <a:solidFill>
              <a:srgbClr val="242B3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94360" y="2423160"/>
            <a:ext cx="54864" cy="1828800"/>
          </a:xfrm>
          <a:prstGeom prst="rect">
            <a:avLst/>
          </a:prstGeom>
          <a:solidFill>
            <a:srgbClr val="7D6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60" y="2624328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5F7FA"/>
                </a:solidFill>
                <a:latin typeface="Aptos"/>
              </a:defRPr>
            </a:pPr>
            <a:r>
              <a:t>1  Choose a Recipe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108960"/>
            <a:ext cx="1554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50" b="0">
                <a:solidFill>
                  <a:srgbClr val="A4AEBE"/>
                </a:solidFill>
                <a:latin typeface="Aptos"/>
              </a:defRPr>
            </a:pPr>
            <a:r>
              <a:t>Strategy + allowed actions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98648" y="2423160"/>
            <a:ext cx="1965960" cy="1828800"/>
          </a:xfrm>
          <a:prstGeom prst="roundRect">
            <a:avLst/>
          </a:prstGeom>
          <a:solidFill>
            <a:srgbClr val="111620"/>
          </a:solidFill>
          <a:ln>
            <a:solidFill>
              <a:srgbClr val="242B3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2898648" y="2423160"/>
            <a:ext cx="54864" cy="1828800"/>
          </a:xfrm>
          <a:prstGeom prst="rect">
            <a:avLst/>
          </a:prstGeom>
          <a:solidFill>
            <a:srgbClr val="7D6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127248" y="2624328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5F7FA"/>
                </a:solidFill>
                <a:latin typeface="Aptos"/>
              </a:defRPr>
            </a:pPr>
            <a:r>
              <a:t>2  Configure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27248" y="3108960"/>
            <a:ext cx="1554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50" b="0">
                <a:solidFill>
                  <a:srgbClr val="A4AEBE"/>
                </a:solidFill>
                <a:latin typeface="Aptos"/>
              </a:defRPr>
            </a:pPr>
            <a:r>
              <a:t>Amount, frequency, slippage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02936" y="2423160"/>
            <a:ext cx="1965960" cy="1828800"/>
          </a:xfrm>
          <a:prstGeom prst="roundRect">
            <a:avLst/>
          </a:prstGeom>
          <a:solidFill>
            <a:srgbClr val="111620"/>
          </a:solidFill>
          <a:ln>
            <a:solidFill>
              <a:srgbClr val="242B3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5202936" y="2423160"/>
            <a:ext cx="54864" cy="1828800"/>
          </a:xfrm>
          <a:prstGeom prst="rect">
            <a:avLst/>
          </a:prstGeom>
          <a:solidFill>
            <a:srgbClr val="7D6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431536" y="2624328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5F7FA"/>
                </a:solidFill>
                <a:latin typeface="Aptos"/>
              </a:defRPr>
            </a:pPr>
            <a:r>
              <a:t>3  Security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31536" y="3108960"/>
            <a:ext cx="1554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50" b="0">
                <a:solidFill>
                  <a:srgbClr val="A4AEBE"/>
                </a:solidFill>
                <a:latin typeface="Aptos"/>
              </a:defRPr>
            </a:pPr>
            <a:r>
              <a:t>Protocol + function checks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507224" y="2423160"/>
            <a:ext cx="1965960" cy="1828800"/>
          </a:xfrm>
          <a:prstGeom prst="roundRect">
            <a:avLst/>
          </a:prstGeom>
          <a:solidFill>
            <a:srgbClr val="111620"/>
          </a:solidFill>
          <a:ln>
            <a:solidFill>
              <a:srgbClr val="242B3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7507224" y="2423160"/>
            <a:ext cx="54864" cy="1828800"/>
          </a:xfrm>
          <a:prstGeom prst="rect">
            <a:avLst/>
          </a:prstGeom>
          <a:solidFill>
            <a:srgbClr val="7D6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735824" y="2624328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5F7FA"/>
                </a:solidFill>
                <a:latin typeface="Aptos"/>
              </a:defRPr>
            </a:pPr>
            <a:r>
              <a:t>4  Execute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3108960"/>
            <a:ext cx="1554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50" b="0">
                <a:solidFill>
                  <a:srgbClr val="A4AEBE"/>
                </a:solidFill>
                <a:latin typeface="Aptos"/>
              </a:defRPr>
            </a:pPr>
            <a:r>
              <a:t>Run only after safety checks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811512" y="2423160"/>
            <a:ext cx="1965960" cy="1828800"/>
          </a:xfrm>
          <a:prstGeom prst="roundRect">
            <a:avLst/>
          </a:prstGeom>
          <a:solidFill>
            <a:srgbClr val="111620"/>
          </a:solidFill>
          <a:ln>
            <a:solidFill>
              <a:srgbClr val="242B3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9811512" y="2423160"/>
            <a:ext cx="54864" cy="1828800"/>
          </a:xfrm>
          <a:prstGeom prst="rect">
            <a:avLst/>
          </a:prstGeom>
          <a:solidFill>
            <a:srgbClr val="3DDD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0040112" y="2624328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5F7FA"/>
                </a:solidFill>
                <a:latin typeface="Aptos"/>
              </a:defRPr>
            </a:pPr>
            <a:r>
              <a:t>5  Monitor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40112" y="3108960"/>
            <a:ext cx="1554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50" b="0">
                <a:solidFill>
                  <a:srgbClr val="A4AEBE"/>
                </a:solidFill>
                <a:latin typeface="Aptos"/>
              </a:defRPr>
            </a:pPr>
            <a:r>
              <a:t>See execution and outcomes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5074920"/>
            <a:ext cx="10424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5F7FA"/>
                </a:solidFill>
                <a:latin typeface="Aptos"/>
              </a:defRPr>
            </a:pPr>
            <a:r>
              <a:t>Live website:  defirecipes.com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" y="5596128"/>
            <a:ext cx="9966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50" b="0">
                <a:solidFill>
                  <a:srgbClr val="A4AEBE"/>
                </a:solidFill>
                <a:latin typeface="Aptos"/>
              </a:defRPr>
            </a:pPr>
            <a:r>
              <a:t>Show the real UI here — then stop clicking.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B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7D6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1384280" y="6419088"/>
            <a:ext cx="457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A4AEBE"/>
                </a:solidFill>
              </a:defRPr>
            </a:pPr>
            <a: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0292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DDDAB"/>
                </a:solidFill>
                <a:latin typeface="Aptos"/>
              </a:defRPr>
            </a:pPr>
            <a:r>
              <a:t>05 / WHY ARC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868680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5F7FA"/>
                </a:solidFill>
                <a:latin typeface="Aptos"/>
              </a:defRPr>
            </a:pPr>
            <a:r>
              <a:t>Why build this on Arc?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600200"/>
            <a:ext cx="9875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4AEBE"/>
                </a:solidFill>
                <a:latin typeface="Aptos"/>
              </a:defRPr>
            </a:pPr>
            <a:r>
              <a:t>We see a strong fit between Arc's stablecoin-native environment and automated financial workflows.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423160"/>
            <a:ext cx="5074920" cy="1234440"/>
          </a:xfrm>
          <a:prstGeom prst="roundRect">
            <a:avLst/>
          </a:prstGeom>
          <a:solidFill>
            <a:srgbClr val="111620"/>
          </a:solidFill>
          <a:ln>
            <a:solidFill>
              <a:srgbClr val="242B3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31520" y="2423160"/>
            <a:ext cx="54864" cy="1234440"/>
          </a:xfrm>
          <a:prstGeom prst="rect">
            <a:avLst/>
          </a:prstGeom>
          <a:solidFill>
            <a:srgbClr val="7D6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60120" y="2624328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5F7FA"/>
                </a:solidFill>
                <a:latin typeface="Aptos"/>
              </a:defRPr>
            </a:pPr>
            <a:r>
              <a:t>💵 Stablecoin-native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3108960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50" b="0">
                <a:solidFill>
                  <a:srgbClr val="A4AEBE"/>
                </a:solidFill>
                <a:latin typeface="Aptos"/>
              </a:defRPr>
            </a:pPr>
            <a:r>
              <a:t>Designed for financial applications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59" y="2423160"/>
            <a:ext cx="5074920" cy="1234440"/>
          </a:xfrm>
          <a:prstGeom prst="roundRect">
            <a:avLst/>
          </a:prstGeom>
          <a:solidFill>
            <a:srgbClr val="111620"/>
          </a:solidFill>
          <a:ln>
            <a:solidFill>
              <a:srgbClr val="242B3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309359" y="2423160"/>
            <a:ext cx="54864" cy="1234440"/>
          </a:xfrm>
          <a:prstGeom prst="rect">
            <a:avLst/>
          </a:prstGeom>
          <a:solidFill>
            <a:srgbClr val="3DDD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37959" y="2624328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5F7FA"/>
                </a:solidFill>
                <a:latin typeface="Aptos"/>
              </a:defRPr>
            </a:pPr>
            <a:r>
              <a:t>⚡ Fast transactions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59" y="3108960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50" b="0">
                <a:solidFill>
                  <a:srgbClr val="A4AEBE"/>
                </a:solidFill>
                <a:latin typeface="Aptos"/>
              </a:defRPr>
            </a:pPr>
            <a:r>
              <a:t>Better experience for automated workflows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977639"/>
            <a:ext cx="5074920" cy="1234440"/>
          </a:xfrm>
          <a:prstGeom prst="roundRect">
            <a:avLst/>
          </a:prstGeom>
          <a:solidFill>
            <a:srgbClr val="111620"/>
          </a:solidFill>
          <a:ln>
            <a:solidFill>
              <a:srgbClr val="242B3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731520" y="3977639"/>
            <a:ext cx="54864" cy="1234440"/>
          </a:xfrm>
          <a:prstGeom prst="rect">
            <a:avLst/>
          </a:prstGeom>
          <a:solidFill>
            <a:srgbClr val="7D6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60120" y="4178807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5F7FA"/>
                </a:solidFill>
                <a:latin typeface="Aptos"/>
              </a:defRPr>
            </a:pPr>
            <a:r>
              <a:t>💰 Low-cost execution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663440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50" b="0">
                <a:solidFill>
                  <a:srgbClr val="A4AEBE"/>
                </a:solidFill>
                <a:latin typeface="Aptos"/>
              </a:defRPr>
            </a:pPr>
            <a:r>
              <a:t>More practical for frequent actions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09359" y="3977639"/>
            <a:ext cx="5074920" cy="1234440"/>
          </a:xfrm>
          <a:prstGeom prst="roundRect">
            <a:avLst/>
          </a:prstGeom>
          <a:solidFill>
            <a:srgbClr val="111620"/>
          </a:solidFill>
          <a:ln>
            <a:solidFill>
              <a:srgbClr val="242B3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309359" y="3977639"/>
            <a:ext cx="54864" cy="1234440"/>
          </a:xfrm>
          <a:prstGeom prst="rect">
            <a:avLst/>
          </a:prstGeom>
          <a:solidFill>
            <a:srgbClr val="3DDD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537959" y="4178807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5F7FA"/>
                </a:solidFill>
                <a:latin typeface="Aptos"/>
              </a:defRPr>
            </a:pPr>
            <a:r>
              <a:t>🤖 Automation fit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37959" y="4663440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50" b="0">
                <a:solidFill>
                  <a:srgbClr val="A4AEBE"/>
                </a:solidFill>
                <a:latin typeface="Aptos"/>
              </a:defRPr>
            </a:pPr>
            <a:r>
              <a:t>A foundation for programmable finance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56235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4AEBE"/>
                </a:solidFill>
                <a:latin typeface="Aptos"/>
              </a:defRPr>
            </a:pPr>
            <a:r>
              <a:t>Automated yield • payments • rebalancing • stablecoin workflows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B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7D6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1384280" y="6419088"/>
            <a:ext cx="457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A4AEBE"/>
                </a:solidFill>
              </a:defRPr>
            </a:pPr>
            <a: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0292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DDDAB"/>
                </a:solidFill>
                <a:latin typeface="Aptos"/>
              </a:defRPr>
            </a:pPr>
            <a:r>
              <a:t>06 /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868680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5F7FA"/>
                </a:solidFill>
                <a:latin typeface="Aptos"/>
              </a:defRPr>
            </a:pPr>
            <a:r>
              <a:t>What's next?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600200"/>
            <a:ext cx="9875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4AEBE"/>
                </a:solidFill>
                <a:latin typeface="Aptos"/>
              </a:defRPr>
            </a:pPr>
            <a:r>
              <a:t>We are early — the focus is expanding coverage without compromising safety.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423160"/>
            <a:ext cx="5074920" cy="1234440"/>
          </a:xfrm>
          <a:prstGeom prst="roundRect">
            <a:avLst/>
          </a:prstGeom>
          <a:solidFill>
            <a:srgbClr val="111620"/>
          </a:solidFill>
          <a:ln>
            <a:solidFill>
              <a:srgbClr val="242B3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31520" y="2423160"/>
            <a:ext cx="54864" cy="1234440"/>
          </a:xfrm>
          <a:prstGeom prst="rect">
            <a:avLst/>
          </a:prstGeom>
          <a:solidFill>
            <a:srgbClr val="7D6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60120" y="2624328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5F7FA"/>
                </a:solidFill>
                <a:latin typeface="Aptos"/>
              </a:defRPr>
            </a:pPr>
            <a:r>
              <a:t>🚀 More DeFi Recipes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3108960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50" b="0">
                <a:solidFill>
                  <a:srgbClr val="A4AEBE"/>
                </a:solidFill>
                <a:latin typeface="Aptos"/>
              </a:defRPr>
            </a:pPr>
            <a:r>
              <a:t>More strategies and protocol integrations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59" y="2423160"/>
            <a:ext cx="5074920" cy="1234440"/>
          </a:xfrm>
          <a:prstGeom prst="roundRect">
            <a:avLst/>
          </a:prstGeom>
          <a:solidFill>
            <a:srgbClr val="111620"/>
          </a:solidFill>
          <a:ln>
            <a:solidFill>
              <a:srgbClr val="242B3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309359" y="2423160"/>
            <a:ext cx="54864" cy="1234440"/>
          </a:xfrm>
          <a:prstGeom prst="rect">
            <a:avLst/>
          </a:prstGeom>
          <a:solidFill>
            <a:srgbClr val="3DDD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37959" y="2624328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5F7FA"/>
                </a:solidFill>
                <a:latin typeface="Aptos"/>
              </a:defRPr>
            </a:pPr>
            <a:r>
              <a:t>🛡 Better security scoring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59" y="3108960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50" b="0">
                <a:solidFill>
                  <a:srgbClr val="A4AEBE"/>
                </a:solidFill>
                <a:latin typeface="Aptos"/>
              </a:defRPr>
            </a:pPr>
            <a:r>
              <a:t>Stronger evaluation and guardrails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977639"/>
            <a:ext cx="5074920" cy="1234440"/>
          </a:xfrm>
          <a:prstGeom prst="roundRect">
            <a:avLst/>
          </a:prstGeom>
          <a:solidFill>
            <a:srgbClr val="111620"/>
          </a:solidFill>
          <a:ln>
            <a:solidFill>
              <a:srgbClr val="242B3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731520" y="3977639"/>
            <a:ext cx="54864" cy="1234440"/>
          </a:xfrm>
          <a:prstGeom prst="rect">
            <a:avLst/>
          </a:prstGeom>
          <a:solidFill>
            <a:srgbClr val="7D6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60120" y="4178807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5F7FA"/>
                </a:solidFill>
                <a:latin typeface="Aptos"/>
              </a:defRPr>
            </a:pPr>
            <a:r>
              <a:t>🤖 More automation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663440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50" b="0">
                <a:solidFill>
                  <a:srgbClr val="A4AEBE"/>
                </a:solidFill>
                <a:latin typeface="Aptos"/>
              </a:defRPr>
            </a:pPr>
            <a:r>
              <a:t>More programmable financial workflows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09359" y="3977639"/>
            <a:ext cx="5074920" cy="1234440"/>
          </a:xfrm>
          <a:prstGeom prst="roundRect">
            <a:avLst/>
          </a:prstGeom>
          <a:solidFill>
            <a:srgbClr val="111620"/>
          </a:solidFill>
          <a:ln>
            <a:solidFill>
              <a:srgbClr val="242B3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309359" y="3977639"/>
            <a:ext cx="54864" cy="1234440"/>
          </a:xfrm>
          <a:prstGeom prst="rect">
            <a:avLst/>
          </a:prstGeom>
          <a:solidFill>
            <a:srgbClr val="3DDD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537959" y="4178807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5F7FA"/>
                </a:solidFill>
                <a:latin typeface="Aptos"/>
              </a:defRPr>
            </a:pPr>
            <a:r>
              <a:t>🌐 More Arc integrations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37959" y="4663440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50" b="0">
                <a:solidFill>
                  <a:srgbClr val="A4AEBE"/>
                </a:solidFill>
                <a:latin typeface="Aptos"/>
              </a:defRPr>
            </a:pPr>
            <a:r>
              <a:t>Deeper use cases across the Arc ecosystem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5650992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5F7FA"/>
                </a:solidFill>
                <a:latin typeface="Aptos"/>
              </a:defRPr>
            </a:pPr>
            <a:r>
              <a:t>Vision: a place where users can discover and safely automate DeFi strategies.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B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7D6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1384280" y="6419088"/>
            <a:ext cx="457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A4AEBE"/>
                </a:solidFill>
              </a:defRPr>
            </a:pPr>
            <a:r>
              <a:t>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73152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DDDAB"/>
                </a:solidFill>
                <a:latin typeface="Aptos"/>
              </a:defRPr>
            </a:pPr>
            <a:r>
              <a:t>CLOSING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241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5F7FA"/>
                </a:solidFill>
                <a:latin typeface="Aptos"/>
              </a:defRPr>
            </a:pPr>
            <a:r>
              <a:t>DeFi automation should be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331720"/>
            <a:ext cx="10241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800" b="1">
                <a:solidFill>
                  <a:srgbClr val="7D69FF"/>
                </a:solidFill>
                <a:latin typeface="Aptos"/>
              </a:defRPr>
            </a:pPr>
            <a:r>
              <a:t>Simple.  Automated.  Safe.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3749039"/>
            <a:ext cx="8503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5F7FA"/>
                </a:solidFill>
                <a:latin typeface="Aptos"/>
              </a:defRPr>
            </a:pPr>
            <a:r>
              <a:t>🛡 DeFi Recipes  •  Built on Arc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4709160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A4AEBE"/>
                </a:solidFill>
                <a:latin typeface="Aptos"/>
              </a:defRPr>
            </a:pPr>
            <a:r>
              <a:t>Thank you — feedback &amp; questions welcome.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5623560"/>
            <a:ext cx="8503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3DDDAB"/>
                </a:solidFill>
                <a:latin typeface="Aptos"/>
              </a:defRPr>
            </a:pPr>
            <a:r>
              <a:t>defirecipes.com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</TotalTime>
  <Words>1103</Words>
  <Application>Microsoft Office PowerPoint</Application>
  <PresentationFormat>Widescreen</PresentationFormat>
  <Paragraphs>168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DeFi Recipes — Arc Office Hours</dc:title>
  <dc:subject>5–7 minute presentation deck</dc:subject>
  <dc:creator>DeFi Recipes</dc:creator>
  <cp:keywords>DeFi, Arc, automation, security</cp:keywords>
  <dc:description>generated using python-pptx</dc:description>
  <cp:lastModifiedBy>Tuy LV</cp:lastModifiedBy>
  <cp:revision>3</cp:revision>
  <dcterms:created xsi:type="dcterms:W3CDTF">2013-01-27T09:14:16Z</dcterms:created>
  <dcterms:modified xsi:type="dcterms:W3CDTF">2026-09-14T10:06:46Z</dcterms:modified>
  <cp:category/>
</cp:coreProperties>
</file>